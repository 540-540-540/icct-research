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70" r:id="rId2"/>
    <p:sldId id="271" r:id="rId3"/>
    <p:sldId id="272" r:id="rId4"/>
    <p:sldId id="273" r:id="rId5"/>
    <p:sldId id="274" r:id="rId6"/>
    <p:sldId id="275"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01" autoAdjust="0"/>
    <p:restoredTop sz="94660"/>
  </p:normalViewPr>
  <p:slideViewPr>
    <p:cSldViewPr snapToGrid="0">
      <p:cViewPr varScale="1">
        <p:scale>
          <a:sx n="115" d="100"/>
          <a:sy n="115" d="100"/>
        </p:scale>
        <p:origin x="115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本次主要讲解整体预测系统，以及双层QGNN的关系编码、电路与消息传播结构。随后用已完成实验和案例说明当前表现。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沿左侧流程从上往下讲。输入来自共同感知前端，每个时间点用标准化位置、速度和两个有效性标记编码节点，物理位置速度构造邻接及物理边。每帧QGNN输出128维图特征。数值适配器将4维本车状态、2维标记与128维图特征分别线性映射到768维后相加；按车辆组织20帧序列输入共享GPT-2＋LoRA。预测头从最后有效历史位置的隐状态输出20×2修正量。恒速外推用当前估计位置加未来时间乘当前估计速度，例如10m/s直行2s先预测前进20m，模型再修正加减速和方向变化。车辆交互由QGNN处理，时间关系由GPT-2处理。</a:t>
            </a:r>
          </a:p>
          <a:p>
            <a:r>
              <a:rPr lang="en-US"/>
              <a:t>来源：experiments/qgnn_inherited/graph.py；服务器prediction/temporal.py。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先解释一个有向关系：i是接收车辆，j是邻居车辆。7维物理边包含缩放后的相对位置2维、相对速度2维、距离、径向接近速度和TTC。5维上下文由归一化节点特征四组内积均值及整体RMS差异组成。关系向量先tanh，物理层上下文系数gamma=0.35，上下文层为1.0。编码中每通道缩放s=0.5+3.5 sigmoid(s_raw)，偏置项为0.25 tanh(b)，最终2 atan将角度限制在(-pi,pi)。右侧箭头按实际门操作顺序讲：每比特先RY编码一个分量，再RZ编码另一个；之后RZ-RY-RZ可训练旋转，再依次执行0→1、1→2、…、5→0环形CNOT。三次重复均重新编码同一输入关系。q=0,…,5，ell=1,2,3。两层消息模块各54个电路旋转参数，共108个，图模块还包含经典映射、读出和消息更新参数。</a:t>
            </a:r>
          </a:p>
          <a:p>
            <a:r>
              <a:rPr lang="en-US"/>
              <a:t>来源：code/02_pennylane_qgnn_core/physics_aligned_dual_model.py；experiments/qgnn_inherited/graph.py。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先讲读出的12个期望值。z经过LayerNorm得到zbar，再分别经两个无偏置线性读出生成每个头的注意力分数及门控。注意力在有效邻居上softmax，门控为2 sigmoid，范围(0,2)。按单头解释聚合公式：alpha决定邻居的相对权重，g调节消息强度，v由经典节点value映射与7维物理边的MLP相加得到。多个头聚合后拼接为128维。残差强度beta由可训练标量经sigmoid得到，初始0.2；接LayerNorm，再FFN残差与LayerNorm。页中聚合公式省略训练时dropout，表达推理计算主干。两层分别采用物理与上下文权重，参数独立。</a:t>
            </a:r>
          </a:p>
          <a:p>
            <a:r>
              <a:rPr lang="en-US"/>
              <a:t>来源：code/02_pennylane_qgnn_core/physics_aligned_dual_model.py:PhysicsAlignedMessageLayer.forward；reports/qgnn_inherited100/PROTOCOL.md。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主表来自已完成100轮实验。每轮V_select四档SNR取宏平均，使用J=ADE+0.5FDE选择同一最佳检查点，再同时报告该点ADE/FDE。QGNN最佳54轮，GNN97轮；在最佳检查点上分别改善0.741794%和2.323351%。共同100轮QGNN ADE和FDE分别较GNN高2.942794%与1.865572%。两者数据、主要训练超参、公共时间预测器与曝光设置对应；旧GNN由40轮保留优化器和随机状态续训至100轮，早期物理批量设置不同。当前新强GNN正以统一批量和150轮上限/patience20协议从头训练。训练5549个起点，V_select400个起点，seed2026。</a:t>
            </a:r>
          </a:p>
          <a:p>
            <a:r>
              <a:rPr lang="en-US"/>
              <a:t>来源：reports/qgnn_inherited100/comparison.json与PROTOCOL.md。结果状态在2026-09-14制作时核对。</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图为两个真实目标案例。较好案例为起点131、槽位4，QGNN ADE/FDE 1.005/0.806m，GNN4.466/7.879m；较差案例起点353、槽位2，QGNN3.160/7.957m，GNN1.541/2.450m。案例使用重新按150轮上限/patience20训练的原QGNN最佳第75轮及历史GNN第97轮，在20dB单目标上分析，因此与上一页100轮QGNN第54轮主表分开解释。固定权重的推理移边检查发现同一目标可以同时受益或受扰于不同邻居，故进一步研究关系表达。X读出配对：原版0.5427669769/1.0954215576；X版0.546512/1.103938，退步0.690%/0.777%。当前方向编码仅将量子分支四个相对运动通道投影到接收车辆的右向/前向坐标，其余结构保留；低于1m/s回退原坐标，新增参数0。制作时新实验仍运行中。</a:t>
            </a:r>
          </a:p>
          <a:p>
            <a:r>
              <a:rPr lang="en-US"/>
              <a:t>来源：reports/qgnn_cases/REPORT.md、case_diagnostics.json与predictions.npz；reports/qgnn_readout/seed2026/RESULT.md；reports/qgnn_motionframe/PROTOCOL.md。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1159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0093" name="图片 8"/>
          <p:cNvPicPr>
            <a:picLocks noChangeAspect="1"/>
          </p:cNvPicPr>
          <p:nvPr/>
        </p:nvPicPr>
        <p:blipFill>
          <a:blip r:embed="rId3"/>
          <a:stretch/>
        </p:blipFill>
        <p:spPr>
          <a:xfrm>
            <a:off x="9334500" y="101112"/>
            <a:ext cx="2667000" cy="674077"/>
          </a:xfrm>
          <a:prstGeom prst="rect">
            <a:avLst/>
          </a:prstGeom>
        </p:spPr>
      </p:pic>
      <p:sp>
        <p:nvSpPr>
          <p:cNvPr id="100094" name="矩形 1">
            <a:extLst>
              <a:ext uri="{FF2B5EF4-FFF2-40B4-BE49-F238E27FC236}">
                <a16:creationId xmlns:a16="http://schemas.microsoft.com/office/drawing/2014/main" id="{443894F3-B7FD-4CD4-A538-A1ABC64AB601}"/>
              </a:ext>
            </a:extLst>
          </p:cNvPr>
          <p:cNvSpPr>
            <a:spLocks noGrp="1"/>
          </p:cNvSpPr>
          <p:nvPr/>
        </p:nvSpPr>
        <p:spPr>
          <a:xfrm>
            <a:off x="523875" y="2758821"/>
            <a:ext cx="11144250" cy="628650"/>
          </a:xfrm>
          <a:prstGeom prst="rect">
            <a:avLst/>
          </a:prstGeom>
          <a:noFill/>
          <a:ln w="0">
            <a:noFill/>
          </a:ln>
        </p:spPr>
        <p:txBody>
          <a:bodyPr>
            <a:noAutofit/>
          </a:bodyPr>
          <a:lstStyle/>
          <a:p>
            <a:pPr algn="ctr">
              <a:defRPr sz="3600">
                <a:solidFill>
                  <a:srgbClr val="000000"/>
                </a:solidFill>
                <a:latin typeface="宋体"/>
                <a:ea typeface="宋体"/>
                <a:cs typeface="宋体"/>
              </a:defRPr>
            </a:pPr>
            <a:r>
              <a:rPr lang="zh-CN" altLang="en-US" sz="3600">
                <a:solidFill>
                  <a:srgbClr val="000000"/>
                </a:solidFill>
                <a:latin typeface="Times New Roman" panose="02020603050405020304" pitchFamily="18" charset="0"/>
                <a:ea typeface="宋体"/>
                <a:cs typeface="Times New Roman" panose="02020603050405020304" pitchFamily="18" charset="0"/>
              </a:rPr>
              <a:t>组会汇报</a:t>
            </a:r>
            <a:endParaRPr sz="3600">
              <a:solidFill>
                <a:srgbClr val="000000"/>
              </a:solidFill>
              <a:latin typeface="Times New Roman" panose="02020603050405020304" pitchFamily="18" charset="0"/>
              <a:ea typeface="宋体"/>
              <a:cs typeface="Times New Roman" panose="02020603050405020304" pitchFamily="18" charset="0"/>
            </a:endParaRPr>
          </a:p>
        </p:txBody>
      </p:sp>
      <p:sp>
        <p:nvSpPr>
          <p:cNvPr id="100096" name="矩形 3">
            <a:extLst>
              <a:ext uri="{FF2B5EF4-FFF2-40B4-BE49-F238E27FC236}">
                <a16:creationId xmlns:a16="http://schemas.microsoft.com/office/drawing/2014/main" id="{FA768D31-7B61-43D6-8030-8E6B128FA6C4}"/>
              </a:ext>
            </a:extLst>
          </p:cNvPr>
          <p:cNvSpPr>
            <a:spLocks noGrp="1"/>
          </p:cNvSpPr>
          <p:nvPr/>
        </p:nvSpPr>
        <p:spPr>
          <a:xfrm>
            <a:off x="3810000" y="3705225"/>
            <a:ext cx="4572000" cy="6191"/>
          </a:xfrm>
          <a:prstGeom prst="rect">
            <a:avLst/>
          </a:prstGeom>
          <a:solidFill>
            <a:srgbClr val="999999"/>
          </a:solidFill>
          <a:ln w="0">
            <a:noFill/>
          </a:ln>
        </p:spPr>
      </p:sp>
      <p:sp>
        <p:nvSpPr>
          <p:cNvPr id="100098" name="矩形 5">
            <a:extLst>
              <a:ext uri="{FF2B5EF4-FFF2-40B4-BE49-F238E27FC236}">
                <a16:creationId xmlns:a16="http://schemas.microsoft.com/office/drawing/2014/main" id="{C5C0394A-C71E-4369-906B-BDA2FC01B40B}"/>
              </a:ext>
            </a:extLst>
          </p:cNvPr>
          <p:cNvSpPr>
            <a:spLocks noGrp="1"/>
          </p:cNvSpPr>
          <p:nvPr/>
        </p:nvSpPr>
        <p:spPr>
          <a:xfrm>
            <a:off x="523875" y="4029456"/>
            <a:ext cx="11144250" cy="428625"/>
          </a:xfrm>
          <a:prstGeom prst="rect">
            <a:avLst/>
          </a:prstGeom>
          <a:noFill/>
          <a:ln w="0">
            <a:noFill/>
          </a:ln>
        </p:spPr>
        <p:txBody>
          <a:bodyPr>
            <a:noAutofit/>
          </a:bodyPr>
          <a:lstStyle/>
          <a:p>
            <a:pPr algn="ctr">
              <a:defRPr sz="2250">
                <a:solidFill>
                  <a:srgbClr val="000000"/>
                </a:solidFill>
                <a:latin typeface="宋体"/>
                <a:ea typeface="宋体"/>
                <a:cs typeface="宋体"/>
              </a:defRPr>
            </a:pPr>
            <a:r>
              <a:rPr sz="2250">
                <a:solidFill>
                  <a:srgbClr val="000000"/>
                </a:solidFill>
                <a:latin typeface="Times New Roman" panose="02020603050405020304" pitchFamily="18" charset="0"/>
                <a:ea typeface="宋体"/>
                <a:cs typeface="Times New Roman" panose="02020603050405020304" pitchFamily="18" charset="0"/>
              </a:rPr>
              <a:t>姓名：吴斯栋</a:t>
            </a:r>
          </a:p>
        </p:txBody>
      </p:sp>
      <p:sp>
        <p:nvSpPr>
          <p:cNvPr id="100099" name="矩形 6">
            <a:extLst>
              <a:ext uri="{FF2B5EF4-FFF2-40B4-BE49-F238E27FC236}">
                <a16:creationId xmlns:a16="http://schemas.microsoft.com/office/drawing/2014/main" id="{227028D0-21C1-4043-A671-2DAB640E56E1}"/>
              </a:ext>
            </a:extLst>
          </p:cNvPr>
          <p:cNvSpPr>
            <a:spLocks noGrp="1"/>
          </p:cNvSpPr>
          <p:nvPr/>
        </p:nvSpPr>
        <p:spPr>
          <a:xfrm>
            <a:off x="523875" y="4478655"/>
            <a:ext cx="11144250" cy="428625"/>
          </a:xfrm>
          <a:prstGeom prst="rect">
            <a:avLst/>
          </a:prstGeom>
          <a:noFill/>
          <a:ln w="0">
            <a:noFill/>
          </a:ln>
        </p:spPr>
        <p:txBody>
          <a:bodyPr>
            <a:noAutofit/>
          </a:bodyPr>
          <a:lstStyle/>
          <a:p>
            <a:pPr algn="ctr">
              <a:defRPr sz="2250">
                <a:solidFill>
                  <a:srgbClr val="000000"/>
                </a:solidFill>
                <a:latin typeface="宋体"/>
                <a:ea typeface="宋体"/>
                <a:cs typeface="宋体"/>
              </a:defRPr>
            </a:pPr>
            <a:r>
              <a:rPr sz="2250">
                <a:solidFill>
                  <a:srgbClr val="000000"/>
                </a:solidFill>
                <a:latin typeface="Times New Roman" panose="02020603050405020304" pitchFamily="18" charset="0"/>
                <a:ea typeface="宋体"/>
                <a:cs typeface="Times New Roman" panose="02020603050405020304" pitchFamily="18" charset="0"/>
              </a:rPr>
              <a:t>导师：李飞教授</a:t>
            </a:r>
          </a:p>
        </p:txBody>
      </p:sp>
      <p:sp>
        <p:nvSpPr>
          <p:cNvPr id="100100" name="矩形 7">
            <a:extLst>
              <a:ext uri="{FF2B5EF4-FFF2-40B4-BE49-F238E27FC236}">
                <a16:creationId xmlns:a16="http://schemas.microsoft.com/office/drawing/2014/main" id="{F591E5F6-E1A3-42BB-86DC-F6E38CFC3C5B}"/>
              </a:ext>
            </a:extLst>
          </p:cNvPr>
          <p:cNvSpPr>
            <a:spLocks noGrp="1"/>
          </p:cNvSpPr>
          <p:nvPr/>
        </p:nvSpPr>
        <p:spPr>
          <a:xfrm>
            <a:off x="523875" y="4976622"/>
            <a:ext cx="11144250" cy="428625"/>
          </a:xfrm>
          <a:prstGeom prst="rect">
            <a:avLst/>
          </a:prstGeom>
          <a:noFill/>
          <a:ln w="0">
            <a:noFill/>
          </a:ln>
        </p:spPr>
        <p:txBody>
          <a:bodyPr>
            <a:noAutofit/>
          </a:bodyPr>
          <a:lstStyle/>
          <a:p>
            <a:pPr algn="ctr">
              <a:defRPr sz="2250">
                <a:solidFill>
                  <a:srgbClr val="000000"/>
                </a:solidFill>
                <a:latin typeface="宋体"/>
                <a:ea typeface="宋体"/>
                <a:cs typeface="宋体"/>
              </a:defRPr>
            </a:pPr>
            <a:r>
              <a:rPr sz="2250">
                <a:solidFill>
                  <a:srgbClr val="000000"/>
                </a:solidFill>
                <a:latin typeface="Times New Roman" panose="02020603050405020304" pitchFamily="18" charset="0"/>
                <a:ea typeface="宋体"/>
                <a:cs typeface="Times New Roman" panose="02020603050405020304" pitchFamily="18" charset="0"/>
              </a:rPr>
              <a:t>日期：2026.9.15</a:t>
            </a:r>
          </a:p>
        </p:txBody>
      </p:sp>
    </p:spTree>
    <p:extLst>
      <p:ext uri="{BB962C8B-B14F-4D97-AF65-F5344CB8AC3E}">
        <p14:creationId xmlns:p14="http://schemas.microsoft.com/office/powerpoint/2010/main" val="130203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QGA完整迭代流程">
    <p:bg>
      <p:bgPr>
        <a:solidFill>
          <a:srgbClr val="FFFFFF"/>
        </a:solidFill>
        <a:effectLst/>
      </p:bgPr>
    </p:bg>
    <p:spTree>
      <p:nvGrpSpPr>
        <p:cNvPr id="1" name=""/>
        <p:cNvGrpSpPr/>
        <p:nvPr/>
      </p:nvGrpSpPr>
      <p:grpSpPr>
        <a:xfrm>
          <a:off x="0" y="0"/>
          <a:ext cx="0" cy="0"/>
          <a:chOff x="0" y="0"/>
          <a:chExt cx="0" cy="0"/>
        </a:xfrm>
      </p:grpSpPr>
      <p:pic>
        <p:nvPicPr>
          <p:cNvPr id="100101"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02"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整体系统模型</a:t>
            </a:r>
          </a:p>
        </p:txBody>
      </p:sp>
      <p:cxnSp>
        <p:nvCxnSpPr>
          <p:cNvPr id="100103" name="header_rule"/>
          <p:cNvCxnSpPr/>
          <p:nvPr/>
        </p:nvCxnSpPr>
        <p:spPr>
          <a:xfrm>
            <a:off x="546100" y="711200"/>
            <a:ext cx="8318500" cy="0"/>
          </a:xfrm>
          <a:prstGeom prst="straightConnector1">
            <a:avLst/>
          </a:prstGeom>
          <a:ln w="6985">
            <a:solidFill>
              <a:srgbClr val="A0A0A0"/>
            </a:solidFill>
          </a:ln>
        </p:spPr>
      </p:cxnSp>
      <p:cxnSp>
        <p:nvCxnSpPr>
          <p:cNvPr id="100105" name="column_rule"/>
          <p:cNvCxnSpPr/>
          <p:nvPr/>
        </p:nvCxnSpPr>
        <p:spPr>
          <a:xfrm>
            <a:off x="5384800" y="1041400"/>
            <a:ext cx="0" cy="5143500"/>
          </a:xfrm>
          <a:prstGeom prst="straightConnector1">
            <a:avLst/>
          </a:prstGeom>
          <a:ln w="6350">
            <a:solidFill>
              <a:srgbClr val="B5B5B5"/>
            </a:solidFill>
          </a:ln>
        </p:spPr>
      </p:cxnSp>
      <p:sp>
        <p:nvSpPr>
          <p:cNvPr id="100106" name="iteration_heading"/>
          <p:cNvSpPr/>
          <p:nvPr/>
        </p:nvSpPr>
        <p:spPr>
          <a:xfrm>
            <a:off x="5727700" y="1066800"/>
            <a:ext cx="58928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输入与车辆交互图</a:t>
            </a:r>
          </a:p>
        </p:txBody>
      </p:sp>
      <p:sp>
        <p:nvSpPr>
          <p:cNvPr id="100107" name="iteration_text"/>
          <p:cNvSpPr/>
          <p:nvPr/>
        </p:nvSpPr>
        <p:spPr>
          <a:xfrm>
            <a:off x="5727700" y="1524000"/>
            <a:ext cx="5892800" cy="825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过去20帧的位置、速度及有效性标记。</a:t>
            </a:r>
          </a:p>
          <a:p>
            <a:pPr algn="l">
              <a:lnSpc>
                <a:spcPts val="2000"/>
              </a:lnSpc>
              <a:spcBef>
                <a:spcPts val="0"/>
              </a:spcBef>
              <a:spcAft>
                <a:spcPts val="0"/>
              </a:spcAft>
            </a:pPr>
            <a:r>
              <a:rPr lang="en-US" sz="1300" b="0">
                <a:solidFill>
                  <a:srgbClr val="000000"/>
                </a:solidFill>
                <a:latin typeface="Times New Roman"/>
                <a:ea typeface="宋体"/>
                <a:cs typeface="Times New Roman"/>
              </a:rPr>
              <a:t>每车为一个节点，45m邻域连接并保留自环。</a:t>
            </a:r>
          </a:p>
          <a:p>
            <a:pPr algn="l">
              <a:lnSpc>
                <a:spcPts val="2000"/>
              </a:lnSpc>
              <a:spcBef>
                <a:spcPts val="0"/>
              </a:spcBef>
              <a:spcAft>
                <a:spcPts val="0"/>
              </a:spcAft>
            </a:pPr>
            <a:r>
              <a:rPr lang="en-US" sz="1300" b="0">
                <a:solidFill>
                  <a:srgbClr val="000000"/>
                </a:solidFill>
                <a:latin typeface="Times New Roman"/>
                <a:ea typeface="宋体"/>
                <a:cs typeface="Times New Roman"/>
              </a:rPr>
              <a:t>每帧两层消息传播，得到每车128维图特征。</a:t>
            </a:r>
          </a:p>
        </p:txBody>
      </p:sp>
      <p:sp>
        <p:nvSpPr>
          <p:cNvPr id="100108" name="smooth_heading"/>
          <p:cNvSpPr/>
          <p:nvPr/>
        </p:nvSpPr>
        <p:spPr>
          <a:xfrm>
            <a:off x="5727700" y="2679700"/>
            <a:ext cx="58928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时间预测与轨迹修正</a:t>
            </a:r>
          </a:p>
        </p:txBody>
      </p:sp>
      <p:sp>
        <p:nvSpPr>
          <p:cNvPr id="100110" name="smooth_text"/>
          <p:cNvSpPr/>
          <p:nvPr/>
        </p:nvSpPr>
        <p:spPr>
          <a:xfrm>
            <a:off x="5727700" y="3619500"/>
            <a:ext cx="5892800" cy="571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图特征与本车状态映射为768维数值token。</a:t>
            </a:r>
          </a:p>
          <a:p>
            <a:pPr algn="l">
              <a:lnSpc>
                <a:spcPts val="2000"/>
              </a:lnSpc>
              <a:spcBef>
                <a:spcPts val="0"/>
              </a:spcBef>
              <a:spcAft>
                <a:spcPts val="0"/>
              </a:spcAft>
            </a:pPr>
            <a:r>
              <a:rPr lang="en-US" sz="1300" b="0">
                <a:solidFill>
                  <a:srgbClr val="000000"/>
                </a:solidFill>
                <a:latin typeface="Times New Roman"/>
                <a:ea typeface="宋体"/>
                <a:cs typeface="Times New Roman"/>
              </a:rPr>
              <a:t>共享GPT-2＋LoRA处理每车序列，输出位置修正量。</a:t>
            </a:r>
          </a:p>
        </p:txBody>
      </p:sp>
      <p:sp>
        <p:nvSpPr>
          <p:cNvPr id="100111" name="recovery_heading"/>
          <p:cNvSpPr/>
          <p:nvPr/>
        </p:nvSpPr>
        <p:spPr>
          <a:xfrm>
            <a:off x="5727700" y="4470400"/>
            <a:ext cx="58928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训练与预测范围</a:t>
            </a:r>
          </a:p>
        </p:txBody>
      </p:sp>
      <p:sp>
        <p:nvSpPr>
          <p:cNvPr id="100113" name="recovery_text"/>
          <p:cNvSpPr/>
          <p:nvPr/>
        </p:nvSpPr>
        <p:spPr>
          <a:xfrm>
            <a:off x="5727700" y="5384800"/>
            <a:ext cx="5892800" cy="825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每个场景最多8辆车，预测未来20步二维位置。</a:t>
            </a:r>
          </a:p>
          <a:p>
            <a:pPr algn="l">
              <a:lnSpc>
                <a:spcPts val="2000"/>
              </a:lnSpc>
              <a:spcBef>
                <a:spcPts val="0"/>
              </a:spcBef>
              <a:spcAft>
                <a:spcPts val="0"/>
              </a:spcAft>
            </a:pPr>
            <a:r>
              <a:rPr lang="en-US" sz="1300" b="0">
                <a:solidFill>
                  <a:srgbClr val="000000"/>
                </a:solidFill>
                <a:latin typeface="Times New Roman"/>
                <a:ea typeface="宋体"/>
                <a:cs typeface="Times New Roman"/>
              </a:rPr>
              <a:t>冻结GPT-2基座，联合训练QGNN、LoRA、</a:t>
            </a:r>
          </a:p>
          <a:p>
            <a:pPr algn="l">
              <a:lnSpc>
                <a:spcPts val="2000"/>
              </a:lnSpc>
              <a:spcBef>
                <a:spcPts val="0"/>
              </a:spcBef>
              <a:spcAft>
                <a:spcPts val="0"/>
              </a:spcAft>
            </a:pPr>
            <a:r>
              <a:rPr lang="en-US" sz="1300" b="0">
                <a:solidFill>
                  <a:srgbClr val="000000"/>
                </a:solidFill>
                <a:latin typeface="Times New Roman"/>
                <a:ea typeface="宋体"/>
                <a:cs typeface="Times New Roman"/>
              </a:rPr>
              <a:t>输入适配器与预测头。</a:t>
            </a:r>
          </a:p>
        </p:txBody>
      </p:sp>
      <p:cxnSp>
        <p:nvCxnSpPr>
          <p:cNvPr id="100114" name="footer_rule"/>
          <p:cNvCxnSpPr/>
          <p:nvPr/>
        </p:nvCxnSpPr>
        <p:spPr>
          <a:xfrm>
            <a:off x="546100" y="6337300"/>
            <a:ext cx="11074400" cy="0"/>
          </a:xfrm>
          <a:prstGeom prst="straightConnector1">
            <a:avLst/>
          </a:prstGeom>
          <a:ln w="6350">
            <a:solidFill>
              <a:srgbClr val="B5B5B5"/>
            </a:solidFill>
          </a:ln>
        </p:spPr>
      </p:cxnSp>
      <p:sp>
        <p:nvSpPr>
          <p:cNvPr id="100115" name="output"/>
          <p:cNvSpPr/>
          <p:nvPr/>
        </p:nvSpPr>
        <p:spPr>
          <a:xfrm>
            <a:off x="546100" y="6477000"/>
            <a:ext cx="11074400" cy="292100"/>
          </a:xfrm>
          <a:prstGeom prst="rect">
            <a:avLst/>
          </a:prstGeom>
          <a:noFill/>
          <a:ln>
            <a:noFill/>
          </a:ln>
        </p:spPr>
        <p:txBody>
          <a:bodyPr lIns="0" tIns="0" rIns="0" bIns="0" anchor="t">
            <a:noAutofit/>
          </a:bodyPr>
          <a:lstStyle/>
          <a:p>
            <a:pPr algn="l">
              <a:lnSpc>
                <a:spcPts val="1800"/>
              </a:lnSpc>
              <a:spcBef>
                <a:spcPts val="0"/>
              </a:spcBef>
              <a:spcAft>
                <a:spcPts val="0"/>
              </a:spcAft>
            </a:pPr>
            <a:r>
              <a:rPr lang="en-US" sz="1200" b="0">
                <a:solidFill>
                  <a:srgbClr val="000000"/>
                </a:solidFill>
                <a:latin typeface="Times New Roman"/>
                <a:ea typeface="宋体"/>
                <a:cs typeface="Times New Roman"/>
              </a:rPr>
              <a:t>从多车历史状态预测未来2秒轨迹；GNN对照接入相同的时间预测器。</a:t>
            </a:r>
          </a:p>
        </p:txBody>
      </p:sp>
      <mc:AlternateContent xmlns:mc="http://schemas.openxmlformats.org/markup-compatibility/2006">
        <mc:Choice xmlns:a14="http://schemas.microsoft.com/office/drawing/2010/main" Requires="a14">
          <p:sp>
            <p:nvSpPr>
              <p:cNvPr id="200001" name="final_trajectory" descr="LaTeX: \hat{\mathbf{p}}_{t+\tau}=\hat{\mathbf{p}}_t+\tau\hat{\mathbf{v}}_t+\Delta\mathbf{p}_{t+\tau}"/>
              <p:cNvSpPr/>
              <p:nvPr/>
            </p:nvSpPr>
            <p:spPr>
              <a:xfrm>
                <a:off x="5727700" y="3098800"/>
                <a:ext cx="5892800" cy="431800"/>
              </a:xfrm>
            </p:spPr>
            <p:txBody>
              <a:bodyPr lIns="0" tIns="0" rIns="0" bIns="0" anchor="ctr"/>
              <a:lstStyle/>
              <a:p>
                <a:pPr algn="ctr">
                  <a:defRPr lang="en-US" sz="19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𝐩</m:t>
                                  </m:r>
                                </m:e>
                              </m:acc>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𝜏</m:t>
                              </m:r>
                            </m:sub>
                          </m:sSub>
                          <m:r>
                            <a:rPr>
                              <a:latin typeface="Cambria Math" panose="02040503050406030204" pitchFamily="18" charset="0"/>
                            </a:rPr>
                            <m:t>=</m:t>
                          </m:r>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𝐩</m:t>
                                  </m:r>
                                </m:e>
                              </m:acc>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𝜏</m:t>
                          </m:r>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𝐯</m:t>
                                  </m:r>
                                </m:e>
                              </m:acc>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𝛥</m:t>
                          </m:r>
                          <m:sSub>
                            <m:sSubPr>
                              <m:ctrlPr>
                                <a:rPr i="1">
                                  <a:latin typeface="Cambria Math" panose="02040503050406030204" pitchFamily="18" charset="0"/>
                                </a:rPr>
                              </m:ctrlPr>
                            </m:sSubPr>
                            <m:e>
                              <m:r>
                                <a:rPr>
                                  <a:latin typeface="Cambria Math" panose="02040503050406030204" pitchFamily="18" charset="0"/>
                                </a:rPr>
                                <m:t>𝐩</m:t>
                              </m:r>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𝜏</m:t>
                              </m:r>
                            </m:sub>
                          </m:sSub>
                        </m:oMath>
                      </m:oMathPara>
                    </a14:m>
                  </mc:Choice>
                  <mc:Fallback xmlns:asvg="http://schemas.microsoft.com/office/drawing/2016/SVG/main" xmlns="">
                    <a:r>
                      <a:rPr lang="en-US" sz="1900"/>
                      <a:t>p̂t₊τ=p̂t+τv̂t+Δpt₊τ</a:t>
                    </a:r>
                  </mc:Fallback>
                </mc:AlternateContent>
                <a:endParaRPr/>
              </a:p>
            </p:txBody>
          </p:sp>
        </mc:Choice>
        <mc:Fallback>
          <p:sp>
            <p:nvSpPr>
              <p:cNvPr id="200001" name="final_trajectory" descr="LaTeX: \hat{\mathbf{p}}_{t+\tau}=\hat{\mathbf{p}}_t+\tau\hat{\mathbf{v}}_t+\Delta\mathbf{p}_{t+\tau}"/>
              <p:cNvSpPr>
                <a:spLocks noRot="1" noChangeAspect="1" noMove="1" noResize="1" noEditPoints="1" noAdjustHandles="1" noChangeArrowheads="1" noChangeShapeType="1" noTextEdit="1"/>
              </p:cNvSpPr>
              <p:nvPr/>
            </p:nvSpPr>
            <p:spPr>
              <a:xfrm>
                <a:off x="5727700" y="3098800"/>
                <a:ext cx="5892800" cy="431800"/>
              </a:xfr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0002" name="input_output" descr="LaTeX: \mathbf{X}\in\mathbb{R}^{20\times N\times6}\quad\longrightarrow\quad\hat{\mathbf{P}}\in\mathbb{R}^{20\times N\times2}"/>
              <p:cNvSpPr/>
              <p:nvPr/>
            </p:nvSpPr>
            <p:spPr>
              <a:xfrm>
                <a:off x="5727700" y="4864100"/>
                <a:ext cx="5892800" cy="4445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r>
                            <a:rPr>
                              <a:latin typeface="Cambria Math" panose="02040503050406030204" pitchFamily="18" charset="0"/>
                            </a:rPr>
                            <m:t>𝐗</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ℝ</m:t>
                              </m:r>
                            </m:e>
                            <m:sup>
                              <m:r>
                                <a:rPr>
                                  <a:latin typeface="Cambria Math" panose="02040503050406030204" pitchFamily="18" charset="0"/>
                                </a:rPr>
                                <m:t>20× </m:t>
                              </m:r>
                              <m:r>
                                <a:rPr>
                                  <a:latin typeface="Cambria Math" panose="02040503050406030204" pitchFamily="18" charset="0"/>
                                </a:rPr>
                                <m:t>𝑁</m:t>
                              </m:r>
                              <m:r>
                                <a:rPr>
                                  <a:latin typeface="Cambria Math" panose="02040503050406030204" pitchFamily="18" charset="0"/>
                                </a:rPr>
                                <m:t>×6</m:t>
                              </m:r>
                            </m:sup>
                          </m:sSup>
                          <m:r>
                            <a:rPr>
                              <a:latin typeface="Cambria Math" panose="02040503050406030204" pitchFamily="18" charset="0"/>
                            </a:rPr>
                            <m:t> ⟶ </m:t>
                          </m:r>
                          <m:acc>
                            <m:accPr>
                              <m:chr m:val="̂"/>
                              <m:ctrlPr>
                                <a:rPr i="1">
                                  <a:latin typeface="Cambria Math" panose="02040503050406030204" pitchFamily="18" charset="0"/>
                                </a:rPr>
                              </m:ctrlPr>
                            </m:accPr>
                            <m:e>
                              <m:r>
                                <a:rPr>
                                  <a:latin typeface="Cambria Math" panose="02040503050406030204" pitchFamily="18" charset="0"/>
                                </a:rPr>
                                <m:t>𝐏</m:t>
                              </m:r>
                            </m:e>
                          </m:acc>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ℝ</m:t>
                              </m:r>
                            </m:e>
                            <m:sup>
                              <m:r>
                                <a:rPr>
                                  <a:latin typeface="Cambria Math" panose="02040503050406030204" pitchFamily="18" charset="0"/>
                                </a:rPr>
                                <m:t>20× </m:t>
                              </m:r>
                              <m:r>
                                <a:rPr>
                                  <a:latin typeface="Cambria Math" panose="02040503050406030204" pitchFamily="18" charset="0"/>
                                </a:rPr>
                                <m:t>𝑁</m:t>
                              </m:r>
                              <m:r>
                                <a:rPr>
                                  <a:latin typeface="Cambria Math" panose="02040503050406030204" pitchFamily="18" charset="0"/>
                                </a:rPr>
                                <m:t>×2</m:t>
                              </m:r>
                            </m:sup>
                          </m:sSup>
                        </m:oMath>
                      </m:oMathPara>
                    </a14:m>
                  </mc:Choice>
                  <mc:Fallback xmlns:asvg="http://schemas.microsoft.com/office/drawing/2016/SVG/main" xmlns="">
                    <a:r>
                      <a:rPr lang="en-US" sz="1700"/>
                      <a:t>X∈R²⁰× N×⁶ ⟶ P̂∈R²⁰× N×²</a:t>
                    </a:r>
                  </mc:Fallback>
                </mc:AlternateContent>
                <a:endParaRPr/>
              </a:p>
            </p:txBody>
          </p:sp>
        </mc:Choice>
        <mc:Fallback>
          <p:sp>
            <p:nvSpPr>
              <p:cNvPr id="200002" name="input_output" descr="LaTeX: \mathbf{X}\in\mathbb{R}^{20\times N\times6}\quad\longrightarrow\quad\hat{\mathbf{P}}\in\mathbb{R}^{20\times N\times2}"/>
              <p:cNvSpPr>
                <a:spLocks noRot="1" noChangeAspect="1" noMove="1" noResize="1" noEditPoints="1" noAdjustHandles="1" noChangeArrowheads="1" noChangeShapeType="1" noTextEdit="1"/>
              </p:cNvSpPr>
              <p:nvPr/>
            </p:nvSpPr>
            <p:spPr>
              <a:xfrm>
                <a:off x="5727700" y="4864100"/>
                <a:ext cx="5892800" cy="444500"/>
              </a:xfrm>
              <a:blipFill>
                <a:blip r:embed="rId5"/>
                <a:stretch>
                  <a:fillRect/>
                </a:stretch>
              </a:blipFill>
            </p:spPr>
            <p:txBody>
              <a:bodyPr/>
              <a:lstStyle/>
              <a:p>
                <a:r>
                  <a:rPr lang="zh-CN" altLang="en-US">
                    <a:noFill/>
                  </a:rPr>
                  <a:t> </a:t>
                </a:r>
              </a:p>
            </p:txBody>
          </p:sp>
        </mc:Fallback>
      </mc:AlternateContent>
      <p:sp>
        <p:nvSpPr>
          <p:cNvPr id="200003" name="system_step_0"/>
          <p:cNvSpPr txBox="1"/>
          <p:nvPr/>
        </p:nvSpPr>
        <p:spPr>
          <a:xfrm>
            <a:off x="914400" y="1117600"/>
            <a:ext cx="2832100" cy="5588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历史车辆状态</a:t>
            </a:r>
          </a:p>
          <a:p>
            <a:pPr algn="ctr">
              <a:lnSpc>
                <a:spcPts val="1820"/>
              </a:lnSpc>
              <a:spcBef>
                <a:spcPts val="0"/>
              </a:spcBef>
              <a:spcAft>
                <a:spcPts val="0"/>
              </a:spcAft>
            </a:pPr>
            <a:r>
              <a:rPr lang="en-US" sz="1300" b="0">
                <a:solidFill>
                  <a:srgbClr val="000000"/>
                </a:solidFill>
                <a:latin typeface="Times New Roman"/>
                <a:ea typeface="宋体"/>
                <a:cs typeface="Times New Roman"/>
              </a:rPr>
              <a:t>20帧，最多8辆</a:t>
            </a:r>
          </a:p>
        </p:txBody>
      </p:sp>
      <p:sp>
        <p:nvSpPr>
          <p:cNvPr id="200004" name="system_step_1"/>
          <p:cNvSpPr txBox="1"/>
          <p:nvPr/>
        </p:nvSpPr>
        <p:spPr>
          <a:xfrm>
            <a:off x="914400" y="1930400"/>
            <a:ext cx="2832100" cy="4826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逐帧构建车辆交互图</a:t>
            </a:r>
          </a:p>
        </p:txBody>
      </p:sp>
      <p:sp>
        <p:nvSpPr>
          <p:cNvPr id="200005" name="system_step_2"/>
          <p:cNvSpPr txBox="1"/>
          <p:nvPr/>
        </p:nvSpPr>
        <p:spPr>
          <a:xfrm>
            <a:off x="914400" y="2667000"/>
            <a:ext cx="2832100" cy="4826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双层 QGNN</a:t>
            </a:r>
          </a:p>
        </p:txBody>
      </p:sp>
      <p:sp>
        <p:nvSpPr>
          <p:cNvPr id="200006" name="system_step_3"/>
          <p:cNvSpPr txBox="1"/>
          <p:nvPr/>
        </p:nvSpPr>
        <p:spPr>
          <a:xfrm>
            <a:off x="914400" y="3403600"/>
            <a:ext cx="2832100" cy="6096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本车状态＋图特征</a:t>
            </a:r>
          </a:p>
          <a:p>
            <a:pPr algn="ctr">
              <a:lnSpc>
                <a:spcPts val="1820"/>
              </a:lnSpc>
              <a:spcBef>
                <a:spcPts val="0"/>
              </a:spcBef>
              <a:spcAft>
                <a:spcPts val="0"/>
              </a:spcAft>
            </a:pPr>
            <a:r>
              <a:rPr lang="en-US" sz="1300" b="0">
                <a:solidFill>
                  <a:srgbClr val="000000"/>
                </a:solidFill>
                <a:latin typeface="Times New Roman"/>
                <a:ea typeface="宋体"/>
                <a:cs typeface="Times New Roman"/>
              </a:rPr>
              <a:t>GPT-2＋LoRA</a:t>
            </a:r>
          </a:p>
        </p:txBody>
      </p:sp>
      <p:sp>
        <p:nvSpPr>
          <p:cNvPr id="200007" name="system_step_4"/>
          <p:cNvSpPr txBox="1"/>
          <p:nvPr/>
        </p:nvSpPr>
        <p:spPr>
          <a:xfrm>
            <a:off x="914400" y="4279900"/>
            <a:ext cx="2832100" cy="4826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预测头：轨迹修正量</a:t>
            </a:r>
          </a:p>
        </p:txBody>
      </p:sp>
      <p:sp>
        <p:nvSpPr>
          <p:cNvPr id="200008" name="system_step_5"/>
          <p:cNvSpPr txBox="1"/>
          <p:nvPr/>
        </p:nvSpPr>
        <p:spPr>
          <a:xfrm>
            <a:off x="914400" y="5435600"/>
            <a:ext cx="2832100" cy="5588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相加得到未来轨迹</a:t>
            </a:r>
          </a:p>
          <a:p>
            <a:pPr algn="ctr">
              <a:lnSpc>
                <a:spcPts val="1820"/>
              </a:lnSpc>
              <a:spcBef>
                <a:spcPts val="0"/>
              </a:spcBef>
              <a:spcAft>
                <a:spcPts val="0"/>
              </a:spcAft>
            </a:pPr>
            <a:r>
              <a:rPr lang="en-US" sz="1300" b="0">
                <a:solidFill>
                  <a:srgbClr val="000000"/>
                </a:solidFill>
                <a:latin typeface="Times New Roman"/>
                <a:ea typeface="宋体"/>
                <a:cs typeface="Times New Roman"/>
              </a:rPr>
              <a:t>未来20步二维位置</a:t>
            </a:r>
          </a:p>
        </p:txBody>
      </p:sp>
      <p:cxnSp>
        <p:nvCxnSpPr>
          <p:cNvPr id="200009" name="Connector 4"/>
          <p:cNvCxnSpPr>
            <a:cxnSpLocks/>
            <a:stCxn id="200003" idx="0"/>
            <a:endCxn id="200004" idx="0"/>
          </p:cNvCxnSpPr>
          <p:nvPr/>
        </p:nvCxnSpPr>
        <p:spPr>
          <a:xfrm>
            <a:off x="2330450" y="1676400"/>
            <a:ext cx="0" cy="254000"/>
          </a:xfrm>
          <a:prstGeom prst="straightConnector1">
            <a:avLst/>
          </a:prstGeom>
          <a:ln w="8890">
            <a:solidFill>
              <a:srgbClr val="000000"/>
            </a:solidFill>
            <a:tailEnd type="triangle"/>
          </a:ln>
        </p:spPr>
      </p:cxnSp>
      <p:cxnSp>
        <p:nvCxnSpPr>
          <p:cNvPr id="200010" name="Connector 5"/>
          <p:cNvCxnSpPr>
            <a:stCxn id="200004" idx="0"/>
            <a:endCxn id="200005" idx="0"/>
          </p:cNvCxnSpPr>
          <p:nvPr/>
        </p:nvCxnSpPr>
        <p:spPr>
          <a:xfrm>
            <a:off x="2330450" y="2413000"/>
            <a:ext cx="0" cy="254000"/>
          </a:xfrm>
          <a:prstGeom prst="straightConnector1">
            <a:avLst/>
          </a:prstGeom>
          <a:ln w="8890">
            <a:solidFill>
              <a:srgbClr val="000000"/>
            </a:solidFill>
            <a:tailEnd type="triangle"/>
          </a:ln>
        </p:spPr>
      </p:cxnSp>
      <p:cxnSp>
        <p:nvCxnSpPr>
          <p:cNvPr id="200011" name="Connector 6"/>
          <p:cNvCxnSpPr>
            <a:stCxn id="200005" idx="0"/>
            <a:endCxn id="200006" idx="0"/>
          </p:cNvCxnSpPr>
          <p:nvPr/>
        </p:nvCxnSpPr>
        <p:spPr>
          <a:xfrm>
            <a:off x="2330450" y="3149600"/>
            <a:ext cx="0" cy="254000"/>
          </a:xfrm>
          <a:prstGeom prst="straightConnector1">
            <a:avLst/>
          </a:prstGeom>
          <a:ln w="8890">
            <a:solidFill>
              <a:srgbClr val="000000"/>
            </a:solidFill>
            <a:tailEnd type="triangle"/>
          </a:ln>
        </p:spPr>
      </p:cxnSp>
      <p:cxnSp>
        <p:nvCxnSpPr>
          <p:cNvPr id="200012" name="Connector 7"/>
          <p:cNvCxnSpPr>
            <a:stCxn id="200006" idx="0"/>
            <a:endCxn id="200007" idx="0"/>
          </p:cNvCxnSpPr>
          <p:nvPr/>
        </p:nvCxnSpPr>
        <p:spPr>
          <a:xfrm>
            <a:off x="2330450" y="4013200"/>
            <a:ext cx="0" cy="266700"/>
          </a:xfrm>
          <a:prstGeom prst="straightConnector1">
            <a:avLst/>
          </a:prstGeom>
          <a:ln w="8890">
            <a:solidFill>
              <a:srgbClr val="000000"/>
            </a:solidFill>
            <a:tailEnd type="triangle"/>
          </a:ln>
        </p:spPr>
      </p:cxnSp>
      <p:cxnSp>
        <p:nvCxnSpPr>
          <p:cNvPr id="200013" name="Connector 8"/>
          <p:cNvCxnSpPr>
            <a:stCxn id="200007" idx="0"/>
            <a:endCxn id="200008" idx="0"/>
          </p:cNvCxnSpPr>
          <p:nvPr/>
        </p:nvCxnSpPr>
        <p:spPr>
          <a:xfrm>
            <a:off x="2330450" y="4762500"/>
            <a:ext cx="0" cy="673100"/>
          </a:xfrm>
          <a:prstGeom prst="straightConnector1">
            <a:avLst/>
          </a:prstGeom>
          <a:ln w="8890">
            <a:solidFill>
              <a:srgbClr val="000000"/>
            </a:solidFill>
            <a:tailEnd type="triangle"/>
          </a:ln>
        </p:spPr>
      </p:cxnSp>
      <p:sp>
        <p:nvSpPr>
          <p:cNvPr id="200014" name="constant_velocity"/>
          <p:cNvSpPr txBox="1"/>
          <p:nvPr/>
        </p:nvSpPr>
        <p:spPr>
          <a:xfrm>
            <a:off x="3937000" y="4686300"/>
            <a:ext cx="1155700" cy="482600"/>
          </a:xfrm>
          <a:prstGeom prst="rect">
            <a:avLst/>
          </a:prstGeom>
          <a:solidFill>
            <a:srgbClr val="FFFFFF"/>
          </a:solidFill>
          <a:ln w="8255">
            <a:solidFill>
              <a:srgbClr val="000000"/>
            </a:solidFill>
          </a:ln>
        </p:spPr>
        <p:txBody>
          <a:bodyPr lIns="38100" tIns="38100" rIns="38100" bIns="38100" anchor="ctr"/>
          <a:lstStyle/>
          <a:p>
            <a:pPr algn="ctr">
              <a:lnSpc>
                <a:spcPts val="1680"/>
              </a:lnSpc>
              <a:spcBef>
                <a:spcPts val="0"/>
              </a:spcBef>
              <a:spcAft>
                <a:spcPts val="0"/>
              </a:spcAft>
            </a:pPr>
            <a:r>
              <a:rPr lang="en-US" sz="1200" b="0">
                <a:solidFill>
                  <a:srgbClr val="000000"/>
                </a:solidFill>
                <a:latin typeface="Times New Roman"/>
                <a:ea typeface="宋体"/>
                <a:cs typeface="Times New Roman"/>
              </a:rPr>
              <a:t>恒速外推</a:t>
            </a:r>
          </a:p>
        </p:txBody>
      </p:sp>
      <p:cxnSp>
        <p:nvCxnSpPr>
          <p:cNvPr id="200015" name="Connector 9"/>
          <p:cNvCxnSpPr>
            <a:cxnSpLocks/>
            <a:stCxn id="200003" idx="3"/>
            <a:endCxn id="200014" idx="0"/>
          </p:cNvCxnSpPr>
          <p:nvPr/>
        </p:nvCxnSpPr>
        <p:spPr>
          <a:xfrm>
            <a:off x="3746500" y="1397000"/>
            <a:ext cx="768350" cy="3289300"/>
          </a:xfrm>
          <a:prstGeom prst="bentConnector2">
            <a:avLst/>
          </a:prstGeom>
          <a:ln w="8890">
            <a:solidFill>
              <a:srgbClr val="000000"/>
            </a:solidFill>
            <a:tailEnd type="triangle"/>
          </a:ln>
        </p:spPr>
      </p:cxnSp>
      <p:cxnSp>
        <p:nvCxnSpPr>
          <p:cNvPr id="200016" name="Connector 10"/>
          <p:cNvCxnSpPr>
            <a:stCxn id="200014" idx="0"/>
            <a:endCxn id="200008" idx="0"/>
          </p:cNvCxnSpPr>
          <p:nvPr/>
        </p:nvCxnSpPr>
        <p:spPr>
          <a:xfrm flipH="1">
            <a:off x="3746500" y="5168900"/>
            <a:ext cx="768350" cy="546100"/>
          </a:xfrm>
          <a:prstGeom prst="bentConnector3">
            <a:avLst/>
          </a:prstGeom>
          <a:ln w="8890">
            <a:solidFill>
              <a:srgbClr val="000000"/>
            </a:solidFill>
            <a:tailEnd type="triangle"/>
          </a:ln>
        </p:spPr>
      </p:cxnSp>
      <p:sp>
        <p:nvSpPr>
          <p:cNvPr id="200017" name="last_state_label"/>
          <p:cNvSpPr txBox="1"/>
          <p:nvPr/>
        </p:nvSpPr>
        <p:spPr>
          <a:xfrm>
            <a:off x="4511040" y="3517900"/>
            <a:ext cx="914400" cy="533400"/>
          </a:xfrm>
          <a:prstGeom prst="rect">
            <a:avLst/>
          </a:prstGeom>
          <a:noFill/>
          <a:ln>
            <a:noFill/>
          </a:ln>
        </p:spPr>
        <p:txBody>
          <a:bodyPr lIns="0" tIns="0" rIns="0" bIns="0" anchor="t"/>
          <a:lstStyle/>
          <a:p>
            <a:pPr algn="l">
              <a:lnSpc>
                <a:spcPts val="1540"/>
              </a:lnSpc>
              <a:spcBef>
                <a:spcPts val="0"/>
              </a:spcBef>
              <a:spcAft>
                <a:spcPts val="0"/>
              </a:spcAft>
            </a:pPr>
            <a:r>
              <a:rPr lang="en-US" sz="1100" b="0">
                <a:solidFill>
                  <a:srgbClr val="000000"/>
                </a:solidFill>
                <a:latin typeface="Times New Roman"/>
                <a:ea typeface="宋体"/>
                <a:cs typeface="Times New Roman"/>
              </a:rPr>
              <a:t>当前位置</a:t>
            </a:r>
          </a:p>
          <a:p>
            <a:pPr algn="l">
              <a:lnSpc>
                <a:spcPts val="1540"/>
              </a:lnSpc>
              <a:spcBef>
                <a:spcPts val="0"/>
              </a:spcBef>
              <a:spcAft>
                <a:spcPts val="0"/>
              </a:spcAft>
            </a:pPr>
            <a:r>
              <a:rPr lang="en-US" sz="1100" b="0">
                <a:solidFill>
                  <a:srgbClr val="000000"/>
                </a:solidFill>
                <a:latin typeface="Times New Roman"/>
                <a:ea typeface="宋体"/>
                <a:cs typeface="Times New Roman"/>
              </a:rPr>
              <a:t>与速度</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量子遗传算法：状态表示与搜索机制">
    <p:bg>
      <p:bgPr>
        <a:solidFill>
          <a:srgbClr val="FFFFFF"/>
        </a:solidFill>
        <a:effectLst/>
      </p:bgPr>
    </p:bg>
    <p:spTree>
      <p:nvGrpSpPr>
        <p:cNvPr id="1" name=""/>
        <p:cNvGrpSpPr/>
        <p:nvPr/>
      </p:nvGrpSpPr>
      <p:grpSpPr>
        <a:xfrm>
          <a:off x="0" y="0"/>
          <a:ext cx="0" cy="0"/>
          <a:chOff x="0" y="0"/>
          <a:chExt cx="0" cy="0"/>
        </a:xfrm>
      </p:grpSpPr>
      <p:pic>
        <p:nvPicPr>
          <p:cNvPr id="100116"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17"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QGNN：关系编码与量子电路</a:t>
            </a:r>
          </a:p>
        </p:txBody>
      </p:sp>
      <p:cxnSp>
        <p:nvCxnSpPr>
          <p:cNvPr id="100118" name="header_rule"/>
          <p:cNvCxnSpPr/>
          <p:nvPr/>
        </p:nvCxnSpPr>
        <p:spPr>
          <a:xfrm>
            <a:off x="546100" y="711200"/>
            <a:ext cx="8318500" cy="0"/>
          </a:xfrm>
          <a:prstGeom prst="straightConnector1">
            <a:avLst/>
          </a:prstGeom>
          <a:ln w="6985">
            <a:solidFill>
              <a:srgbClr val="A0A0A0"/>
            </a:solidFill>
          </a:ln>
        </p:spPr>
      </p:cxnSp>
      <p:sp>
        <p:nvSpPr>
          <p:cNvPr id="100119" name="left_heading"/>
          <p:cNvSpPr/>
          <p:nvPr/>
        </p:nvSpPr>
        <p:spPr>
          <a:xfrm>
            <a:off x="546100" y="1066800"/>
            <a:ext cx="43815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关系特征与角度编码</a:t>
            </a:r>
          </a:p>
        </p:txBody>
      </p:sp>
      <p:sp>
        <p:nvSpPr>
          <p:cNvPr id="100122" name="amplitude_meaning"/>
          <p:cNvSpPr/>
          <p:nvPr/>
        </p:nvSpPr>
        <p:spPr>
          <a:xfrm>
            <a:off x="546100" y="4381500"/>
            <a:ext cx="4445000" cy="5969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逐通道学习缩放与偏置，</a:t>
            </a:r>
          </a:p>
          <a:p>
            <a:pPr algn="l">
              <a:lnSpc>
                <a:spcPts val="2000"/>
              </a:lnSpc>
              <a:spcBef>
                <a:spcPts val="0"/>
              </a:spcBef>
              <a:spcAft>
                <a:spcPts val="0"/>
              </a:spcAft>
            </a:pPr>
            <a:r>
              <a:rPr lang="en-US" sz="1300" b="0">
                <a:solidFill>
                  <a:srgbClr val="000000"/>
                </a:solidFill>
                <a:latin typeface="Times New Roman"/>
                <a:ea typeface="宋体"/>
                <a:cs typeface="Times New Roman"/>
              </a:rPr>
              <a:t>将12维关系特征转换为12个旋转角。</a:t>
            </a:r>
          </a:p>
        </p:txBody>
      </p:sp>
      <p:sp>
        <p:nvSpPr>
          <p:cNvPr id="100124" name="equal_probabilities"/>
          <p:cNvSpPr/>
          <p:nvPr/>
        </p:nvSpPr>
        <p:spPr>
          <a:xfrm>
            <a:off x="546100" y="5080000"/>
            <a:ext cx="4445000" cy="5842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同层电路参数在不同车辆关系与</a:t>
            </a:r>
          </a:p>
          <a:p>
            <a:pPr algn="l">
              <a:lnSpc>
                <a:spcPts val="2000"/>
              </a:lnSpc>
              <a:spcBef>
                <a:spcPts val="0"/>
              </a:spcBef>
              <a:spcAft>
                <a:spcPts val="0"/>
              </a:spcAft>
            </a:pPr>
            <a:r>
              <a:rPr lang="en-US" sz="1300" b="0">
                <a:solidFill>
                  <a:srgbClr val="000000"/>
                </a:solidFill>
                <a:latin typeface="Times New Roman"/>
                <a:ea typeface="宋体"/>
                <a:cs typeface="Times New Roman"/>
              </a:rPr>
              <a:t>历史时刻之间共享。</a:t>
            </a:r>
          </a:p>
        </p:txBody>
      </p:sp>
      <p:cxnSp>
        <p:nvCxnSpPr>
          <p:cNvPr id="100125" name="column_rule"/>
          <p:cNvCxnSpPr/>
          <p:nvPr/>
        </p:nvCxnSpPr>
        <p:spPr>
          <a:xfrm>
            <a:off x="5295900" y="1054100"/>
            <a:ext cx="0" cy="4737100"/>
          </a:xfrm>
          <a:prstGeom prst="straightConnector1">
            <a:avLst/>
          </a:prstGeom>
          <a:ln w="6350">
            <a:solidFill>
              <a:srgbClr val="B5B5B5"/>
            </a:solidFill>
          </a:ln>
        </p:spPr>
      </p:cxnSp>
      <p:sp>
        <p:nvSpPr>
          <p:cNvPr id="100126" name="right_heading"/>
          <p:cNvSpPr/>
          <p:nvPr/>
        </p:nvSpPr>
        <p:spPr>
          <a:xfrm>
            <a:off x="5664200" y="1066800"/>
            <a:ext cx="57150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单条车辆关系的量子处理</a:t>
            </a:r>
          </a:p>
        </p:txBody>
      </p:sp>
      <p:cxnSp>
        <p:nvCxnSpPr>
          <p:cNvPr id="100128" name="footer_rule"/>
          <p:cNvCxnSpPr/>
          <p:nvPr/>
        </p:nvCxnSpPr>
        <p:spPr>
          <a:xfrm>
            <a:off x="546100" y="6121400"/>
            <a:ext cx="11074400" cy="0"/>
          </a:xfrm>
          <a:prstGeom prst="straightConnector1">
            <a:avLst/>
          </a:prstGeom>
          <a:ln w="6350">
            <a:solidFill>
              <a:srgbClr val="B5B5B5"/>
            </a:solidFill>
          </a:ln>
        </p:spPr>
      </p:cxnSp>
      <p:sp>
        <p:nvSpPr>
          <p:cNvPr id="100129" name="project_connection"/>
          <p:cNvSpPr/>
          <p:nvPr/>
        </p:nvSpPr>
        <p:spPr>
          <a:xfrm>
            <a:off x="546100" y="6324600"/>
            <a:ext cx="11074400" cy="3048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每层使用6比特、3层电路；两层QGNN参数独立，每车的图输出为128维。</a:t>
            </a:r>
          </a:p>
        </p:txBody>
      </p:sp>
      <mc:AlternateContent xmlns:mc="http://schemas.openxmlformats.org/markup-compatibility/2006">
        <mc:Choice xmlns:a14="http://schemas.microsoft.com/office/drawing/2010/main" Requires="a14">
          <p:sp>
            <p:nvSpPr>
              <p:cNvPr id="200018" name="relation_vector" descr="LaTeX: \mathbf{r}_{ij}=[\tanh(\mathbf{e}_{ij});\ \gamma\tanh(\mathbf{c}_{ij})]\in\mathbb{R}^{12}"/>
              <p:cNvSpPr/>
              <p:nvPr/>
            </p:nvSpPr>
            <p:spPr>
              <a:xfrm>
                <a:off x="546100" y="1511300"/>
                <a:ext cx="4445000" cy="558800"/>
              </a:xfrm>
            </p:spPr>
            <p:txBody>
              <a:bodyPr lIns="0" tIns="0" rIns="0" bIns="0" anchor="ctr"/>
              <a:lstStyle/>
              <a:p>
                <a:pPr algn="ctr">
                  <a:defRPr lang="en-US" sz="16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𝐫</m:t>
                              </m:r>
                            </m:e>
                            <m:sub>
                              <m:r>
                                <a:rPr>
                                  <a:latin typeface="Cambria Math" panose="02040503050406030204" pitchFamily="18" charset="0"/>
                                </a:rPr>
                                <m:t>𝑖𝑗</m:t>
                              </m:r>
                            </m:sub>
                          </m:sSub>
                          <m:r>
                            <a:rPr>
                              <a:latin typeface="Cambria Math" panose="02040503050406030204" pitchFamily="18" charset="0"/>
                            </a:rPr>
                            <m:t>=[</m:t>
                          </m:r>
                          <m:r>
                            <m:rPr>
                              <m:nor/>
                            </m:rPr>
                            <a:rPr/>
                            <m:t>tanh</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𝐞</m:t>
                              </m:r>
                            </m:e>
                            <m:sub>
                              <m:r>
                                <a:rPr>
                                  <a:latin typeface="Cambria Math" panose="02040503050406030204" pitchFamily="18" charset="0"/>
                                </a:rPr>
                                <m:t>𝑖𝑗</m:t>
                              </m:r>
                            </m:sub>
                          </m:sSub>
                          <m:r>
                            <a:rPr>
                              <a:latin typeface="Cambria Math" panose="02040503050406030204" pitchFamily="18" charset="0"/>
                            </a:rPr>
                            <m:t>); </m:t>
                          </m:r>
                          <m:r>
                            <a:rPr>
                              <a:latin typeface="Cambria Math" panose="02040503050406030204" pitchFamily="18" charset="0"/>
                            </a:rPr>
                            <m:t>𝛾</m:t>
                          </m:r>
                          <m:r>
                            <m:rPr>
                              <m:nor/>
                            </m:rPr>
                            <a:rPr/>
                            <m:t>tanh</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𝐜</m:t>
                              </m:r>
                            </m:e>
                            <m:sub>
                              <m:r>
                                <a:rPr>
                                  <a:latin typeface="Cambria Math" panose="02040503050406030204" pitchFamily="18" charset="0"/>
                                </a:rPr>
                                <m:t>𝑖𝑗</m:t>
                              </m:r>
                            </m:sub>
                          </m:sSub>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ℝ</m:t>
                              </m:r>
                            </m:e>
                            <m:sup>
                              <m:r>
                                <a:rPr>
                                  <a:latin typeface="Cambria Math" panose="02040503050406030204" pitchFamily="18" charset="0"/>
                                </a:rPr>
                                <m:t>12</m:t>
                              </m:r>
                            </m:sup>
                          </m:sSup>
                        </m:oMath>
                      </m:oMathPara>
                    </a14:m>
                  </mc:Choice>
                  <mc:Fallback xmlns:asvg="http://schemas.microsoft.com/office/drawing/2016/SVG/main" xmlns="">
                    <a:r>
                      <a:rPr lang="en-US" sz="1600"/>
                      <a:t>rᵢj=[tanh(eᵢj); γtanh(cᵢj)]∈R¹²</a:t>
                    </a:r>
                  </mc:Fallback>
                </mc:AlternateContent>
                <a:endParaRPr/>
              </a:p>
            </p:txBody>
          </p:sp>
        </mc:Choice>
        <mc:Fallback>
          <p:sp>
            <p:nvSpPr>
              <p:cNvPr id="200018" name="relation_vector" descr="LaTeX: \mathbf{r}_{ij}=[\tanh(\mathbf{e}_{ij});\ \gamma\tanh(\mathbf{c}_{ij})]\in\mathbb{R}^{12}"/>
              <p:cNvSpPr>
                <a:spLocks noRot="1" noChangeAspect="1" noMove="1" noResize="1" noEditPoints="1" noAdjustHandles="1" noChangeArrowheads="1" noChangeShapeType="1" noTextEdit="1"/>
              </p:cNvSpPr>
              <p:nvPr/>
            </p:nvSpPr>
            <p:spPr>
              <a:xfrm>
                <a:off x="546100" y="1511300"/>
                <a:ext cx="4445000" cy="558800"/>
              </a:xfrm>
              <a:blipFill>
                <a:blip r:embed="rId4"/>
                <a:stretch>
                  <a:fillRect/>
                </a:stretch>
              </a:blipFill>
            </p:spPr>
            <p:txBody>
              <a:bodyPr/>
              <a:lstStyle/>
              <a:p>
                <a:r>
                  <a:rPr lang="zh-CN" altLang="en-US">
                    <a:noFill/>
                  </a:rPr>
                  <a:t> </a:t>
                </a:r>
              </a:p>
            </p:txBody>
          </p:sp>
        </mc:Fallback>
      </mc:AlternateContent>
      <p:sp>
        <p:nvSpPr>
          <p:cNvPr id="200019" name="relation_explanation"/>
          <p:cNvSpPr txBox="1"/>
          <p:nvPr/>
        </p:nvSpPr>
        <p:spPr>
          <a:xfrm>
            <a:off x="546100" y="2298700"/>
            <a:ext cx="4445000" cy="1422400"/>
          </a:xfrm>
          <a:prstGeom prst="rect">
            <a:avLst/>
          </a:prstGeom>
          <a:noFill/>
          <a:ln>
            <a:noFill/>
          </a:ln>
        </p:spPr>
        <p:txBody>
          <a:bodyPr lIns="0" tIns="0" rIns="0" bIns="0" anchor="t"/>
          <a:lstStyle/>
          <a:p>
            <a:pPr algn="l">
              <a:lnSpc>
                <a:spcPts val="1820"/>
              </a:lnSpc>
              <a:spcBef>
                <a:spcPts val="0"/>
              </a:spcBef>
              <a:spcAft>
                <a:spcPts val="0"/>
              </a:spcAft>
            </a:pPr>
            <a:r>
              <a:rPr lang="en-US" sz="1300" b="0">
                <a:solidFill>
                  <a:srgbClr val="000000"/>
                </a:solidFill>
                <a:latin typeface="Times New Roman"/>
                <a:ea typeface="宋体"/>
                <a:cs typeface="Times New Roman"/>
              </a:rPr>
              <a:t>7维物理关系：相对位置、相对速度、</a:t>
            </a:r>
          </a:p>
          <a:p>
            <a:pPr algn="l">
              <a:lnSpc>
                <a:spcPts val="1820"/>
              </a:lnSpc>
              <a:spcBef>
                <a:spcPts val="0"/>
              </a:spcBef>
              <a:spcAft>
                <a:spcPts val="0"/>
              </a:spcAft>
            </a:pPr>
            <a:r>
              <a:rPr lang="en-US" sz="1300" b="0">
                <a:solidFill>
                  <a:srgbClr val="000000"/>
                </a:solidFill>
                <a:latin typeface="Times New Roman"/>
                <a:ea typeface="宋体"/>
                <a:cs typeface="Times New Roman"/>
              </a:rPr>
              <a:t>距离、径向接近速度与碰撞时间。</a:t>
            </a:r>
          </a:p>
          <a:p>
            <a:pPr algn="l">
              <a:lnSpc>
                <a:spcPts val="1820"/>
              </a:lnSpc>
              <a:spcBef>
                <a:spcPts val="0"/>
              </a:spcBef>
              <a:spcAft>
                <a:spcPts val="0"/>
              </a:spcAft>
            </a:pPr>
            <a:endParaRPr lang="en-US" sz="1300" b="0">
              <a:solidFill>
                <a:srgbClr val="000000"/>
              </a:solidFill>
              <a:latin typeface="Times New Roman"/>
              <a:ea typeface="宋体"/>
              <a:cs typeface="Times New Roman"/>
            </a:endParaRPr>
          </a:p>
          <a:p>
            <a:pPr algn="l">
              <a:lnSpc>
                <a:spcPts val="1820"/>
              </a:lnSpc>
              <a:spcBef>
                <a:spcPts val="0"/>
              </a:spcBef>
              <a:spcAft>
                <a:spcPts val="0"/>
              </a:spcAft>
            </a:pPr>
            <a:r>
              <a:rPr lang="en-US" sz="1300" b="0">
                <a:solidFill>
                  <a:srgbClr val="000000"/>
                </a:solidFill>
                <a:latin typeface="Times New Roman"/>
                <a:ea typeface="宋体"/>
                <a:cs typeface="Times New Roman"/>
              </a:rPr>
              <a:t>5维上下文：四组节点相似度和整体差异。</a:t>
            </a:r>
          </a:p>
          <a:p>
            <a:pPr algn="l">
              <a:lnSpc>
                <a:spcPts val="1820"/>
              </a:lnSpc>
              <a:spcBef>
                <a:spcPts val="0"/>
              </a:spcBef>
              <a:spcAft>
                <a:spcPts val="0"/>
              </a:spcAft>
            </a:pPr>
            <a:r>
              <a:rPr lang="en-US" sz="1300" b="0">
                <a:solidFill>
                  <a:srgbClr val="000000"/>
                </a:solidFill>
                <a:latin typeface="Times New Roman"/>
                <a:ea typeface="宋体"/>
                <a:cs typeface="Times New Roman"/>
              </a:rPr>
              <a:t>两层分别侧重物理关系与节点上下文。</a:t>
            </a:r>
          </a:p>
        </p:txBody>
      </p:sp>
      <mc:AlternateContent xmlns:mc="http://schemas.openxmlformats.org/markup-compatibility/2006">
        <mc:Choice xmlns:a14="http://schemas.microsoft.com/office/drawing/2010/main" Requires="a14">
          <p:sp>
            <p:nvSpPr>
              <p:cNvPr id="200020" name="angle_encoding" descr="LaTeX: \boldsymbol{\theta}_{ij}=2\arctan[\mathbf{s}\odot\mathbf{r}_{ij}+0.25\tanh(\mathbf{b})]"/>
              <p:cNvSpPr/>
              <p:nvPr/>
            </p:nvSpPr>
            <p:spPr>
              <a:xfrm>
                <a:off x="546100" y="3759200"/>
                <a:ext cx="4445000" cy="4826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𝜽</m:t>
                              </m:r>
                            </m:e>
                            <m:sub>
                              <m:r>
                                <a:rPr>
                                  <a:latin typeface="Cambria Math" panose="02040503050406030204" pitchFamily="18" charset="0"/>
                                </a:rPr>
                                <m:t>𝑖𝑗</m:t>
                              </m:r>
                            </m:sub>
                          </m:sSub>
                          <m:r>
                            <a:rPr>
                              <a:latin typeface="Cambria Math" panose="02040503050406030204" pitchFamily="18" charset="0"/>
                            </a:rPr>
                            <m:t>=2</m:t>
                          </m:r>
                          <m:r>
                            <m:rPr>
                              <m:nor/>
                            </m:rPr>
                            <a:rPr/>
                            <m:t>arctan</m:t>
                          </m:r>
                          <m:r>
                            <a:rPr>
                              <a:latin typeface="Cambria Math" panose="02040503050406030204" pitchFamily="18" charset="0"/>
                            </a:rPr>
                            <m:t>[</m:t>
                          </m:r>
                          <m:r>
                            <a:rPr>
                              <a:latin typeface="Cambria Math" panose="02040503050406030204" pitchFamily="18" charset="0"/>
                            </a:rPr>
                            <m:t>𝐬</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𝐫</m:t>
                              </m:r>
                            </m:e>
                            <m:sub>
                              <m:r>
                                <a:rPr>
                                  <a:latin typeface="Cambria Math" panose="02040503050406030204" pitchFamily="18" charset="0"/>
                                </a:rPr>
                                <m:t>𝑖𝑗</m:t>
                              </m:r>
                            </m:sub>
                          </m:sSub>
                          <m:r>
                            <a:rPr>
                              <a:latin typeface="Cambria Math" panose="02040503050406030204" pitchFamily="18" charset="0"/>
                            </a:rPr>
                            <m:t>+0.25</m:t>
                          </m:r>
                          <m:r>
                            <m:rPr>
                              <m:nor/>
                            </m:rPr>
                            <a:rPr/>
                            <m:t>tanh</m:t>
                          </m:r>
                          <m:r>
                            <a:rPr>
                              <a:latin typeface="Cambria Math" panose="02040503050406030204" pitchFamily="18" charset="0"/>
                            </a:rPr>
                            <m:t>(</m:t>
                          </m:r>
                          <m:r>
                            <a:rPr>
                              <a:latin typeface="Cambria Math" panose="02040503050406030204" pitchFamily="18" charset="0"/>
                            </a:rPr>
                            <m:t>𝐛</m:t>
                          </m:r>
                          <m:r>
                            <a:rPr>
                              <a:latin typeface="Cambria Math" panose="02040503050406030204" pitchFamily="18" charset="0"/>
                            </a:rPr>
                            <m:t>)]</m:t>
                          </m:r>
                        </m:oMath>
                      </m:oMathPara>
                    </a14:m>
                  </mc:Choice>
                  <mc:Fallback xmlns:asvg="http://schemas.microsoft.com/office/drawing/2016/SVG/main" xmlns="">
                    <a:r>
                      <a:rPr lang="en-US" sz="1700"/>
                      <a:t>θᵢj=2arctan[s⊙rᵢj+0.25tanh(b)]</a:t>
                    </a:r>
                  </mc:Fallback>
                </mc:AlternateContent>
                <a:endParaRPr/>
              </a:p>
            </p:txBody>
          </p:sp>
        </mc:Choice>
        <mc:Fallback>
          <p:sp>
            <p:nvSpPr>
              <p:cNvPr id="200020" name="angle_encoding" descr="LaTeX: \boldsymbol{\theta}_{ij}=2\arctan[\mathbf{s}\odot\mathbf{r}_{ij}+0.25\tanh(\mathbf{b})]"/>
              <p:cNvSpPr>
                <a:spLocks noRot="1" noChangeAspect="1" noMove="1" noResize="1" noEditPoints="1" noAdjustHandles="1" noChangeArrowheads="1" noChangeShapeType="1" noTextEdit="1"/>
              </p:cNvSpPr>
              <p:nvPr/>
            </p:nvSpPr>
            <p:spPr>
              <a:xfrm>
                <a:off x="546100" y="3759200"/>
                <a:ext cx="4445000" cy="482600"/>
              </a:xfrm>
              <a:blipFill>
                <a:blip r:embed="rId5"/>
                <a:stretch>
                  <a:fillRect/>
                </a:stretch>
              </a:blipFill>
            </p:spPr>
            <p:txBody>
              <a:bodyPr/>
              <a:lstStyle/>
              <a:p>
                <a:r>
                  <a:rPr lang="zh-CN" altLang="en-US">
                    <a:noFill/>
                  </a:rPr>
                  <a:t> </a:t>
                </a:r>
              </a:p>
            </p:txBody>
          </p:sp>
        </mc:Fallback>
      </mc:AlternateContent>
      <p:sp>
        <p:nvSpPr>
          <p:cNvPr id="200021" name="q_relation_angles"/>
          <p:cNvSpPr txBox="1"/>
          <p:nvPr/>
        </p:nvSpPr>
        <p:spPr>
          <a:xfrm>
            <a:off x="6426200" y="1574800"/>
            <a:ext cx="3835400" cy="4318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12维旋转角</a:t>
            </a:r>
          </a:p>
        </p:txBody>
      </p:sp>
      <p:sp>
        <p:nvSpPr>
          <p:cNvPr id="200022" name="q_data_encoding"/>
          <p:cNvSpPr txBox="1"/>
          <p:nvPr/>
        </p:nvSpPr>
        <p:spPr>
          <a:xfrm>
            <a:off x="6426200" y="2324100"/>
            <a:ext cx="3835400" cy="5588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endParaRPr lang="en-US" sz="1300" b="0">
              <a:solidFill>
                <a:srgbClr val="000000"/>
              </a:solidFill>
              <a:latin typeface="Times New Roman"/>
              <a:ea typeface="宋体"/>
              <a:cs typeface="Times New Roman"/>
            </a:endParaRPr>
          </a:p>
        </p:txBody>
      </p:sp>
      <mc:AlternateContent xmlns:mc="http://schemas.openxmlformats.org/markup-compatibility/2006">
        <mc:Choice xmlns:a14="http://schemas.microsoft.com/office/drawing/2010/main" Requires="a14">
          <p:sp>
            <p:nvSpPr>
              <p:cNvPr id="200023" name="ryrz_encoding" descr="LaTeX: R_Y(\theta_q),\quad R_Z(\theta_{q+6})"/>
              <p:cNvSpPr/>
              <p:nvPr/>
            </p:nvSpPr>
            <p:spPr>
              <a:xfrm>
                <a:off x="6477000" y="2374900"/>
                <a:ext cx="3733800" cy="4318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𝑞</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𝑞</m:t>
                              </m:r>
                              <m:r>
                                <a:rPr>
                                  <a:latin typeface="Cambria Math" panose="02040503050406030204" pitchFamily="18" charset="0"/>
                                </a:rPr>
                                <m:t>+6</m:t>
                              </m:r>
                            </m:sub>
                          </m:sSub>
                          <m:r>
                            <a:rPr>
                              <a:latin typeface="Cambria Math" panose="02040503050406030204" pitchFamily="18" charset="0"/>
                            </a:rPr>
                            <m:t>)</m:t>
                          </m:r>
                        </m:oMath>
                      </m:oMathPara>
                    </a14:m>
                  </mc:Choice>
                  <mc:Fallback xmlns:asvg="http://schemas.microsoft.com/office/drawing/2016/SVG/main" xmlns="">
                    <a:r>
                      <a:rPr lang="en-US" sz="1700"/>
                      <a:t>RY(θq),  RZ(θq₊₆)</a:t>
                    </a:r>
                  </mc:Fallback>
                </mc:AlternateContent>
                <a:endParaRPr/>
              </a:p>
            </p:txBody>
          </p:sp>
        </mc:Choice>
        <mc:Fallback>
          <p:sp>
            <p:nvSpPr>
              <p:cNvPr id="200023" name="ryrz_encoding" descr="LaTeX: R_Y(\theta_q),\quad R_Z(\theta_{q+6})"/>
              <p:cNvSpPr>
                <a:spLocks noRot="1" noChangeAspect="1" noMove="1" noResize="1" noEditPoints="1" noAdjustHandles="1" noChangeArrowheads="1" noChangeShapeType="1" noTextEdit="1"/>
              </p:cNvSpPr>
              <p:nvPr/>
            </p:nvSpPr>
            <p:spPr>
              <a:xfrm>
                <a:off x="6477000" y="2374900"/>
                <a:ext cx="3733800" cy="431800"/>
              </a:xfrm>
              <a:blipFill>
                <a:blip r:embed="rId6"/>
                <a:stretch>
                  <a:fillRect/>
                </a:stretch>
              </a:blipFill>
            </p:spPr>
            <p:txBody>
              <a:bodyPr/>
              <a:lstStyle/>
              <a:p>
                <a:r>
                  <a:rPr lang="zh-CN" altLang="en-US">
                    <a:noFill/>
                  </a:rPr>
                  <a:t> </a:t>
                </a:r>
              </a:p>
            </p:txBody>
          </p:sp>
        </mc:Fallback>
      </mc:AlternateContent>
      <p:sp>
        <p:nvSpPr>
          <p:cNvPr id="200024" name="q_trainable_rotations"/>
          <p:cNvSpPr txBox="1"/>
          <p:nvPr/>
        </p:nvSpPr>
        <p:spPr>
          <a:xfrm>
            <a:off x="6426200" y="3162300"/>
            <a:ext cx="3835400" cy="5588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endParaRPr lang="en-US" sz="1300" b="0">
              <a:solidFill>
                <a:srgbClr val="000000"/>
              </a:solidFill>
              <a:latin typeface="Times New Roman"/>
              <a:ea typeface="宋体"/>
              <a:cs typeface="Times New Roman"/>
            </a:endParaRPr>
          </a:p>
        </p:txBody>
      </p:sp>
      <mc:AlternateContent xmlns:mc="http://schemas.openxmlformats.org/markup-compatibility/2006">
        <mc:Choice xmlns:a14="http://schemas.microsoft.com/office/drawing/2010/main" Requires="a14">
          <p:sp>
            <p:nvSpPr>
              <p:cNvPr id="200025" name="trainable_rotations" descr="LaTeX: R_Z(\phi_{\ell q})\;R_Y(\vartheta_{\ell q})\;R_Z(\omega_{\ell q})"/>
              <p:cNvSpPr/>
              <p:nvPr/>
            </p:nvSpPr>
            <p:spPr>
              <a:xfrm>
                <a:off x="6477000" y="3225800"/>
                <a:ext cx="3733800" cy="4064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ℓ </m:t>
                              </m:r>
                              <m:r>
                                <a:rPr>
                                  <a:latin typeface="Cambria Math" panose="02040503050406030204" pitchFamily="18" charset="0"/>
                                </a:rPr>
                                <m:t>𝑞</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𝜗</m:t>
                              </m:r>
                            </m:e>
                            <m:sub>
                              <m:r>
                                <a:rPr>
                                  <a:latin typeface="Cambria Math" panose="02040503050406030204" pitchFamily="18" charset="0"/>
                                </a:rPr>
                                <m:t>ℓ </m:t>
                              </m:r>
                              <m:r>
                                <a:rPr>
                                  <a:latin typeface="Cambria Math" panose="02040503050406030204" pitchFamily="18" charset="0"/>
                                </a:rPr>
                                <m:t>𝑞</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ℓ </m:t>
                              </m:r>
                              <m:r>
                                <a:rPr>
                                  <a:latin typeface="Cambria Math" panose="02040503050406030204" pitchFamily="18" charset="0"/>
                                </a:rPr>
                                <m:t>𝑞</m:t>
                              </m:r>
                            </m:sub>
                          </m:sSub>
                          <m:r>
                            <a:rPr>
                              <a:latin typeface="Cambria Math" panose="02040503050406030204" pitchFamily="18" charset="0"/>
                            </a:rPr>
                            <m:t>)</m:t>
                          </m:r>
                        </m:oMath>
                      </m:oMathPara>
                    </a14:m>
                  </mc:Choice>
                  <mc:Fallback xmlns:asvg="http://schemas.microsoft.com/office/drawing/2016/SVG/main" xmlns="">
                    <a:r>
                      <a:rPr lang="en-US" sz="1700"/>
                      <a:t>RZ(ϕℓ q) RY(ϑℓ q) RZ(ωℓ q)</a:t>
                    </a:r>
                  </mc:Fallback>
                </mc:AlternateContent>
                <a:endParaRPr/>
              </a:p>
            </p:txBody>
          </p:sp>
        </mc:Choice>
        <mc:Fallback>
          <p:sp>
            <p:nvSpPr>
              <p:cNvPr id="200025" name="trainable_rotations" descr="LaTeX: R_Z(\phi_{\ell q})\;R_Y(\vartheta_{\ell q})\;R_Z(\omega_{\ell q})"/>
              <p:cNvSpPr>
                <a:spLocks noRot="1" noChangeAspect="1" noMove="1" noResize="1" noEditPoints="1" noAdjustHandles="1" noChangeArrowheads="1" noChangeShapeType="1" noTextEdit="1"/>
              </p:cNvSpPr>
              <p:nvPr/>
            </p:nvSpPr>
            <p:spPr>
              <a:xfrm>
                <a:off x="6477000" y="3225800"/>
                <a:ext cx="3733800" cy="406400"/>
              </a:xfrm>
              <a:blipFill>
                <a:blip r:embed="rId7"/>
                <a:stretch>
                  <a:fillRect/>
                </a:stretch>
              </a:blipFill>
            </p:spPr>
            <p:txBody>
              <a:bodyPr/>
              <a:lstStyle/>
              <a:p>
                <a:r>
                  <a:rPr lang="zh-CN" altLang="en-US">
                    <a:noFill/>
                  </a:rPr>
                  <a:t> </a:t>
                </a:r>
              </a:p>
            </p:txBody>
          </p:sp>
        </mc:Fallback>
      </mc:AlternateContent>
      <p:sp>
        <p:nvSpPr>
          <p:cNvPr id="200026" name="q_ring_cnot"/>
          <p:cNvSpPr txBox="1"/>
          <p:nvPr/>
        </p:nvSpPr>
        <p:spPr>
          <a:xfrm>
            <a:off x="6426200" y="4000500"/>
            <a:ext cx="3835400" cy="4445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环形 CNOT</a:t>
            </a:r>
          </a:p>
        </p:txBody>
      </p:sp>
      <p:sp>
        <p:nvSpPr>
          <p:cNvPr id="200027" name="q_measurement"/>
          <p:cNvSpPr txBox="1"/>
          <p:nvPr/>
        </p:nvSpPr>
        <p:spPr>
          <a:xfrm>
            <a:off x="6426200" y="5168900"/>
            <a:ext cx="3835400" cy="4826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单比特与相邻双比特期望值</a:t>
            </a:r>
          </a:p>
        </p:txBody>
      </p:sp>
      <p:cxnSp>
        <p:nvCxnSpPr>
          <p:cNvPr id="200028" name="Connector 4"/>
          <p:cNvCxnSpPr>
            <a:stCxn id="200021" idx="0"/>
            <a:endCxn id="200022" idx="0"/>
          </p:cNvCxnSpPr>
          <p:nvPr/>
        </p:nvCxnSpPr>
        <p:spPr>
          <a:xfrm>
            <a:off x="8343900" y="2006600"/>
            <a:ext cx="0" cy="317500"/>
          </a:xfrm>
          <a:prstGeom prst="straightConnector1">
            <a:avLst/>
          </a:prstGeom>
          <a:ln w="8890">
            <a:solidFill>
              <a:srgbClr val="000000"/>
            </a:solidFill>
            <a:tailEnd type="triangle"/>
          </a:ln>
        </p:spPr>
      </p:cxnSp>
      <p:cxnSp>
        <p:nvCxnSpPr>
          <p:cNvPr id="200029" name="Connector 5"/>
          <p:cNvCxnSpPr>
            <a:stCxn id="200022" idx="0"/>
            <a:endCxn id="200024" idx="0"/>
          </p:cNvCxnSpPr>
          <p:nvPr/>
        </p:nvCxnSpPr>
        <p:spPr>
          <a:xfrm>
            <a:off x="8343900" y="2882900"/>
            <a:ext cx="0" cy="279400"/>
          </a:xfrm>
          <a:prstGeom prst="straightConnector1">
            <a:avLst/>
          </a:prstGeom>
          <a:ln w="8890">
            <a:solidFill>
              <a:srgbClr val="000000"/>
            </a:solidFill>
            <a:tailEnd type="triangle"/>
          </a:ln>
        </p:spPr>
      </p:cxnSp>
      <p:cxnSp>
        <p:nvCxnSpPr>
          <p:cNvPr id="200030" name="Connector 6"/>
          <p:cNvCxnSpPr>
            <a:stCxn id="200024" idx="0"/>
            <a:endCxn id="200026" idx="0"/>
          </p:cNvCxnSpPr>
          <p:nvPr/>
        </p:nvCxnSpPr>
        <p:spPr>
          <a:xfrm>
            <a:off x="8343900" y="3721100"/>
            <a:ext cx="0" cy="279400"/>
          </a:xfrm>
          <a:prstGeom prst="straightConnector1">
            <a:avLst/>
          </a:prstGeom>
          <a:ln w="8890">
            <a:solidFill>
              <a:srgbClr val="000000"/>
            </a:solidFill>
            <a:tailEnd type="triangle"/>
          </a:ln>
        </p:spPr>
      </p:cxnSp>
      <p:cxnSp>
        <p:nvCxnSpPr>
          <p:cNvPr id="200031" name="Connector 7"/>
          <p:cNvCxnSpPr>
            <a:stCxn id="200026" idx="0"/>
            <a:endCxn id="200027" idx="0"/>
          </p:cNvCxnSpPr>
          <p:nvPr/>
        </p:nvCxnSpPr>
        <p:spPr>
          <a:xfrm>
            <a:off x="8343900" y="4445000"/>
            <a:ext cx="0" cy="723900"/>
          </a:xfrm>
          <a:prstGeom prst="straightConnector1">
            <a:avLst/>
          </a:prstGeom>
          <a:ln w="8890">
            <a:solidFill>
              <a:srgbClr val="000000"/>
            </a:solidFill>
            <a:tailEnd type="triangle"/>
          </a:ln>
        </p:spPr>
      </p:cxnSp>
      <p:cxnSp>
        <p:nvCxnSpPr>
          <p:cNvPr id="200032" name="Connector 8"/>
          <p:cNvCxnSpPr/>
          <p:nvPr/>
        </p:nvCxnSpPr>
        <p:spPr>
          <a:xfrm>
            <a:off x="10261600" y="4222750"/>
            <a:ext cx="635000" cy="0"/>
          </a:xfrm>
          <a:prstGeom prst="straightConnector1">
            <a:avLst/>
          </a:prstGeom>
          <a:ln w="8890">
            <a:solidFill>
              <a:srgbClr val="000000"/>
            </a:solidFill>
            <a:tailEnd type="none"/>
          </a:ln>
        </p:spPr>
      </p:cxnSp>
      <p:cxnSp>
        <p:nvCxnSpPr>
          <p:cNvPr id="200033" name="Connector 9"/>
          <p:cNvCxnSpPr/>
          <p:nvPr/>
        </p:nvCxnSpPr>
        <p:spPr>
          <a:xfrm>
            <a:off x="10896600" y="2603500"/>
            <a:ext cx="0" cy="1619250"/>
          </a:xfrm>
          <a:prstGeom prst="straightConnector1">
            <a:avLst/>
          </a:prstGeom>
          <a:ln w="8890">
            <a:solidFill>
              <a:srgbClr val="000000"/>
            </a:solidFill>
            <a:tailEnd type="none"/>
          </a:ln>
        </p:spPr>
      </p:cxnSp>
      <p:cxnSp>
        <p:nvCxnSpPr>
          <p:cNvPr id="200034" name="Connector 10"/>
          <p:cNvCxnSpPr/>
          <p:nvPr/>
        </p:nvCxnSpPr>
        <p:spPr>
          <a:xfrm>
            <a:off x="10261600" y="2603500"/>
            <a:ext cx="635000" cy="0"/>
          </a:xfrm>
          <a:prstGeom prst="straightConnector1">
            <a:avLst/>
          </a:prstGeom>
          <a:ln w="8890">
            <a:solidFill>
              <a:srgbClr val="000000"/>
            </a:solidFill>
            <a:headEnd type="triangle"/>
            <a:tailEnd type="none"/>
          </a:ln>
        </p:spPr>
      </p:cxnSp>
      <p:sp>
        <p:nvSpPr>
          <p:cNvPr id="200035" name="q_reupload_label"/>
          <p:cNvSpPr txBox="1"/>
          <p:nvPr/>
        </p:nvSpPr>
        <p:spPr>
          <a:xfrm>
            <a:off x="10972800" y="3098800"/>
            <a:ext cx="533400" cy="571500"/>
          </a:xfrm>
          <a:prstGeom prst="rect">
            <a:avLst/>
          </a:prstGeom>
          <a:noFill/>
          <a:ln>
            <a:noFill/>
          </a:ln>
        </p:spPr>
        <p:txBody>
          <a:bodyPr lIns="0" tIns="0" rIns="0" bIns="0" anchor="t"/>
          <a:lstStyle/>
          <a:p>
            <a:pPr algn="l">
              <a:lnSpc>
                <a:spcPts val="1680"/>
              </a:lnSpc>
              <a:spcBef>
                <a:spcPts val="0"/>
              </a:spcBef>
              <a:spcAft>
                <a:spcPts val="0"/>
              </a:spcAft>
            </a:pPr>
            <a:r>
              <a:rPr lang="en-US" sz="1200" b="0">
                <a:solidFill>
                  <a:srgbClr val="000000"/>
                </a:solidFill>
                <a:latin typeface="Times New Roman"/>
                <a:ea typeface="宋体"/>
                <a:cs typeface="Times New Roman"/>
              </a:rPr>
              <a:t>重复</a:t>
            </a:r>
          </a:p>
          <a:p>
            <a:pPr algn="l">
              <a:lnSpc>
                <a:spcPts val="1680"/>
              </a:lnSpc>
              <a:spcBef>
                <a:spcPts val="0"/>
              </a:spcBef>
              <a:spcAft>
                <a:spcPts val="0"/>
              </a:spcAft>
            </a:pPr>
            <a:r>
              <a:rPr lang="en-US" sz="1200" b="0">
                <a:solidFill>
                  <a:srgbClr val="000000"/>
                </a:solidFill>
                <a:latin typeface="Times New Roman"/>
                <a:ea typeface="宋体"/>
                <a:cs typeface="Times New Roman"/>
              </a:rPr>
              <a:t>3层</a:t>
            </a:r>
          </a:p>
        </p:txBody>
      </p:sp>
      <p:sp>
        <p:nvSpPr>
          <p:cNvPr id="200036" name="six_qubits_label"/>
          <p:cNvSpPr txBox="1"/>
          <p:nvPr/>
        </p:nvSpPr>
        <p:spPr>
          <a:xfrm>
            <a:off x="6013450" y="4648200"/>
            <a:ext cx="5245100" cy="304800"/>
          </a:xfrm>
          <a:prstGeom prst="rect">
            <a:avLst/>
          </a:prstGeom>
          <a:noFill/>
          <a:ln>
            <a:noFill/>
          </a:ln>
        </p:spPr>
        <p:txBody>
          <a:bodyPr lIns="0" tIns="0" rIns="0" bIns="0" anchor="t"/>
          <a:lstStyle/>
          <a:p>
            <a:pPr algn="l">
              <a:lnSpc>
                <a:spcPts val="1680"/>
              </a:lnSpc>
              <a:spcBef>
                <a:spcPts val="0"/>
              </a:spcBef>
              <a:spcAft>
                <a:spcPts val="0"/>
              </a:spcAft>
            </a:pPr>
            <a:r>
              <a:rPr lang="en-US" sz="1200" b="0">
                <a:solidFill>
                  <a:srgbClr val="000000"/>
                </a:solidFill>
                <a:latin typeface="Times New Roman"/>
                <a:ea typeface="宋体"/>
                <a:cs typeface="Times New Roman"/>
              </a:rPr>
              <a:t>6个量子比特，每比特编码两个关系分量</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候选策略评价与组状态信用">
    <p:bg>
      <p:bgPr>
        <a:solidFill>
          <a:srgbClr val="FFFFFF"/>
        </a:solidFill>
        <a:effectLst/>
      </p:bgPr>
    </p:bg>
    <p:spTree>
      <p:nvGrpSpPr>
        <p:cNvPr id="1" name=""/>
        <p:cNvGrpSpPr/>
        <p:nvPr/>
      </p:nvGrpSpPr>
      <p:grpSpPr>
        <a:xfrm>
          <a:off x="0" y="0"/>
          <a:ext cx="0" cy="0"/>
          <a:chOff x="0" y="0"/>
          <a:chExt cx="0" cy="0"/>
        </a:xfrm>
      </p:grpSpPr>
      <p:pic>
        <p:nvPicPr>
          <p:cNvPr id="100136"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37"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QGNN：测量读出与消息传播</a:t>
            </a:r>
          </a:p>
        </p:txBody>
      </p:sp>
      <p:cxnSp>
        <p:nvCxnSpPr>
          <p:cNvPr id="100138" name="header_rule"/>
          <p:cNvCxnSpPr/>
          <p:nvPr/>
        </p:nvCxnSpPr>
        <p:spPr>
          <a:xfrm>
            <a:off x="546100" y="711200"/>
            <a:ext cx="8318500" cy="0"/>
          </a:xfrm>
          <a:prstGeom prst="straightConnector1">
            <a:avLst/>
          </a:prstGeom>
          <a:ln w="6985">
            <a:solidFill>
              <a:srgbClr val="A0A0A0"/>
            </a:solidFill>
          </a:ln>
        </p:spPr>
      </p:cxnSp>
      <p:sp>
        <p:nvSpPr>
          <p:cNvPr id="100139" name="fitness_heading"/>
          <p:cNvSpPr/>
          <p:nvPr/>
        </p:nvSpPr>
        <p:spPr>
          <a:xfrm>
            <a:off x="546100" y="1054100"/>
            <a:ext cx="110744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量子测量与关系读出</a:t>
            </a:r>
          </a:p>
        </p:txBody>
      </p:sp>
      <p:sp>
        <p:nvSpPr>
          <p:cNvPr id="100141" name="fitness_explanation"/>
          <p:cNvSpPr/>
          <p:nvPr/>
        </p:nvSpPr>
        <p:spPr>
          <a:xfrm>
            <a:off x="546100" y="2286000"/>
            <a:ext cx="11074400" cy="5842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单比特与相邻双比特期望值组成12维向量，经层归一化后生成每个注意力头的权重。</a:t>
            </a:r>
          </a:p>
          <a:p>
            <a:pPr algn="l">
              <a:lnSpc>
                <a:spcPts val="2000"/>
              </a:lnSpc>
              <a:spcBef>
                <a:spcPts val="0"/>
              </a:spcBef>
              <a:spcAft>
                <a:spcPts val="0"/>
              </a:spcAft>
            </a:pPr>
            <a:r>
              <a:rPr lang="en-US" sz="1300" b="0">
                <a:solidFill>
                  <a:srgbClr val="000000"/>
                </a:solidFill>
                <a:latin typeface="Times New Roman"/>
                <a:ea typeface="宋体"/>
                <a:cs typeface="Times New Roman"/>
              </a:rPr>
              <a:t>量子读出控制信息的分配与强度，经典分支提供消息内容。</a:t>
            </a:r>
          </a:p>
        </p:txBody>
      </p:sp>
      <p:cxnSp>
        <p:nvCxnSpPr>
          <p:cNvPr id="100142" name="body_rule"/>
          <p:cNvCxnSpPr/>
          <p:nvPr/>
        </p:nvCxnSpPr>
        <p:spPr>
          <a:xfrm>
            <a:off x="546100" y="3022600"/>
            <a:ext cx="11074400" cy="0"/>
          </a:xfrm>
          <a:prstGeom prst="straightConnector1">
            <a:avLst/>
          </a:prstGeom>
          <a:ln w="6350">
            <a:solidFill>
              <a:srgbClr val="B5B5B5"/>
            </a:solidFill>
          </a:ln>
        </p:spPr>
      </p:cxnSp>
      <p:sp>
        <p:nvSpPr>
          <p:cNvPr id="100143" name="archive_heading"/>
          <p:cNvSpPr/>
          <p:nvPr/>
        </p:nvSpPr>
        <p:spPr>
          <a:xfrm>
            <a:off x="546100" y="3263900"/>
            <a:ext cx="64135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注意力、门控与消息内容</a:t>
            </a:r>
          </a:p>
        </p:txBody>
      </p:sp>
      <p:sp>
        <p:nvSpPr>
          <p:cNvPr id="100145" name="example_heading"/>
          <p:cNvSpPr/>
          <p:nvPr/>
        </p:nvSpPr>
        <p:spPr>
          <a:xfrm>
            <a:off x="546100" y="4318000"/>
            <a:ext cx="6350000" cy="2921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1">
                <a:solidFill>
                  <a:srgbClr val="000000"/>
                </a:solidFill>
                <a:latin typeface="Times New Roman"/>
                <a:ea typeface="宋体"/>
                <a:cs typeface="Times New Roman"/>
              </a:rPr>
              <a:t>按单个注意力头表示</a:t>
            </a:r>
          </a:p>
        </p:txBody>
      </p:sp>
      <p:graphicFrame>
        <p:nvGraphicFramePr>
          <p:cNvPr id="100146" name="credit_example_table"/>
          <p:cNvGraphicFramePr/>
          <p:nvPr/>
        </p:nvGraphicFramePr>
        <p:xfrm>
          <a:off x="546100" y="4699000"/>
          <a:ext cx="6477000" cy="1441196"/>
        </p:xfrm>
        <a:graphic>
          <a:graphicData uri="http://schemas.openxmlformats.org/drawingml/2006/table">
            <a:tbl>
              <a:tblPr bandRow="1">
                <a:tableStyleId>{2D5ABB26-0587-4C30-8999-92F81FD0307C}</a:tableStyleId>
              </a:tblPr>
              <a:tblGrid>
                <a:gridCol w="1333500">
                  <a:extLst>
                    <a:ext uri="{9D8B030D-6E8A-4147-A177-3AD203B41FA5}">
                      <a16:colId xmlns:a16="http://schemas.microsoft.com/office/drawing/2014/main" val="20000"/>
                    </a:ext>
                  </a:extLst>
                </a:gridCol>
                <a:gridCol w="3683000">
                  <a:extLst>
                    <a:ext uri="{9D8B030D-6E8A-4147-A177-3AD203B41FA5}">
                      <a16:colId xmlns:a16="http://schemas.microsoft.com/office/drawing/2014/main" val="20001"/>
                    </a:ext>
                  </a:extLst>
                </a:gridCol>
                <a:gridCol w="1460500">
                  <a:extLst>
                    <a:ext uri="{9D8B030D-6E8A-4147-A177-3AD203B41FA5}">
                      <a16:colId xmlns:a16="http://schemas.microsoft.com/office/drawing/2014/main" val="20002"/>
                    </a:ext>
                  </a:extLst>
                </a:gridCol>
              </a:tblGrid>
              <a:tr h="419100">
                <a:tc>
                  <a:txBody>
                    <a:bodyPr/>
                    <a:lstStyle/>
                    <a:p>
                      <a:pPr algn="ctr">
                        <a:lnSpc>
                          <a:spcPts val="1700"/>
                        </a:lnSpc>
                        <a:spcBef>
                          <a:spcPts val="0"/>
                        </a:spcBef>
                        <a:spcAft>
                          <a:spcPts val="0"/>
                        </a:spcAft>
                      </a:pPr>
                      <a:r>
                        <a:rPr lang="en-US" sz="1300" b="0">
                          <a:solidFill>
                            <a:srgbClr val="000000"/>
                          </a:solidFill>
                          <a:latin typeface="Times New Roman"/>
                          <a:ea typeface="宋体"/>
                        </a:rPr>
                        <a:t>组成部分</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4F4F4"/>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计算来源</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4F4F4"/>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作用</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4F4F4"/>
                    </a:solidFill>
                  </a:tcPr>
                </a:tc>
                <a:extLst>
                  <a:ext uri="{0D108BD9-81ED-4DB2-BD59-A6C34878D82A}">
                    <a16:rowId xmlns:a16="http://schemas.microsoft.com/office/drawing/2014/main" val="10000"/>
                  </a:ext>
                </a:extLst>
              </a:tr>
              <a:tr h="511937">
                <a:tc>
                  <a:txBody>
                    <a:bodyPr/>
                    <a:lstStyle/>
                    <a:p>
                      <a:pPr algn="ctr">
                        <a:lnSpc>
                          <a:spcPts val="1700"/>
                        </a:lnSpc>
                        <a:spcBef>
                          <a:spcPts val="0"/>
                        </a:spcBef>
                        <a:spcAft>
                          <a:spcPts val="0"/>
                        </a:spcAft>
                      </a:pPr>
                      <a:r>
                        <a:rPr lang="en-US" sz="1300" b="0">
                          <a:solidFill>
                            <a:srgbClr val="000000"/>
                          </a:solidFill>
                          <a:latin typeface="Times New Roman"/>
                          <a:ea typeface="宋体"/>
                        </a:rPr>
                        <a:t>注意力与门控</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量子读出＋线性层</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a:solidFill>
                            <a:srgbClr val="000000"/>
                          </a:solidFill>
                          <a:latin typeface="Times New Roman"/>
                          <a:ea typeface="宋体"/>
                        </a:rPr>
                        <a:t>控制权重和强度</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extLst>
                  <a:ext uri="{0D108BD9-81ED-4DB2-BD59-A6C34878D82A}">
                    <a16:rowId xmlns:a16="http://schemas.microsoft.com/office/drawing/2014/main" val="10001"/>
                  </a:ext>
                </a:extLst>
              </a:tr>
              <a:tr h="510159">
                <a:tc>
                  <a:txBody>
                    <a:bodyPr/>
                    <a:lstStyle/>
                    <a:p>
                      <a:pPr algn="ctr">
                        <a:lnSpc>
                          <a:spcPts val="1700"/>
                        </a:lnSpc>
                        <a:spcBef>
                          <a:spcPts val="0"/>
                        </a:spcBef>
                        <a:spcAft>
                          <a:spcPts val="0"/>
                        </a:spcAft>
                      </a:pPr>
                      <a:r>
                        <a:rPr lang="en-US" sz="1300" b="0">
                          <a:solidFill>
                            <a:srgbClr val="000000"/>
                          </a:solidFill>
                          <a:latin typeface="Times New Roman"/>
                          <a:ea typeface="宋体"/>
                        </a:rPr>
                        <a:t>经典消息内容</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邻车特征＋物理边</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a:solidFill>
                            <a:srgbClr val="000000"/>
                          </a:solidFill>
                          <a:latin typeface="Times New Roman"/>
                          <a:ea typeface="宋体"/>
                        </a:rPr>
                        <a:t>携带邻车与关系信息</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extLst>
                  <a:ext uri="{0D108BD9-81ED-4DB2-BD59-A6C34878D82A}">
                    <a16:rowId xmlns:a16="http://schemas.microsoft.com/office/drawing/2014/main" val="10002"/>
                  </a:ext>
                </a:extLst>
              </a:tr>
            </a:tbl>
          </a:graphicData>
        </a:graphic>
      </p:graphicFrame>
      <p:cxnSp>
        <p:nvCxnSpPr>
          <p:cNvPr id="100147" name="column_rule"/>
          <p:cNvCxnSpPr/>
          <p:nvPr/>
        </p:nvCxnSpPr>
        <p:spPr>
          <a:xfrm>
            <a:off x="7340600" y="3263900"/>
            <a:ext cx="0" cy="2857500"/>
          </a:xfrm>
          <a:prstGeom prst="straightConnector1">
            <a:avLst/>
          </a:prstGeom>
          <a:ln w="6350">
            <a:solidFill>
              <a:srgbClr val="B5B5B5"/>
            </a:solidFill>
          </a:ln>
        </p:spPr>
      </p:cxnSp>
      <p:sp>
        <p:nvSpPr>
          <p:cNvPr id="100148" name="credit_heading"/>
          <p:cNvSpPr/>
          <p:nvPr/>
        </p:nvSpPr>
        <p:spPr>
          <a:xfrm>
            <a:off x="7645400" y="3263900"/>
            <a:ext cx="39751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聚合与节点更新</a:t>
            </a:r>
          </a:p>
        </p:txBody>
      </p:sp>
      <p:sp>
        <p:nvSpPr>
          <p:cNvPr id="100151" name="credit_explanation"/>
          <p:cNvSpPr/>
          <p:nvPr/>
        </p:nvSpPr>
        <p:spPr>
          <a:xfrm>
            <a:off x="7645400" y="5041900"/>
            <a:ext cx="3975100" cy="571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残差更新后接前馈网络和归一化。</a:t>
            </a:r>
          </a:p>
          <a:p>
            <a:pPr algn="l">
              <a:lnSpc>
                <a:spcPts val="2000"/>
              </a:lnSpc>
              <a:spcBef>
                <a:spcPts val="0"/>
              </a:spcBef>
              <a:spcAft>
                <a:spcPts val="0"/>
              </a:spcAft>
            </a:pPr>
            <a:r>
              <a:rPr lang="en-US" sz="1300" b="0">
                <a:solidFill>
                  <a:srgbClr val="000000"/>
                </a:solidFill>
                <a:latin typeface="Times New Roman"/>
                <a:ea typeface="宋体"/>
                <a:cs typeface="Times New Roman"/>
              </a:rPr>
              <a:t>第二层继续更新第一层输出的节点特征。</a:t>
            </a:r>
          </a:p>
        </p:txBody>
      </p:sp>
      <p:cxnSp>
        <p:nvCxnSpPr>
          <p:cNvPr id="100152" name="footer_rule"/>
          <p:cNvCxnSpPr/>
          <p:nvPr/>
        </p:nvCxnSpPr>
        <p:spPr>
          <a:xfrm>
            <a:off x="546100" y="6311900"/>
            <a:ext cx="11074400" cy="0"/>
          </a:xfrm>
          <a:prstGeom prst="straightConnector1">
            <a:avLst/>
          </a:prstGeom>
          <a:ln w="6350">
            <a:solidFill>
              <a:srgbClr val="B5B5B5"/>
            </a:solidFill>
          </a:ln>
        </p:spPr>
      </p:cxnSp>
      <p:sp>
        <p:nvSpPr>
          <p:cNvPr id="100153" name="rotation_link"/>
          <p:cNvSpPr/>
          <p:nvPr/>
        </p:nvSpPr>
        <p:spPr>
          <a:xfrm>
            <a:off x="546100" y="6464300"/>
            <a:ext cx="11074400" cy="3048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两层均包含量子关系分支；每层4个注意力头，图输出接入公共时间预测器。</a:t>
            </a:r>
          </a:p>
        </p:txBody>
      </p:sp>
      <mc:AlternateContent xmlns:mc="http://schemas.openxmlformats.org/markup-compatibility/2006">
        <mc:Choice xmlns:a14="http://schemas.microsoft.com/office/drawing/2010/main" Requires="a14">
          <p:sp>
            <p:nvSpPr>
              <p:cNvPr id="200037" name="quantum_readout" descr="LaTeX: \mathbf{z}_{ij}=[\langle Z_0\rangle,\ldots,\langle Z_5\rangle,\langle Z_0Z_1\rangle,\ldots,\langle Z_5Z_0\rangle]^{\mathsf T}"/>
              <p:cNvSpPr/>
              <p:nvPr/>
            </p:nvSpPr>
            <p:spPr>
              <a:xfrm>
                <a:off x="1206500" y="1409700"/>
                <a:ext cx="9753600" cy="622300"/>
              </a:xfrm>
            </p:spPr>
            <p:txBody>
              <a:bodyPr lIns="0" tIns="0" rIns="0" bIns="0" anchor="ctr"/>
              <a:lstStyle/>
              <a:p>
                <a:pPr algn="ctr">
                  <a:defRPr lang="en-US" sz="19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𝐳</m:t>
                              </m:r>
                            </m:e>
                            <m:sub>
                              <m:r>
                                <a:rPr>
                                  <a:latin typeface="Cambria Math" panose="02040503050406030204" pitchFamily="18" charset="0"/>
                                </a:rPr>
                                <m:t>𝑖𝑗</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𝑍</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𝑍</m:t>
                              </m:r>
                            </m:e>
                            <m:sub>
                              <m:r>
                                <a:rPr>
                                  <a:latin typeface="Cambria Math" panose="02040503050406030204" pitchFamily="18" charset="0"/>
                                </a:rPr>
                                <m:t>5</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𝑍</m:t>
                              </m:r>
                            </m:e>
                            <m:sub>
                              <m:r>
                                <a:rPr>
                                  <a:latin typeface="Cambria Math" panose="02040503050406030204" pitchFamily="18" charset="0"/>
                                </a:rPr>
                                <m:t>0</m:t>
                              </m:r>
                            </m:sub>
                          </m:sSub>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𝑍</m:t>
                              </m:r>
                            </m:e>
                            <m:sub>
                              <m:r>
                                <a:rPr>
                                  <a:latin typeface="Cambria Math" panose="02040503050406030204" pitchFamily="18" charset="0"/>
                                </a:rPr>
                                <m:t>5</m:t>
                              </m:r>
                            </m:sub>
                          </m:sSub>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0</m:t>
                              </m:r>
                            </m:sub>
                          </m:sSub>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𝖳</m:t>
                              </m:r>
                            </m:sup>
                          </m:sSup>
                        </m:oMath>
                      </m:oMathPara>
                    </a14:m>
                  </mc:Choice>
                  <mc:Fallback xmlns:a16="http://schemas.microsoft.com/office/drawing/2014/main" xmlns:asvg="http://schemas.microsoft.com/office/drawing/2016/SVG/main" xmlns="">
                    <a:r>
                      <a:rPr lang="en-US" sz="1900"/>
                      <a:t>zᵢj=[⟨ Z₀⟩,…,⟨ Z₅⟩,⟨ Z₀Z₁⟩,…,⟨ Z₅Z₀⟩]T</a:t>
                    </a:r>
                  </mc:Fallback>
                </mc:AlternateContent>
                <a:endParaRPr/>
              </a:p>
            </p:txBody>
          </p:sp>
        </mc:Choice>
        <mc:Fallback>
          <p:sp>
            <p:nvSpPr>
              <p:cNvPr id="200037" name="quantum_readout" descr="LaTeX: \mathbf{z}_{ij}=[\langle Z_0\rangle,\ldots,\langle Z_5\rangle,\langle Z_0Z_1\rangle,\ldots,\langle Z_5Z_0\rangle]^{\mathsf T}"/>
              <p:cNvSpPr>
                <a:spLocks noRot="1" noChangeAspect="1" noMove="1" noResize="1" noEditPoints="1" noAdjustHandles="1" noChangeArrowheads="1" noChangeShapeType="1" noTextEdit="1"/>
              </p:cNvSpPr>
              <p:nvPr/>
            </p:nvSpPr>
            <p:spPr>
              <a:xfrm>
                <a:off x="1206500" y="1409700"/>
                <a:ext cx="9753600" cy="622300"/>
              </a:xfr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0038" name="attention_gate" descr="LaTeX: \alpha_{ij}=\mathrm{softmax}_j(\mathbf{w}_a^{\mathsf T}\bar{\mathbf z}_{ij}),\quad g_{ij}=2\sigma(\mathbf{w}_g^{\mathsf T}\bar{\mathbf z}_{ij})"/>
              <p:cNvSpPr/>
              <p:nvPr/>
            </p:nvSpPr>
            <p:spPr>
              <a:xfrm>
                <a:off x="546100" y="3632200"/>
                <a:ext cx="6477000" cy="5588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𝑖𝑗</m:t>
                              </m:r>
                            </m:sub>
                          </m:sSub>
                          <m:r>
                            <a:rPr>
                              <a:latin typeface="Cambria Math" panose="02040503050406030204" pitchFamily="18" charset="0"/>
                            </a:rPr>
                            <m:t>=</m:t>
                          </m:r>
                          <m:sSub>
                            <m:sSubPr>
                              <m:ctrlPr>
                                <a:rPr i="1">
                                  <a:latin typeface="Cambria Math" panose="02040503050406030204" pitchFamily="18" charset="0"/>
                                </a:rPr>
                              </m:ctrlPr>
                            </m:sSubPr>
                            <m:e>
                              <m:r>
                                <m:rPr>
                                  <m:sty m:val="p"/>
                                </m:rPr>
                                <a:rPr>
                                  <a:latin typeface="Cambria Math" panose="02040503050406030204" pitchFamily="18" charset="0"/>
                                </a:rPr>
                                <m:t>softmax</m:t>
                              </m:r>
                            </m:e>
                            <m:sub>
                              <m:r>
                                <a:rPr>
                                  <a:latin typeface="Cambria Math" panose="02040503050406030204" pitchFamily="18" charset="0"/>
                                </a:rPr>
                                <m:t>𝑗</m:t>
                              </m:r>
                            </m:sub>
                          </m:sSub>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𝐰</m:t>
                              </m:r>
                            </m:e>
                            <m:sub>
                              <m:r>
                                <a:rPr>
                                  <a:latin typeface="Cambria Math" panose="02040503050406030204" pitchFamily="18" charset="0"/>
                                </a:rPr>
                                <m:t>𝑎</m:t>
                              </m:r>
                            </m:sub>
                            <m:sup>
                              <m:r>
                                <a:rPr>
                                  <a:latin typeface="Cambria Math" panose="02040503050406030204" pitchFamily="18" charset="0"/>
                                </a:rPr>
                                <m:t>𝖳</m:t>
                              </m:r>
                            </m:sup>
                          </m:sSubSup>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𝐳</m:t>
                                  </m:r>
                                </m:e>
                              </m:acc>
                            </m:e>
                            <m:sub>
                              <m:r>
                                <a:rPr>
                                  <a:latin typeface="Cambria Math" panose="02040503050406030204" pitchFamily="18" charset="0"/>
                                </a:rPr>
                                <m:t>𝑖𝑗</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𝑔</m:t>
                              </m:r>
                            </m:e>
                            <m:sub>
                              <m:r>
                                <a:rPr>
                                  <a:latin typeface="Cambria Math" panose="02040503050406030204" pitchFamily="18" charset="0"/>
                                </a:rPr>
                                <m:t>𝑖𝑗</m:t>
                              </m:r>
                            </m:sub>
                          </m:sSub>
                          <m:r>
                            <a:rPr>
                              <a:latin typeface="Cambria Math" panose="02040503050406030204" pitchFamily="18" charset="0"/>
                            </a:rPr>
                            <m:t>=2</m:t>
                          </m:r>
                          <m:r>
                            <a:rPr>
                              <a:latin typeface="Cambria Math" panose="02040503050406030204" pitchFamily="18" charset="0"/>
                            </a:rPr>
                            <m:t>𝜎</m:t>
                          </m:r>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𝐰</m:t>
                              </m:r>
                            </m:e>
                            <m:sub>
                              <m:r>
                                <a:rPr>
                                  <a:latin typeface="Cambria Math" panose="02040503050406030204" pitchFamily="18" charset="0"/>
                                </a:rPr>
                                <m:t>𝑔</m:t>
                              </m:r>
                            </m:sub>
                            <m:sup>
                              <m:r>
                                <a:rPr>
                                  <a:latin typeface="Cambria Math" panose="02040503050406030204" pitchFamily="18" charset="0"/>
                                </a:rPr>
                                <m:t>𝖳</m:t>
                              </m:r>
                            </m:sup>
                          </m:sSubSup>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𝐳</m:t>
                                  </m:r>
                                </m:e>
                              </m:acc>
                            </m:e>
                            <m:sub>
                              <m:r>
                                <a:rPr>
                                  <a:latin typeface="Cambria Math" panose="02040503050406030204" pitchFamily="18" charset="0"/>
                                </a:rPr>
                                <m:t>𝑖𝑗</m:t>
                              </m:r>
                            </m:sub>
                          </m:sSub>
                          <m:r>
                            <a:rPr>
                              <a:latin typeface="Cambria Math" panose="02040503050406030204" pitchFamily="18" charset="0"/>
                            </a:rPr>
                            <m:t>)</m:t>
                          </m:r>
                        </m:oMath>
                      </m:oMathPara>
                    </a14:m>
                  </mc:Choice>
                  <mc:Fallback xmlns:a16="http://schemas.microsoft.com/office/drawing/2014/main" xmlns:asvg="http://schemas.microsoft.com/office/drawing/2016/SVG/main" xmlns="">
                    <a:r>
                      <a:rPr lang="en-US" sz="1700"/>
                      <a:t>αᵢj=softmaxj(wₐTz̄ᵢj),  gᵢj=2σ(wgTz̄ᵢj)</a:t>
                    </a:r>
                  </mc:Fallback>
                </mc:AlternateContent>
                <a:endParaRPr/>
              </a:p>
            </p:txBody>
          </p:sp>
        </mc:Choice>
        <mc:Fallback>
          <p:sp>
            <p:nvSpPr>
              <p:cNvPr id="200038" name="attention_gate" descr="LaTeX: \alpha_{ij}=\mathrm{softmax}_j(\mathbf{w}_a^{\mathsf T}\bar{\mathbf z}_{ij}),\quad g_{ij}=2\sigma(\mathbf{w}_g^{\mathsf T}\bar{\mathbf z}_{ij})"/>
              <p:cNvSpPr>
                <a:spLocks noRot="1" noChangeAspect="1" noMove="1" noResize="1" noEditPoints="1" noAdjustHandles="1" noChangeArrowheads="1" noChangeShapeType="1" noTextEdit="1"/>
              </p:cNvSpPr>
              <p:nvPr/>
            </p:nvSpPr>
            <p:spPr>
              <a:xfrm>
                <a:off x="546100" y="3632200"/>
                <a:ext cx="6477000" cy="558800"/>
              </a:xfr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0039" name="message_aggregate" descr="LaTeX: \mathbf m_i=\sum_{j\in\mathcal N(i)}\alpha_{ij}g_{ij}\mathbf v_{ij}"/>
              <p:cNvSpPr/>
              <p:nvPr/>
            </p:nvSpPr>
            <p:spPr>
              <a:xfrm>
                <a:off x="7645400" y="3708400"/>
                <a:ext cx="3975100" cy="571500"/>
              </a:xfrm>
            </p:spPr>
            <p:txBody>
              <a:bodyPr lIns="0" tIns="0" rIns="0" bIns="0" anchor="ctr"/>
              <a:lstStyle/>
              <a:p>
                <a:pPr algn="ctr">
                  <a:defRPr lang="en-US" sz="19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𝐦</m:t>
                              </m:r>
                            </m:e>
                            <m:sub>
                              <m:r>
                                <a:rPr>
                                  <a:latin typeface="Cambria Math" panose="02040503050406030204" pitchFamily="18" charset="0"/>
                                </a:rPr>
                                <m:t>𝑖</m:t>
                              </m:r>
                            </m:sub>
                          </m:sSub>
                          <m:r>
                            <a:rPr>
                              <a:latin typeface="Cambria Math" panose="02040503050406030204" pitchFamily="18" charset="0"/>
                            </a:rPr>
                            <m:t>=</m:t>
                          </m:r>
                          <m:nary>
                            <m:naryPr>
                              <m:chr m:val="∑"/>
                              <m:ctrlPr>
                                <a:rPr i="1">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m:t>
                              </m:r>
                              <m:r>
                                <a:rPr>
                                  <a:latin typeface="Cambria Math" panose="02040503050406030204" pitchFamily="18" charset="0"/>
                                </a:rPr>
                                <m:t>𝒩</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sub>
                            <m:sup/>
                            <m:e>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𝑖𝑗</m:t>
                                  </m:r>
                                </m:sub>
                              </m:sSub>
                            </m:e>
                          </m:nary>
                          <m:sSub>
                            <m:sSubPr>
                              <m:ctrlPr>
                                <a:rPr i="1">
                                  <a:latin typeface="Cambria Math" panose="02040503050406030204" pitchFamily="18" charset="0"/>
                                </a:rPr>
                              </m:ctrlPr>
                            </m:sSubPr>
                            <m:e>
                              <m:r>
                                <a:rPr>
                                  <a:latin typeface="Cambria Math" panose="02040503050406030204" pitchFamily="18" charset="0"/>
                                </a:rPr>
                                <m:t>𝑔</m:t>
                              </m:r>
                            </m:e>
                            <m:sub>
                              <m:r>
                                <a:rPr>
                                  <a:latin typeface="Cambria Math" panose="02040503050406030204" pitchFamily="18" charset="0"/>
                                </a:rPr>
                                <m:t>𝑖𝑗</m:t>
                              </m:r>
                            </m:sub>
                          </m:sSub>
                          <m:sSub>
                            <m:sSubPr>
                              <m:ctrlPr>
                                <a:rPr i="1">
                                  <a:latin typeface="Cambria Math" panose="02040503050406030204" pitchFamily="18" charset="0"/>
                                </a:rPr>
                              </m:ctrlPr>
                            </m:sSubPr>
                            <m:e>
                              <m:r>
                                <a:rPr>
                                  <a:latin typeface="Cambria Math" panose="02040503050406030204" pitchFamily="18" charset="0"/>
                                </a:rPr>
                                <m:t>𝐯</m:t>
                              </m:r>
                            </m:e>
                            <m:sub>
                              <m:r>
                                <a:rPr>
                                  <a:latin typeface="Cambria Math" panose="02040503050406030204" pitchFamily="18" charset="0"/>
                                </a:rPr>
                                <m:t>𝑖𝑗</m:t>
                              </m:r>
                            </m:sub>
                          </m:sSub>
                        </m:oMath>
                      </m:oMathPara>
                    </a14:m>
                  </mc:Choice>
                  <mc:Fallback xmlns:a16="http://schemas.microsoft.com/office/drawing/2014/main" xmlns:asvg="http://schemas.microsoft.com/office/drawing/2016/SVG/main" xmlns="">
                    <a:r>
                      <a:rPr lang="en-US" sz="1900"/>
                      <a:t>mᵢ=∑j∈N₍ᵢ₎ αᵢjgᵢjvᵢj</a:t>
                    </a:r>
                  </mc:Fallback>
                </mc:AlternateContent>
                <a:endParaRPr/>
              </a:p>
            </p:txBody>
          </p:sp>
        </mc:Choice>
        <mc:Fallback>
          <p:sp>
            <p:nvSpPr>
              <p:cNvPr id="200039" name="message_aggregate" descr="LaTeX: \mathbf m_i=\sum_{j\in\mathcal N(i)}\alpha_{ij}g_{ij}\mathbf v_{ij}"/>
              <p:cNvSpPr>
                <a:spLocks noRot="1" noChangeAspect="1" noMove="1" noResize="1" noEditPoints="1" noAdjustHandles="1" noChangeArrowheads="1" noChangeShapeType="1" noTextEdit="1"/>
              </p:cNvSpPr>
              <p:nvPr/>
            </p:nvSpPr>
            <p:spPr>
              <a:xfrm>
                <a:off x="7645400" y="3708400"/>
                <a:ext cx="3975100" cy="571500"/>
              </a:xfrm>
              <a:blipFill>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0040" name="residual_update" descr="LaTeX: \tilde{\mathbf h}_i=\mathrm{LN}(\mathbf h_i+\beta\mathbf m_i)"/>
              <p:cNvSpPr/>
              <p:nvPr/>
            </p:nvSpPr>
            <p:spPr>
              <a:xfrm>
                <a:off x="7645400" y="4381500"/>
                <a:ext cx="3975100" cy="4826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𝐡</m:t>
                                  </m:r>
                                </m:e>
                              </m:acc>
                            </m:e>
                            <m:sub>
                              <m:r>
                                <a:rPr>
                                  <a:latin typeface="Cambria Math" panose="02040503050406030204" pitchFamily="18" charset="0"/>
                                </a:rPr>
                                <m:t>𝑖</m:t>
                              </m:r>
                            </m:sub>
                          </m:sSub>
                          <m:r>
                            <a:rPr>
                              <a:latin typeface="Cambria Math" panose="02040503050406030204" pitchFamily="18" charset="0"/>
                            </a:rPr>
                            <m:t>=</m:t>
                          </m:r>
                          <m:r>
                            <m:rPr>
                              <m:sty m:val="p"/>
                            </m:rPr>
                            <a:rPr>
                              <a:latin typeface="Cambria Math" panose="02040503050406030204" pitchFamily="18" charset="0"/>
                            </a:rPr>
                            <m:t>LN</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𝐡</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𝛽</m:t>
                          </m:r>
                          <m:sSub>
                            <m:sSubPr>
                              <m:ctrlPr>
                                <a:rPr i="1">
                                  <a:latin typeface="Cambria Math" panose="02040503050406030204" pitchFamily="18" charset="0"/>
                                </a:rPr>
                              </m:ctrlPr>
                            </m:sSubPr>
                            <m:e>
                              <m:r>
                                <a:rPr>
                                  <a:latin typeface="Cambria Math" panose="02040503050406030204" pitchFamily="18" charset="0"/>
                                </a:rPr>
                                <m:t>𝐦</m:t>
                              </m:r>
                            </m:e>
                            <m:sub>
                              <m:r>
                                <a:rPr>
                                  <a:latin typeface="Cambria Math" panose="02040503050406030204" pitchFamily="18" charset="0"/>
                                </a:rPr>
                                <m:t>𝑖</m:t>
                              </m:r>
                            </m:sub>
                          </m:sSub>
                          <m:r>
                            <a:rPr>
                              <a:latin typeface="Cambria Math" panose="02040503050406030204" pitchFamily="18" charset="0"/>
                            </a:rPr>
                            <m:t>)</m:t>
                          </m:r>
                        </m:oMath>
                      </m:oMathPara>
                    </a14:m>
                  </mc:Choice>
                  <mc:Fallback xmlns:a16="http://schemas.microsoft.com/office/drawing/2014/main" xmlns:asvg="http://schemas.microsoft.com/office/drawing/2016/SVG/main" xmlns="">
                    <a:r>
                      <a:rPr lang="en-US" sz="1700"/>
                      <a:t>h̃ᵢ=LN(hᵢ+βmᵢ)</a:t>
                    </a:r>
                  </mc:Fallback>
                </mc:AlternateContent>
                <a:endParaRPr/>
              </a:p>
            </p:txBody>
          </p:sp>
        </mc:Choice>
        <mc:Fallback>
          <p:sp>
            <p:nvSpPr>
              <p:cNvPr id="200040" name="residual_update" descr="LaTeX: \tilde{\mathbf h}_i=\mathrm{LN}(\mathbf h_i+\beta\mathbf m_i)"/>
              <p:cNvSpPr>
                <a:spLocks noRot="1" noChangeAspect="1" noMove="1" noResize="1" noEditPoints="1" noAdjustHandles="1" noChangeArrowheads="1" noChangeShapeType="1" noTextEdit="1"/>
              </p:cNvSpPr>
              <p:nvPr/>
            </p:nvSpPr>
            <p:spPr>
              <a:xfrm>
                <a:off x="7645400" y="4381500"/>
                <a:ext cx="3975100" cy="482600"/>
              </a:xfrm>
              <a:blipFill>
                <a:blip r:embed="rId7"/>
                <a:stretch>
                  <a:fillRect/>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候选策略评价与组状态信用">
    <p:bg>
      <p:bgPr>
        <a:solidFill>
          <a:srgbClr val="FFFFFF"/>
        </a:solidFill>
        <a:effectLst/>
      </p:bgPr>
    </p:bg>
    <p:spTree>
      <p:nvGrpSpPr>
        <p:cNvPr id="1" name=""/>
        <p:cNvGrpSpPr/>
        <p:nvPr/>
      </p:nvGrpSpPr>
      <p:grpSpPr>
        <a:xfrm>
          <a:off x="0" y="0"/>
          <a:ext cx="0" cy="0"/>
          <a:chOff x="0" y="0"/>
          <a:chExt cx="0" cy="0"/>
        </a:xfrm>
      </p:grpSpPr>
      <p:pic>
        <p:nvPicPr>
          <p:cNvPr id="100158"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59"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实验设置与整体结果</a:t>
            </a:r>
          </a:p>
        </p:txBody>
      </p:sp>
      <p:cxnSp>
        <p:nvCxnSpPr>
          <p:cNvPr id="100160" name="header_rule"/>
          <p:cNvCxnSpPr/>
          <p:nvPr/>
        </p:nvCxnSpPr>
        <p:spPr>
          <a:xfrm>
            <a:off x="546100" y="711200"/>
            <a:ext cx="8318500" cy="0"/>
          </a:xfrm>
          <a:prstGeom prst="straightConnector1">
            <a:avLst/>
          </a:prstGeom>
          <a:ln w="6985">
            <a:solidFill>
              <a:srgbClr val="A0A0A0"/>
            </a:solidFill>
          </a:ln>
        </p:spPr>
      </p:cxnSp>
      <p:sp>
        <p:nvSpPr>
          <p:cNvPr id="100161" name="fitness_heading"/>
          <p:cNvSpPr/>
          <p:nvPr/>
        </p:nvSpPr>
        <p:spPr>
          <a:xfrm>
            <a:off x="546100" y="1054100"/>
            <a:ext cx="110744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100轮对照：四档SNR平均误差（m）</a:t>
            </a:r>
          </a:p>
        </p:txBody>
      </p:sp>
      <p:sp>
        <p:nvSpPr>
          <p:cNvPr id="100163" name="fitness_explanation"/>
          <p:cNvSpPr/>
          <p:nvPr/>
        </p:nvSpPr>
        <p:spPr>
          <a:xfrm>
            <a:off x="546100" y="2717800"/>
            <a:ext cx="11074400" cy="254000"/>
          </a:xfrm>
          <a:prstGeom prst="rect">
            <a:avLst/>
          </a:prstGeom>
          <a:noFill/>
          <a:ln>
            <a:noFill/>
          </a:ln>
        </p:spPr>
        <p:txBody>
          <a:bodyPr lIns="0" tIns="0" rIns="0" bIns="0" anchor="t">
            <a:noAutofit/>
          </a:bodyPr>
          <a:lstStyle/>
          <a:p>
            <a:pPr algn="l">
              <a:lnSpc>
                <a:spcPts val="1700"/>
              </a:lnSpc>
              <a:spcBef>
                <a:spcPts val="0"/>
              </a:spcBef>
              <a:spcAft>
                <a:spcPts val="0"/>
              </a:spcAft>
            </a:pPr>
            <a:r>
              <a:rPr lang="en-US" sz="1200" b="0">
                <a:solidFill>
                  <a:srgbClr val="000000"/>
                </a:solidFill>
                <a:latin typeface="Times New Roman"/>
                <a:ea typeface="宋体"/>
                <a:cs typeface="Times New Roman"/>
              </a:rPr>
              <a:t>最佳检查点：GNN第97轮，QGNN第54轮；正改善表示QGNN误差更低。</a:t>
            </a:r>
          </a:p>
        </p:txBody>
      </p:sp>
      <p:cxnSp>
        <p:nvCxnSpPr>
          <p:cNvPr id="100164" name="body_rule"/>
          <p:cNvCxnSpPr/>
          <p:nvPr/>
        </p:nvCxnSpPr>
        <p:spPr>
          <a:xfrm>
            <a:off x="546100" y="3022600"/>
            <a:ext cx="11074400" cy="0"/>
          </a:xfrm>
          <a:prstGeom prst="straightConnector1">
            <a:avLst/>
          </a:prstGeom>
          <a:ln w="6350">
            <a:solidFill>
              <a:srgbClr val="B5B5B5"/>
            </a:solidFill>
          </a:ln>
        </p:spPr>
      </p:cxnSp>
      <p:sp>
        <p:nvSpPr>
          <p:cNvPr id="100165" name="archive_heading"/>
          <p:cNvSpPr/>
          <p:nvPr/>
        </p:nvSpPr>
        <p:spPr>
          <a:xfrm>
            <a:off x="546100" y="3263900"/>
            <a:ext cx="64135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实验设置</a:t>
            </a:r>
          </a:p>
        </p:txBody>
      </p:sp>
      <p:sp>
        <p:nvSpPr>
          <p:cNvPr id="100166" name="archive_explanation"/>
          <p:cNvSpPr/>
          <p:nvPr/>
        </p:nvSpPr>
        <p:spPr>
          <a:xfrm>
            <a:off x="546100" y="3619500"/>
            <a:ext cx="6540500" cy="571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NGSIM Lankershim；seed2026；V_select 400个起点。</a:t>
            </a:r>
          </a:p>
          <a:p>
            <a:pPr algn="l">
              <a:lnSpc>
                <a:spcPts val="2000"/>
              </a:lnSpc>
              <a:spcBef>
                <a:spcPts val="0"/>
              </a:spcBef>
              <a:spcAft>
                <a:spcPts val="0"/>
              </a:spcAft>
            </a:pPr>
            <a:r>
              <a:rPr lang="en-US" sz="1300" b="0">
                <a:solidFill>
                  <a:srgbClr val="000000"/>
                </a:solidFill>
                <a:latin typeface="Times New Roman"/>
                <a:ea typeface="宋体"/>
                <a:cs typeface="Times New Roman"/>
              </a:rPr>
              <a:t>过去20帧预测未来20帧；SNR为5、10、15、20dB。</a:t>
            </a:r>
          </a:p>
        </p:txBody>
      </p:sp>
      <p:sp>
        <p:nvSpPr>
          <p:cNvPr id="100167" name="example_heading"/>
          <p:cNvSpPr/>
          <p:nvPr/>
        </p:nvSpPr>
        <p:spPr>
          <a:xfrm>
            <a:off x="546100" y="4318000"/>
            <a:ext cx="6350000" cy="2921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1">
                <a:solidFill>
                  <a:srgbClr val="000000"/>
                </a:solidFill>
                <a:latin typeface="Times New Roman"/>
                <a:ea typeface="宋体"/>
                <a:cs typeface="Times New Roman"/>
              </a:rPr>
              <a:t>公共输入与时间预测器</a:t>
            </a:r>
          </a:p>
        </p:txBody>
      </p:sp>
      <p:graphicFrame>
        <p:nvGraphicFramePr>
          <p:cNvPr id="100168" name="credit_example_table"/>
          <p:cNvGraphicFramePr/>
          <p:nvPr/>
        </p:nvGraphicFramePr>
        <p:xfrm>
          <a:off x="546100" y="4699000"/>
          <a:ext cx="6477000" cy="1441196"/>
        </p:xfrm>
        <a:graphic>
          <a:graphicData uri="http://schemas.openxmlformats.org/drawingml/2006/table">
            <a:tbl>
              <a:tblPr bandRow="1">
                <a:tableStyleId>{2D5ABB26-0587-4C30-8999-92F81FD0307C}</a:tableStyleId>
              </a:tblPr>
              <a:tblGrid>
                <a:gridCol w="1333500">
                  <a:extLst>
                    <a:ext uri="{9D8B030D-6E8A-4147-A177-3AD203B41FA5}">
                      <a16:colId xmlns:a16="http://schemas.microsoft.com/office/drawing/2014/main" val="20000"/>
                    </a:ext>
                  </a:extLst>
                </a:gridCol>
                <a:gridCol w="3683000">
                  <a:extLst>
                    <a:ext uri="{9D8B030D-6E8A-4147-A177-3AD203B41FA5}">
                      <a16:colId xmlns:a16="http://schemas.microsoft.com/office/drawing/2014/main" val="20001"/>
                    </a:ext>
                  </a:extLst>
                </a:gridCol>
                <a:gridCol w="1460500">
                  <a:extLst>
                    <a:ext uri="{9D8B030D-6E8A-4147-A177-3AD203B41FA5}">
                      <a16:colId xmlns:a16="http://schemas.microsoft.com/office/drawing/2014/main" val="20002"/>
                    </a:ext>
                  </a:extLst>
                </a:gridCol>
              </a:tblGrid>
              <a:tr h="419100">
                <a:tc>
                  <a:txBody>
                    <a:bodyPr/>
                    <a:lstStyle/>
                    <a:p>
                      <a:pPr algn="ctr">
                        <a:lnSpc>
                          <a:spcPts val="1700"/>
                        </a:lnSpc>
                        <a:spcBef>
                          <a:spcPts val="0"/>
                        </a:spcBef>
                        <a:spcAft>
                          <a:spcPts val="0"/>
                        </a:spcAft>
                      </a:pPr>
                      <a:r>
                        <a:rPr lang="en-US" sz="1300" b="0">
                          <a:solidFill>
                            <a:srgbClr val="000000"/>
                          </a:solidFill>
                          <a:latin typeface="Times New Roman"/>
                          <a:ea typeface="宋体"/>
                        </a:rPr>
                        <a:t>项目</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4F4F4"/>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GNN</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4F4F4"/>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QGNN</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4F4F4"/>
                    </a:solidFill>
                  </a:tcPr>
                </a:tc>
                <a:extLst>
                  <a:ext uri="{0D108BD9-81ED-4DB2-BD59-A6C34878D82A}">
                    <a16:rowId xmlns:a16="http://schemas.microsoft.com/office/drawing/2014/main" val="10000"/>
                  </a:ext>
                </a:extLst>
              </a:tr>
              <a:tr h="511937">
                <a:tc>
                  <a:txBody>
                    <a:bodyPr/>
                    <a:lstStyle/>
                    <a:p>
                      <a:pPr algn="ctr">
                        <a:lnSpc>
                          <a:spcPts val="1700"/>
                        </a:lnSpc>
                        <a:spcBef>
                          <a:spcPts val="0"/>
                        </a:spcBef>
                        <a:spcAft>
                          <a:spcPts val="0"/>
                        </a:spcAft>
                      </a:pPr>
                      <a:r>
                        <a:rPr lang="en-US" sz="1300" b="0">
                          <a:solidFill>
                            <a:srgbClr val="000000"/>
                          </a:solidFill>
                          <a:latin typeface="Times New Roman"/>
                          <a:ea typeface="宋体"/>
                        </a:rPr>
                        <a:t>图模块</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两层经典图注意力</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a:solidFill>
                            <a:srgbClr val="000000"/>
                          </a:solidFill>
                          <a:latin typeface="Times New Roman"/>
                          <a:ea typeface="宋体"/>
                        </a:rPr>
                        <a:t>两层量子关系消息</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extLst>
                  <a:ext uri="{0D108BD9-81ED-4DB2-BD59-A6C34878D82A}">
                    <a16:rowId xmlns:a16="http://schemas.microsoft.com/office/drawing/2014/main" val="10001"/>
                  </a:ext>
                </a:extLst>
              </a:tr>
              <a:tr h="510159">
                <a:tc>
                  <a:txBody>
                    <a:bodyPr/>
                    <a:lstStyle/>
                    <a:p>
                      <a:pPr algn="ctr">
                        <a:lnSpc>
                          <a:spcPts val="1700"/>
                        </a:lnSpc>
                        <a:spcBef>
                          <a:spcPts val="0"/>
                        </a:spcBef>
                        <a:spcAft>
                          <a:spcPts val="0"/>
                        </a:spcAft>
                      </a:pPr>
                      <a:r>
                        <a:rPr lang="en-US" sz="1300" b="0">
                          <a:solidFill>
                            <a:srgbClr val="000000"/>
                          </a:solidFill>
                          <a:latin typeface="Times New Roman"/>
                          <a:ea typeface="宋体"/>
                        </a:rPr>
                        <a:t>时间预测器</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GPT-2＋LoRA</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a:solidFill>
                            <a:srgbClr val="000000"/>
                          </a:solidFill>
                          <a:latin typeface="Times New Roman"/>
                          <a:ea typeface="宋体"/>
                        </a:rPr>
                        <a:t>GPT-2＋LoRA</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extLst>
                  <a:ext uri="{0D108BD9-81ED-4DB2-BD59-A6C34878D82A}">
                    <a16:rowId xmlns:a16="http://schemas.microsoft.com/office/drawing/2014/main" val="10002"/>
                  </a:ext>
                </a:extLst>
              </a:tr>
            </a:tbl>
          </a:graphicData>
        </a:graphic>
      </p:graphicFrame>
      <p:cxnSp>
        <p:nvCxnSpPr>
          <p:cNvPr id="100169" name="column_rule"/>
          <p:cNvCxnSpPr/>
          <p:nvPr/>
        </p:nvCxnSpPr>
        <p:spPr>
          <a:xfrm>
            <a:off x="7340600" y="3263900"/>
            <a:ext cx="0" cy="2857500"/>
          </a:xfrm>
          <a:prstGeom prst="straightConnector1">
            <a:avLst/>
          </a:prstGeom>
          <a:ln w="6350">
            <a:solidFill>
              <a:srgbClr val="B5B5B5"/>
            </a:solidFill>
          </a:ln>
        </p:spPr>
      </p:cxnSp>
      <p:sp>
        <p:nvSpPr>
          <p:cNvPr id="100170" name="credit_heading"/>
          <p:cNvSpPr/>
          <p:nvPr/>
        </p:nvSpPr>
        <p:spPr>
          <a:xfrm>
            <a:off x="7645400" y="3263900"/>
            <a:ext cx="39751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最佳检查点误差降低</a:t>
            </a:r>
          </a:p>
        </p:txBody>
      </p:sp>
      <p:sp>
        <p:nvSpPr>
          <p:cNvPr id="100173" name="credit_explanation"/>
          <p:cNvSpPr/>
          <p:nvPr/>
        </p:nvSpPr>
        <p:spPr>
          <a:xfrm>
            <a:off x="7645400" y="5041900"/>
            <a:ext cx="3975100" cy="571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第100轮QGNN误差高于GNN，</a:t>
            </a:r>
          </a:p>
          <a:p>
            <a:pPr algn="l">
              <a:lnSpc>
                <a:spcPts val="2000"/>
              </a:lnSpc>
              <a:spcBef>
                <a:spcPts val="0"/>
              </a:spcBef>
              <a:spcAft>
                <a:spcPts val="0"/>
              </a:spcAft>
            </a:pPr>
            <a:r>
              <a:rPr lang="en-US" sz="1300" b="0">
                <a:solidFill>
                  <a:srgbClr val="000000"/>
                </a:solidFill>
                <a:latin typeface="Times New Roman"/>
                <a:ea typeface="宋体"/>
                <a:cs typeface="Times New Roman"/>
              </a:rPr>
              <a:t>后续重点检查训练后期的泛化表现。</a:t>
            </a:r>
          </a:p>
        </p:txBody>
      </p:sp>
      <p:cxnSp>
        <p:nvCxnSpPr>
          <p:cNvPr id="100174" name="footer_rule"/>
          <p:cNvCxnSpPr/>
          <p:nvPr/>
        </p:nvCxnSpPr>
        <p:spPr>
          <a:xfrm>
            <a:off x="546100" y="6311900"/>
            <a:ext cx="11074400" cy="0"/>
          </a:xfrm>
          <a:prstGeom prst="straightConnector1">
            <a:avLst/>
          </a:prstGeom>
          <a:ln w="6350">
            <a:solidFill>
              <a:srgbClr val="B5B5B5"/>
            </a:solidFill>
          </a:ln>
        </p:spPr>
      </p:cxnSp>
      <p:sp>
        <p:nvSpPr>
          <p:cNvPr id="100175" name="rotation_link"/>
          <p:cNvSpPr/>
          <p:nvPr/>
        </p:nvSpPr>
        <p:spPr>
          <a:xfrm>
            <a:off x="546100" y="6464300"/>
            <a:ext cx="11074400" cy="304800"/>
          </a:xfrm>
          <a:prstGeom prst="rect">
            <a:avLst/>
          </a:prstGeom>
          <a:noFill/>
          <a:ln>
            <a:noFill/>
          </a:ln>
        </p:spPr>
        <p:txBody>
          <a:bodyPr lIns="0" tIns="0" rIns="0" bIns="0" anchor="t">
            <a:noAutofit/>
          </a:bodyPr>
          <a:lstStyle/>
          <a:p>
            <a:pPr algn="l">
              <a:lnSpc>
                <a:spcPts val="2000"/>
              </a:lnSpc>
              <a:spcBef>
                <a:spcPts val="0"/>
              </a:spcBef>
              <a:spcAft>
                <a:spcPts val="0"/>
              </a:spcAft>
            </a:pPr>
            <a:r>
              <a:rPr lang="en-US" sz="1200" b="0">
                <a:solidFill>
                  <a:srgbClr val="000000"/>
                </a:solidFill>
                <a:latin typeface="Times New Roman"/>
                <a:ea typeface="宋体"/>
                <a:cs typeface="Times New Roman"/>
              </a:rPr>
              <a:t>训练记录：GNN按40＋60轮续训、前期物理批量不同；新一轮统一批量对照正在运行。</a:t>
            </a:r>
          </a:p>
        </p:txBody>
      </p:sp>
      <p:graphicFrame>
        <p:nvGraphicFramePr>
          <p:cNvPr id="200041" name="experiment_results"/>
          <p:cNvGraphicFramePr/>
          <p:nvPr/>
        </p:nvGraphicFramePr>
        <p:xfrm>
          <a:off x="546100" y="1460500"/>
          <a:ext cx="11074400" cy="110490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3462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gridCol w="1346200">
                  <a:extLst>
                    <a:ext uri="{9D8B030D-6E8A-4147-A177-3AD203B41FA5}">
                      <a16:colId xmlns:a16="http://schemas.microsoft.com/office/drawing/2014/main" val="20006"/>
                    </a:ext>
                  </a:extLst>
                </a:gridCol>
              </a:tblGrid>
              <a:tr h="368300">
                <a:tc>
                  <a:txBody>
                    <a:bodyPr/>
                    <a:lstStyle/>
                    <a:p>
                      <a:pPr algn="ctr"/>
                      <a:r>
                        <a:rPr lang="en-US" sz="1250" b="1">
                          <a:solidFill>
                            <a:srgbClr val="000000"/>
                          </a:solidFill>
                          <a:latin typeface="Times New Roman"/>
                          <a:ea typeface="宋体"/>
                        </a:rPr>
                        <a:t>选取方式</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2F2F2"/>
                    </a:solidFill>
                  </a:tcPr>
                </a:tc>
                <a:tc>
                  <a:txBody>
                    <a:bodyPr/>
                    <a:lstStyle/>
                    <a:p>
                      <a:pPr algn="ctr"/>
                      <a:r>
                        <a:rPr lang="en-US" sz="1250" b="1">
                          <a:solidFill>
                            <a:srgbClr val="000000"/>
                          </a:solidFill>
                          <a:latin typeface="Times New Roman"/>
                          <a:ea typeface="宋体"/>
                        </a:rPr>
                        <a:t>GNN ADE</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2F2F2"/>
                    </a:solidFill>
                  </a:tcPr>
                </a:tc>
                <a:tc>
                  <a:txBody>
                    <a:bodyPr/>
                    <a:lstStyle/>
                    <a:p>
                      <a:pPr algn="ctr"/>
                      <a:r>
                        <a:rPr lang="en-US" sz="1250" b="1">
                          <a:solidFill>
                            <a:srgbClr val="000000"/>
                          </a:solidFill>
                          <a:latin typeface="Times New Roman"/>
                          <a:ea typeface="宋体"/>
                        </a:rPr>
                        <a:t>QGNN ADE</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2F2F2"/>
                    </a:solidFill>
                  </a:tcPr>
                </a:tc>
                <a:tc>
                  <a:txBody>
                    <a:bodyPr/>
                    <a:lstStyle/>
                    <a:p>
                      <a:pPr algn="ctr"/>
                      <a:r>
                        <a:rPr lang="en-US" sz="1250" b="1">
                          <a:solidFill>
                            <a:srgbClr val="000000"/>
                          </a:solidFill>
                          <a:latin typeface="Times New Roman"/>
                          <a:ea typeface="宋体"/>
                        </a:rPr>
                        <a:t>ADE改善</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2F2F2"/>
                    </a:solidFill>
                  </a:tcPr>
                </a:tc>
                <a:tc>
                  <a:txBody>
                    <a:bodyPr/>
                    <a:lstStyle/>
                    <a:p>
                      <a:pPr algn="ctr"/>
                      <a:r>
                        <a:rPr lang="en-US" sz="1250" b="1">
                          <a:solidFill>
                            <a:srgbClr val="000000"/>
                          </a:solidFill>
                          <a:latin typeface="Times New Roman"/>
                          <a:ea typeface="宋体"/>
                        </a:rPr>
                        <a:t>GNN FDE</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2F2F2"/>
                    </a:solidFill>
                  </a:tcPr>
                </a:tc>
                <a:tc>
                  <a:txBody>
                    <a:bodyPr/>
                    <a:lstStyle/>
                    <a:p>
                      <a:pPr algn="ctr"/>
                      <a:r>
                        <a:rPr lang="en-US" sz="1250" b="1">
                          <a:solidFill>
                            <a:srgbClr val="000000"/>
                          </a:solidFill>
                          <a:latin typeface="Times New Roman"/>
                          <a:ea typeface="宋体"/>
                        </a:rPr>
                        <a:t>QGNN FDE</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2F2F2"/>
                    </a:solidFill>
                  </a:tcPr>
                </a:tc>
                <a:tc>
                  <a:txBody>
                    <a:bodyPr/>
                    <a:lstStyle/>
                    <a:p>
                      <a:pPr algn="ctr"/>
                      <a:r>
                        <a:rPr lang="en-US" sz="1250" b="1">
                          <a:solidFill>
                            <a:srgbClr val="000000"/>
                          </a:solidFill>
                          <a:latin typeface="Times New Roman"/>
                          <a:ea typeface="宋体"/>
                        </a:rPr>
                        <a:t>FDE改善</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2F2F2"/>
                    </a:solidFill>
                  </a:tcPr>
                </a:tc>
                <a:extLst>
                  <a:ext uri="{0D108BD9-81ED-4DB2-BD59-A6C34878D82A}">
                    <a16:rowId xmlns:a16="http://schemas.microsoft.com/office/drawing/2014/main" val="10000"/>
                  </a:ext>
                </a:extLst>
              </a:tr>
              <a:tr h="368300">
                <a:tc>
                  <a:txBody>
                    <a:bodyPr/>
                    <a:lstStyle/>
                    <a:p>
                      <a:pPr algn="ctr"/>
                      <a:r>
                        <a:rPr lang="en-US" sz="1250" b="0">
                          <a:solidFill>
                            <a:srgbClr val="000000"/>
                          </a:solidFill>
                          <a:latin typeface="Times New Roman"/>
                          <a:ea typeface="宋体"/>
                        </a:rPr>
                        <a:t>各自最佳检查点</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0.551613</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0.547521</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0.742%</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1.121639</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1.095579</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2.323%</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extLst>
                  <a:ext uri="{0D108BD9-81ED-4DB2-BD59-A6C34878D82A}">
                    <a16:rowId xmlns:a16="http://schemas.microsoft.com/office/drawing/2014/main" val="10001"/>
                  </a:ext>
                </a:extLst>
              </a:tr>
              <a:tr h="368300">
                <a:tc>
                  <a:txBody>
                    <a:bodyPr/>
                    <a:lstStyle/>
                    <a:p>
                      <a:pPr algn="ctr"/>
                      <a:r>
                        <a:rPr lang="en-US" sz="1250" b="0">
                          <a:solidFill>
                            <a:srgbClr val="000000"/>
                          </a:solidFill>
                          <a:latin typeface="Times New Roman"/>
                          <a:ea typeface="宋体"/>
                        </a:rPr>
                        <a:t>共同第100轮</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0.562583</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0.579138</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-2.943%</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1.157241</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1.178830</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tc>
                  <a:txBody>
                    <a:bodyPr/>
                    <a:lstStyle/>
                    <a:p>
                      <a:pPr algn="ctr"/>
                      <a:r>
                        <a:rPr lang="en-US" sz="1250" b="0">
                          <a:solidFill>
                            <a:srgbClr val="000000"/>
                          </a:solidFill>
                          <a:latin typeface="Times New Roman"/>
                          <a:ea typeface="宋体"/>
                        </a:rPr>
                        <a:t>-1.866%</a:t>
                      </a:r>
                    </a:p>
                  </a:txBody>
                  <a:tcPr marL="38100" marR="38100" marT="38100" marB="38100" anchor="ctr">
                    <a:lnL w="6350">
                      <a:solidFill>
                        <a:srgbClr val="A0A0A0"/>
                      </a:solidFill>
                      <a:prstDash val="solid"/>
                    </a:lnL>
                    <a:lnR w="6350">
                      <a:solidFill>
                        <a:srgbClr val="A0A0A0"/>
                      </a:solidFill>
                      <a:prstDash val="solid"/>
                    </a:lnR>
                    <a:lnT w="6350">
                      <a:solidFill>
                        <a:srgbClr val="A0A0A0"/>
                      </a:solidFill>
                      <a:prstDash val="solid"/>
                    </a:lnT>
                    <a:lnB w="6350">
                      <a:solidFill>
                        <a:srgbClr val="A0A0A0"/>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200042" name="ade_gain"/>
          <p:cNvSpPr txBox="1"/>
          <p:nvPr/>
        </p:nvSpPr>
        <p:spPr>
          <a:xfrm>
            <a:off x="7645400" y="3898900"/>
            <a:ext cx="3975100" cy="368300"/>
          </a:xfrm>
          <a:prstGeom prst="rect">
            <a:avLst/>
          </a:prstGeom>
          <a:noFill/>
          <a:ln>
            <a:noFill/>
          </a:ln>
        </p:spPr>
        <p:txBody>
          <a:bodyPr lIns="0" tIns="0" rIns="0" bIns="0" anchor="t"/>
          <a:lstStyle/>
          <a:p>
            <a:pPr algn="l">
              <a:lnSpc>
                <a:spcPts val="2660"/>
              </a:lnSpc>
              <a:spcBef>
                <a:spcPts val="0"/>
              </a:spcBef>
              <a:spcAft>
                <a:spcPts val="0"/>
              </a:spcAft>
            </a:pPr>
            <a:r>
              <a:rPr lang="en-US" sz="1900" b="0">
                <a:solidFill>
                  <a:srgbClr val="000000"/>
                </a:solidFill>
                <a:latin typeface="Times New Roman"/>
                <a:ea typeface="宋体"/>
                <a:cs typeface="Times New Roman"/>
              </a:rPr>
              <a:t>ADE 降低 0.742%</a:t>
            </a:r>
          </a:p>
        </p:txBody>
      </p:sp>
      <p:sp>
        <p:nvSpPr>
          <p:cNvPr id="200043" name="fde_gain"/>
          <p:cNvSpPr txBox="1"/>
          <p:nvPr/>
        </p:nvSpPr>
        <p:spPr>
          <a:xfrm>
            <a:off x="7645400" y="4457700"/>
            <a:ext cx="3975100" cy="368300"/>
          </a:xfrm>
          <a:prstGeom prst="rect">
            <a:avLst/>
          </a:prstGeom>
          <a:noFill/>
          <a:ln>
            <a:noFill/>
          </a:ln>
        </p:spPr>
        <p:txBody>
          <a:bodyPr lIns="0" tIns="0" rIns="0" bIns="0" anchor="t"/>
          <a:lstStyle/>
          <a:p>
            <a:pPr algn="l">
              <a:lnSpc>
                <a:spcPts val="2660"/>
              </a:lnSpc>
              <a:spcBef>
                <a:spcPts val="0"/>
              </a:spcBef>
              <a:spcAft>
                <a:spcPts val="0"/>
              </a:spcAft>
            </a:pPr>
            <a:r>
              <a:rPr lang="en-US" sz="1900" b="0">
                <a:solidFill>
                  <a:srgbClr val="000000"/>
                </a:solidFill>
                <a:latin typeface="Times New Roman"/>
                <a:ea typeface="宋体"/>
                <a:cs typeface="Times New Roman"/>
              </a:rPr>
              <a:t>FDE 降低 2.323%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量子旋转与概率幅更新">
    <p:bg>
      <p:bgPr>
        <a:solidFill>
          <a:srgbClr val="FFFFFF"/>
        </a:solidFill>
        <a:effectLst/>
      </p:bgPr>
    </p:bg>
    <p:spTree>
      <p:nvGrpSpPr>
        <p:cNvPr id="1" name=""/>
        <p:cNvGrpSpPr/>
        <p:nvPr/>
      </p:nvGrpSpPr>
      <p:grpSpPr>
        <a:xfrm>
          <a:off x="0" y="0"/>
          <a:ext cx="0" cy="0"/>
          <a:chOff x="0" y="0"/>
          <a:chExt cx="0" cy="0"/>
        </a:xfrm>
      </p:grpSpPr>
      <p:pic>
        <p:nvPicPr>
          <p:cNvPr id="100180"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81"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轨迹案例与改进方向</a:t>
            </a:r>
          </a:p>
        </p:txBody>
      </p:sp>
      <p:cxnSp>
        <p:nvCxnSpPr>
          <p:cNvPr id="100182" name="header_rule"/>
          <p:cNvCxnSpPr/>
          <p:nvPr/>
        </p:nvCxnSpPr>
        <p:spPr>
          <a:xfrm>
            <a:off x="546100" y="711200"/>
            <a:ext cx="8318500" cy="0"/>
          </a:xfrm>
          <a:prstGeom prst="straightConnector1">
            <a:avLst/>
          </a:prstGeom>
          <a:ln w="6985">
            <a:solidFill>
              <a:srgbClr val="A0A0A0"/>
            </a:solidFill>
          </a:ln>
        </p:spPr>
      </p:cxnSp>
      <p:cxnSp>
        <p:nvCxnSpPr>
          <p:cNvPr id="100185" name="column_rule"/>
          <p:cNvCxnSpPr/>
          <p:nvPr/>
        </p:nvCxnSpPr>
        <p:spPr>
          <a:xfrm>
            <a:off x="6057900" y="1066800"/>
            <a:ext cx="0" cy="5346700"/>
          </a:xfrm>
          <a:prstGeom prst="straightConnector1">
            <a:avLst/>
          </a:prstGeom>
          <a:ln w="6350">
            <a:solidFill>
              <a:srgbClr val="B5B5B5"/>
            </a:solidFill>
          </a:ln>
        </p:spPr>
      </p:cxnSp>
      <p:sp>
        <p:nvSpPr>
          <p:cNvPr id="100186" name="rotation_heading"/>
          <p:cNvSpPr/>
          <p:nvPr/>
        </p:nvSpPr>
        <p:spPr>
          <a:xfrm>
            <a:off x="6451600" y="1066800"/>
            <a:ext cx="51689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案例中的交互差异</a:t>
            </a:r>
          </a:p>
        </p:txBody>
      </p:sp>
      <p:sp>
        <p:nvSpPr>
          <p:cNvPr id="100187" name="rotation_intro"/>
          <p:cNvSpPr/>
          <p:nvPr/>
        </p:nvSpPr>
        <p:spPr>
          <a:xfrm>
            <a:off x="6451600" y="1536700"/>
            <a:ext cx="5168900" cy="571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较好案例中，QGNN更接近真实未来轨迹。</a:t>
            </a:r>
          </a:p>
          <a:p>
            <a:pPr algn="l">
              <a:lnSpc>
                <a:spcPts val="2000"/>
              </a:lnSpc>
              <a:spcBef>
                <a:spcPts val="0"/>
              </a:spcBef>
              <a:spcAft>
                <a:spcPts val="0"/>
              </a:spcAft>
            </a:pPr>
            <a:r>
              <a:rPr lang="en-US" sz="1300" b="0">
                <a:solidFill>
                  <a:srgbClr val="000000"/>
                </a:solidFill>
                <a:latin typeface="Times New Roman"/>
                <a:ea typeface="宋体"/>
                <a:cs typeface="Times New Roman"/>
              </a:rPr>
              <a:t>较差案例中，不同邻车对预测有不同影响。</a:t>
            </a:r>
          </a:p>
        </p:txBody>
      </p:sp>
      <p:sp>
        <p:nvSpPr>
          <p:cNvPr id="100189" name="angle_heading"/>
          <p:cNvSpPr/>
          <p:nvPr/>
        </p:nvSpPr>
        <p:spPr>
          <a:xfrm>
            <a:off x="6451600" y="3200400"/>
            <a:ext cx="51689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当前改进方向</a:t>
            </a:r>
          </a:p>
        </p:txBody>
      </p:sp>
      <p:sp>
        <p:nvSpPr>
          <p:cNvPr id="100191" name="angle_explanation"/>
          <p:cNvSpPr/>
          <p:nvPr/>
        </p:nvSpPr>
        <p:spPr>
          <a:xfrm>
            <a:off x="6451600" y="4406900"/>
            <a:ext cx="5168900" cy="825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保留原读出，改用车辆行驶方向表达</a:t>
            </a:r>
          </a:p>
          <a:p>
            <a:pPr algn="l">
              <a:lnSpc>
                <a:spcPts val="2000"/>
              </a:lnSpc>
              <a:spcBef>
                <a:spcPts val="0"/>
              </a:spcBef>
              <a:spcAft>
                <a:spcPts val="0"/>
              </a:spcAft>
            </a:pPr>
            <a:r>
              <a:rPr lang="en-US" sz="1300" b="0">
                <a:solidFill>
                  <a:srgbClr val="000000"/>
                </a:solidFill>
                <a:latin typeface="Times New Roman"/>
                <a:ea typeface="宋体"/>
                <a:cs typeface="Times New Roman"/>
              </a:rPr>
              <a:t>相对位置与相对速度，新增参数为0。</a:t>
            </a:r>
          </a:p>
          <a:p>
            <a:pPr algn="l">
              <a:lnSpc>
                <a:spcPts val="2000"/>
              </a:lnSpc>
              <a:spcBef>
                <a:spcPts val="0"/>
              </a:spcBef>
              <a:spcAft>
                <a:spcPts val="0"/>
              </a:spcAft>
            </a:pPr>
            <a:r>
              <a:rPr lang="en-US" sz="1300" b="0">
                <a:solidFill>
                  <a:srgbClr val="000000"/>
                </a:solidFill>
                <a:latin typeface="Times New Roman"/>
                <a:ea typeface="宋体"/>
                <a:cs typeface="Times New Roman"/>
              </a:rPr>
              <a:t>方向编码QGNN与新GNN正在配对训练。</a:t>
            </a:r>
          </a:p>
        </p:txBody>
      </p:sp>
      <p:cxnSp>
        <p:nvCxnSpPr>
          <p:cNvPr id="100192" name="local_rule"/>
          <p:cNvCxnSpPr/>
          <p:nvPr/>
        </p:nvCxnSpPr>
        <p:spPr>
          <a:xfrm>
            <a:off x="6451600" y="5461000"/>
            <a:ext cx="5168900" cy="0"/>
          </a:xfrm>
          <a:prstGeom prst="straightConnector1">
            <a:avLst/>
          </a:prstGeom>
          <a:ln w="6350">
            <a:solidFill>
              <a:srgbClr val="B5B5B5"/>
            </a:solidFill>
          </a:ln>
        </p:spPr>
      </p:cxnSp>
      <p:sp>
        <p:nvSpPr>
          <p:cNvPr id="100193" name="rotation_effect"/>
          <p:cNvSpPr/>
          <p:nvPr/>
        </p:nvSpPr>
        <p:spPr>
          <a:xfrm>
            <a:off x="6451600" y="5689600"/>
            <a:ext cx="5168900" cy="8382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根据本轮结果选择下一步改动，</a:t>
            </a:r>
          </a:p>
          <a:p>
            <a:pPr algn="l">
              <a:lnSpc>
                <a:spcPts val="2000"/>
              </a:lnSpc>
              <a:spcBef>
                <a:spcPts val="0"/>
              </a:spcBef>
              <a:spcAft>
                <a:spcPts val="0"/>
              </a:spcAft>
            </a:pPr>
            <a:r>
              <a:rPr lang="en-US" sz="1300" b="0">
                <a:solidFill>
                  <a:srgbClr val="000000"/>
                </a:solidFill>
                <a:latin typeface="Times New Roman"/>
                <a:ea typeface="宋体"/>
                <a:cs typeface="Times New Roman"/>
              </a:rPr>
              <a:t>再通过多种子实验检查收益的稳定性。</a:t>
            </a:r>
          </a:p>
        </p:txBody>
      </p:sp>
      <p:pic>
        <p:nvPicPr>
          <p:cNvPr id="200044" name="trajectory_cases" descr="20dB下较好与较差目标案例，历史估计、真实未来、QGNN与GNN预测轨迹对照"/>
          <p:cNvPicPr>
            <a:picLocks noChangeAspect="1"/>
          </p:cNvPicPr>
          <p:nvPr/>
        </p:nvPicPr>
        <p:blipFill>
          <a:blip r:embed="rId4"/>
          <a:stretch>
            <a:fillRect/>
          </a:stretch>
        </p:blipFill>
        <p:spPr>
          <a:xfrm>
            <a:off x="546100" y="1117600"/>
            <a:ext cx="5080000" cy="5080000"/>
          </a:xfrm>
          <a:prstGeom prst="rect">
            <a:avLst/>
          </a:prstGeom>
        </p:spPr>
      </p:pic>
      <p:sp>
        <p:nvSpPr>
          <p:cNvPr id="200045" name="case_checkpoint"/>
          <p:cNvSpPr txBox="1"/>
          <p:nvPr/>
        </p:nvSpPr>
        <p:spPr>
          <a:xfrm>
            <a:off x="546100" y="6311900"/>
            <a:ext cx="5080000" cy="254000"/>
          </a:xfrm>
          <a:prstGeom prst="rect">
            <a:avLst/>
          </a:prstGeom>
          <a:noFill/>
          <a:ln>
            <a:noFill/>
          </a:ln>
        </p:spPr>
        <p:txBody>
          <a:bodyPr lIns="0" tIns="0" rIns="0" bIns="0" anchor="t"/>
          <a:lstStyle/>
          <a:p>
            <a:pPr algn="l">
              <a:lnSpc>
                <a:spcPts val="1540"/>
              </a:lnSpc>
              <a:spcBef>
                <a:spcPts val="0"/>
              </a:spcBef>
              <a:spcAft>
                <a:spcPts val="0"/>
              </a:spcAft>
            </a:pPr>
            <a:r>
              <a:rPr lang="en-US" sz="1100" b="0">
                <a:solidFill>
                  <a:srgbClr val="000000"/>
                </a:solidFill>
                <a:latin typeface="Times New Roman"/>
                <a:ea typeface="宋体"/>
                <a:cs typeface="Times New Roman"/>
              </a:rPr>
              <a:t>案例：20dB，QGNN第75轮、GNN第97轮</a:t>
            </a:r>
          </a:p>
        </p:txBody>
      </p:sp>
      <p:sp>
        <p:nvSpPr>
          <p:cNvPr id="200046" name="case_diagnosis_detail"/>
          <p:cNvSpPr txBox="1"/>
          <p:nvPr/>
        </p:nvSpPr>
        <p:spPr>
          <a:xfrm>
            <a:off x="6451600" y="2298700"/>
            <a:ext cx="5168900" cy="609600"/>
          </a:xfrm>
          <a:prstGeom prst="rect">
            <a:avLst/>
          </a:prstGeom>
          <a:noFill/>
          <a:ln>
            <a:noFill/>
          </a:ln>
        </p:spPr>
        <p:txBody>
          <a:bodyPr lIns="0" tIns="0" rIns="0" bIns="0" anchor="t"/>
          <a:lstStyle/>
          <a:p>
            <a:pPr algn="l">
              <a:lnSpc>
                <a:spcPts val="1820"/>
              </a:lnSpc>
              <a:spcBef>
                <a:spcPts val="0"/>
              </a:spcBef>
              <a:spcAft>
                <a:spcPts val="0"/>
              </a:spcAft>
            </a:pPr>
            <a:r>
              <a:rPr lang="en-US" sz="1300" b="0">
                <a:solidFill>
                  <a:srgbClr val="000000"/>
                </a:solidFill>
                <a:latin typeface="Times New Roman"/>
                <a:ea typeface="宋体"/>
                <a:cs typeface="Times New Roman"/>
              </a:rPr>
              <a:t>起点353：移除邻车0后ADE降低1.005m；</a:t>
            </a:r>
          </a:p>
          <a:p>
            <a:pPr algn="l">
              <a:lnSpc>
                <a:spcPts val="1820"/>
              </a:lnSpc>
              <a:spcBef>
                <a:spcPts val="0"/>
              </a:spcBef>
              <a:spcAft>
                <a:spcPts val="0"/>
              </a:spcAft>
            </a:pPr>
            <a:r>
              <a:rPr lang="en-US" sz="1300" b="0">
                <a:solidFill>
                  <a:srgbClr val="000000"/>
                </a:solidFill>
                <a:latin typeface="Times New Roman"/>
                <a:ea typeface="宋体"/>
                <a:cs typeface="Times New Roman"/>
              </a:rPr>
              <a:t>移除邻车6后ADE增加0.983m。</a:t>
            </a:r>
          </a:p>
        </p:txBody>
      </p:sp>
      <p:sp>
        <p:nvSpPr>
          <p:cNvPr id="200047" name="x_readout_result"/>
          <p:cNvSpPr txBox="1"/>
          <p:nvPr/>
        </p:nvSpPr>
        <p:spPr>
          <a:xfrm>
            <a:off x="6451600" y="3657600"/>
            <a:ext cx="5168900" cy="609600"/>
          </a:xfrm>
          <a:prstGeom prst="rect">
            <a:avLst/>
          </a:prstGeom>
          <a:noFill/>
          <a:ln>
            <a:noFill/>
          </a:ln>
        </p:spPr>
        <p:txBody>
          <a:bodyPr lIns="0" tIns="0" rIns="0" bIns="0" anchor="t"/>
          <a:lstStyle/>
          <a:p>
            <a:pPr algn="l">
              <a:lnSpc>
                <a:spcPts val="1820"/>
              </a:lnSpc>
              <a:spcBef>
                <a:spcPts val="0"/>
              </a:spcBef>
              <a:spcAft>
                <a:spcPts val="0"/>
              </a:spcAft>
            </a:pPr>
            <a:r>
              <a:rPr lang="en-US" sz="1300" b="0">
                <a:solidFill>
                  <a:srgbClr val="000000"/>
                </a:solidFill>
                <a:latin typeface="Times New Roman"/>
                <a:ea typeface="宋体"/>
                <a:cs typeface="Times New Roman"/>
              </a:rPr>
              <a:t>增加X读出：ADE、FDE分别退步</a:t>
            </a:r>
          </a:p>
          <a:p>
            <a:pPr algn="l">
              <a:lnSpc>
                <a:spcPts val="1820"/>
              </a:lnSpc>
              <a:spcBef>
                <a:spcPts val="0"/>
              </a:spcBef>
              <a:spcAft>
                <a:spcPts val="0"/>
              </a:spcAft>
            </a:pPr>
            <a:r>
              <a:rPr lang="en-US" sz="1300" b="0">
                <a:solidFill>
                  <a:srgbClr val="000000"/>
                </a:solidFill>
                <a:latin typeface="Times New Roman"/>
                <a:ea typeface="宋体"/>
                <a:cs typeface="Times New Roman"/>
              </a:rPr>
              <a:t>0.690%、0.777%。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1489</TotalTime>
  <Words>1089</Words>
  <Application>Microsoft Office PowerPoint</Application>
  <DocSecurity>0</DocSecurity>
  <PresentationFormat>宽屏</PresentationFormat>
  <Paragraphs>146</Paragraphs>
  <Slides>6</Slides>
  <Notes>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Calibri</vt:lpstr>
      <vt:lpstr>Cambria Math</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基于QGNN＋LLM的多目标轨迹预测实验进展</dc:title>
  <dc:subject>2026年9月15日组会汇报</dc:subject>
  <dc:creator>Walnut Exporter</dc:creator>
  <cp:lastModifiedBy>斯栋 吴</cp:lastModifiedBy>
  <cp:revision>34</cp:revision>
  <dcterms:created xsi:type="dcterms:W3CDTF">2026-09-09T08:24:57Z</dcterms:created>
  <dcterms:modified xsi:type="dcterms:W3CDTF">2026-09-14T02:48:21Z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1.0.149</vt:lpwstr>
  </property>
  <property fmtid="{D5CDD505-2E9C-101B-9397-08002B2CF9AE}" pid="3" name="OfficeCLI.LastModified">
    <vt:lpwstr>2026-09-14T02:36:41Z</vt:lpwstr>
  </property>
</Properties>
</file>