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70" r:id="rId2"/>
    <p:sldId id="276" r:id="rId3"/>
    <p:sldId id="271" r:id="rId4"/>
    <p:sldId id="272" r:id="rId5"/>
    <p:sldId id="273" r:id="rId6"/>
    <p:sldId id="274" r:id="rId7"/>
    <p:sldId id="275"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01" autoAdjust="0"/>
    <p:restoredTop sz="94660"/>
  </p:normalViewPr>
  <p:slideViewPr>
    <p:cSldViewPr snapToGrid="0">
      <p:cViewPr varScale="1">
        <p:scale>
          <a:sx n="115" d="100"/>
          <a:sy n="115" d="100"/>
        </p:scale>
        <p:origin x="115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本次主要讲解整体预测系统，以及双层QGNN的关系编码、电路与消息传播结构。随后用已完成实验和案例说明当前表现。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研究目标为基于QGNN＋LLM的多目标轨迹预测。输入是共同感知前端的含噪量测与过去20帧状态，建立车辆交互图后由图模块刻画车辆之间的关系，再接公共时间预测器预测未来20帧位置。当前采用双层量子关系消息模块。经典GNN作为同输入、同时间预测器的比较对象。评价分别报告ADE与FDE。</a:t>
            </a:r>
          </a:p>
          <a:p>
            <a:r>
              <a:rPr lang="en-US"/>
              <a:t>来源：experiments/qgnn_inherited/graph.py；reports/qgnn_inherited100/PROTOCOL.md；参考reports/【0908】汇报.pptx的目标与系统分开展示方式。</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沿左侧流程从上往下讲。输入来自共同感知前端，每个时间点用标准化位置、速度和两个有效性标记编码节点，物理位置速度构造邻接及物理边。每帧QGNN输出128维图特征。数值适配器将4维本车状态、2维标记与128维图特征分别线性映射到768维后相加；按车辆组织20帧序列输入共享GPT-2＋LoRA。预测头从最后有效历史位置的隐状态输出20×2修正量。恒速外推用当前估计位置加未来时间乘当前估计速度，例如10m/s直行2s先预测前进20m，模型再修正加减速和方向变化。车辆交互由QGNN处理，时间关系由GPT-2处理。</a:t>
            </a:r>
          </a:p>
          <a:p>
            <a:r>
              <a:rPr lang="en-US"/>
              <a:t>来源：experiments/qgnn_inherited/graph.py；服务器prediction/temporal.py。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先解释一个有向关系：i是接收车辆，j是邻居车辆。7维物理边包含缩放后的相对位置2维、相对速度2维、距离、径向接近速度和TTC。5维上下文由归一化节点特征四组内积均值及整体RMS差异组成。关系向量先tanh，物理层上下文系数gamma=0.35，上下文层为1.0。编码中每通道缩放s=0.5+3.5 sigmoid(s_raw)，偏置项为0.25 tanh(b)，最终2 atan将角度限制在(-pi,pi)。右侧六条线路从左到右按实际门操作顺序讲：每比特先RY编码一个分量，再RZ编码另一个；之后RZ-RY-RZ可训练旋转，再依次执行0→1、1→2、…、5→0环形CNOT。三次重复均重新编码同一输入关系。q=0,…,5，ell=1,2,3。两层消息模块各54个电路旋转参数，共108个，图模块还包含经典映射、读出和消息更新参数。</a:t>
            </a:r>
          </a:p>
          <a:p>
            <a:r>
              <a:rPr lang="en-US"/>
              <a:t>来源：code/02_pennylane_qgnn_core/physics_aligned_dual_model.py；experiments/qgnn_inherited/graph.py。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先讲读出的12个期望值。z经过LayerNorm得到zbar，再分别经两个无偏置线性读出生成每个头的注意力分数及门控。注意力在有效邻居上softmax，门控为2 sigmoid，范围(0,2)。按单头解释聚合公式：alpha决定邻居的相对权重，g调节消息强度，v由经典节点value映射与7维物理边的MLP相加得到。多个头聚合后拼接为128维。残差强度beta由可训练标量经sigmoid得到，初始0.2；接LayerNorm，再FFN残差与LayerNorm。页中聚合公式省略训练时dropout，表达推理计算主干。两层分别采用物理与上下文权重，参数独立。</a:t>
            </a:r>
          </a:p>
          <a:p>
            <a:r>
              <a:rPr lang="en-US"/>
              <a:t>来源：code/02_pennylane_qgnn_core/physics_aligned_dual_model.py:PhysicsAlignedMessageLayer.forward；reports/qgnn_inherited100/PROTOCOL.md。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主表来自已完成100轮对照的最佳检查点。按V_select四档SNR宏平均的J=ADE+0.5FDE最低选择检查点，QGNN第54轮、GNN第97轮。每个模型用同一检查点评估5、10、15、20dB，表中分别展示ADE与FDE，相对降低=(GNN误差-QGNN误差)/GNN误差。四档宏平均的ADE与FDE分别降低0.741794%和2.323351%。训练5549个场景起点，V_select400个起点。历史/未来各20帧、间隔0.1s，最多8辆车。QGNN从头训练100轮；历史GNN由40轮保留优化器与随机状态续训60轮，早期物理批量不同。AdamW：图模块3e-4，LoRA3e-5，其余时间模块1e-4。</a:t>
            </a:r>
          </a:p>
          <a:p>
            <a:r>
              <a:rPr lang="en-US"/>
              <a:t>来源：/home/dell/YrM/ICCT/results/qgnn_inherited100/seed2026/qgnn/validation_epoch_54.json；/home/dell/YrM/ICCT/results/qgat_extend100/seed2026/gnn/validation_epoch_97.json；reports/qgnn_inherited100/PROTOCOL.md。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案例均来自20dB的V_select验证集，共400个起点、2808个共同有效目标。其中1338个目标的真实未来2秒位移至少5m，在该运动群体中按QGNN第54轮逐目标ADE排序，选出误差最小与最大的目标。位移用真实t0与t0+2s两点计算。两种模型均要求完整20帧有效未来，GNN使用第97轮。新最佳的真实2秒位移为23.3977m，接近运动群体中位位移22.9941m。最佳案例QGNN ADE/FDE为0.091794503/0.129761577m，GNN为1.607834816/4.300939083m；最差案例QGNN为7.457711792/10.471327782m，GNN为5.434944534/5.902055740m。最差案例中两种模型都低估了前进距离，QGNN偏差更大。图中使用真实二维坐标，颜色、线型与标记区分历史、真值和两种预测。具体运动筛选定义、候选数量及逐目标排名见cases_metadata.json。</a:t>
            </a:r>
          </a:p>
          <a:p>
            <a:r>
              <a:rPr lang="en-US"/>
              <a:t>改进方向：增加X读出的配对结果中，原版ADE/FDE为0.5427669769/1.0954215576，X版为0.546512/1.103938，误差增加0.690%/0.777%。当前方向编码将量子分支的相对位置和相对速度投影到接收车辆的右向/前向坐标，速度低于1m/s时使用原坐标，新增参数为0。方向编码QGNN正在训练，新GNN对照已完成。</a:t>
            </a:r>
          </a:p>
          <a:p>
            <a:r>
              <a:rPr lang="en-US"/>
              <a:t>来源：reports/qgnn_cases_best54/cases_metadata.json与cases_data.npz；/home/dell/YrM/ICCT/results/qgnn_inherited100/seed2026/qgnn/best.pt；/home/dell/YrM/ICCT/results/qgat_extend100/seed2026/gnn/best.pt；reports/qgnn_readout/seed2026/RESULT.md；reports/qgnn_motionframe/PROTOCOL.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1159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9" Type="http://schemas.openxmlformats.org/officeDocument/2006/relationships/image" Target="../media/image39.png"/><Relationship Id="rId21" Type="http://schemas.openxmlformats.org/officeDocument/2006/relationships/image" Target="../media/image21.png"/><Relationship Id="rId34" Type="http://schemas.openxmlformats.org/officeDocument/2006/relationships/image" Target="../media/image34.png"/><Relationship Id="rId42" Type="http://schemas.openxmlformats.org/officeDocument/2006/relationships/image" Target="../media/image42.png"/><Relationship Id="rId7" Type="http://schemas.openxmlformats.org/officeDocument/2006/relationships/image" Target="../media/image7.png"/><Relationship Id="rId2" Type="http://schemas.openxmlformats.org/officeDocument/2006/relationships/notesSlide" Target="../notesSlides/notesSlide4.xml"/><Relationship Id="rId16" Type="http://schemas.openxmlformats.org/officeDocument/2006/relationships/image" Target="../media/image16.png"/><Relationship Id="rId20" Type="http://schemas.openxmlformats.org/officeDocument/2006/relationships/image" Target="../media/image20.png"/><Relationship Id="rId29" Type="http://schemas.openxmlformats.org/officeDocument/2006/relationships/image" Target="../media/image29.png"/><Relationship Id="rId41"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32" Type="http://schemas.openxmlformats.org/officeDocument/2006/relationships/image" Target="../media/image32.png"/><Relationship Id="rId37" Type="http://schemas.openxmlformats.org/officeDocument/2006/relationships/image" Target="../media/image37.png"/><Relationship Id="rId40" Type="http://schemas.openxmlformats.org/officeDocument/2006/relationships/image" Target="../media/image40.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8.png"/><Relationship Id="rId36" Type="http://schemas.openxmlformats.org/officeDocument/2006/relationships/image" Target="../media/image36.png"/><Relationship Id="rId10" Type="http://schemas.openxmlformats.org/officeDocument/2006/relationships/image" Target="../media/image10.png"/><Relationship Id="rId19" Type="http://schemas.openxmlformats.org/officeDocument/2006/relationships/image" Target="../media/image19.png"/><Relationship Id="rId31" Type="http://schemas.openxmlformats.org/officeDocument/2006/relationships/image" Target="../media/image31.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 Id="rId30" Type="http://schemas.openxmlformats.org/officeDocument/2006/relationships/image" Target="../media/image30.png"/><Relationship Id="rId35" Type="http://schemas.openxmlformats.org/officeDocument/2006/relationships/image" Target="../media/image35.png"/><Relationship Id="rId8" Type="http://schemas.openxmlformats.org/officeDocument/2006/relationships/image" Target="../media/image8.png"/><Relationship Id="rId3" Type="http://schemas.openxmlformats.org/officeDocument/2006/relationships/image" Target="../media/image1.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33" Type="http://schemas.openxmlformats.org/officeDocument/2006/relationships/image" Target="../media/image33.png"/><Relationship Id="rId38" Type="http://schemas.openxmlformats.org/officeDocument/2006/relationships/image" Target="../media/image38.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80.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7.xml.rels>&#65279;<?xml version="1.0" encoding="utf-8"?><Relationships xmlns="http://schemas.openxmlformats.org/package/2006/relationships"><Relationship Type="http://schemas.openxmlformats.org/officeDocument/2006/relationships/image" Target="../media/image1.png" Id="rId3" /><Relationship Type="http://schemas.openxmlformats.org/officeDocument/2006/relationships/notesSlide" Target="../notesSlides/notesSlide7.xml" Id="rId2" /><Relationship Type="http://schemas.openxmlformats.org/officeDocument/2006/relationships/slideLayout" Target="../slideLayouts/slideLayout2.xml" Id="rId1" /><Relationship Type="http://schemas.openxmlformats.org/officeDocument/2006/relationships/image" Target="/ppt/media/image51.png" Id="R0c52c10721aa4e82"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0093" name="图片 8"/>
          <p:cNvPicPr>
            <a:picLocks noChangeAspect="1"/>
          </p:cNvPicPr>
          <p:nvPr/>
        </p:nvPicPr>
        <p:blipFill>
          <a:blip r:embed="rId3"/>
          <a:stretch/>
        </p:blipFill>
        <p:spPr>
          <a:xfrm>
            <a:off x="9334500" y="101112"/>
            <a:ext cx="2667000" cy="674077"/>
          </a:xfrm>
          <a:prstGeom prst="rect">
            <a:avLst/>
          </a:prstGeom>
        </p:spPr>
      </p:pic>
      <p:sp>
        <p:nvSpPr>
          <p:cNvPr id="100094" name="矩形 1">
            <a:extLst>
              <a:ext uri="{FF2B5EF4-FFF2-40B4-BE49-F238E27FC236}">
                <a16:creationId xmlns:a16="http://schemas.microsoft.com/office/drawing/2014/main" id="{443894F3-B7FD-4CD4-A538-A1ABC64AB601}"/>
              </a:ext>
            </a:extLst>
          </p:cNvPr>
          <p:cNvSpPr>
            <a:spLocks noGrp="1"/>
          </p:cNvSpPr>
          <p:nvPr/>
        </p:nvSpPr>
        <p:spPr>
          <a:xfrm>
            <a:off x="523875" y="2758821"/>
            <a:ext cx="11144250" cy="628650"/>
          </a:xfrm>
          <a:prstGeom prst="rect">
            <a:avLst/>
          </a:prstGeom>
          <a:noFill/>
          <a:ln w="0">
            <a:noFill/>
          </a:ln>
        </p:spPr>
        <p:txBody>
          <a:bodyPr>
            <a:noAutofit/>
          </a:bodyPr>
          <a:lstStyle/>
          <a:p>
            <a:pPr algn="ctr">
              <a:defRPr sz="3600">
                <a:solidFill>
                  <a:srgbClr val="000000"/>
                </a:solidFill>
                <a:latin typeface="宋体"/>
                <a:ea typeface="宋体"/>
                <a:cs typeface="宋体"/>
              </a:defRPr>
            </a:pPr>
            <a:r>
              <a:rPr lang="zh-CN" altLang="en-US" sz="3600">
                <a:solidFill>
                  <a:srgbClr val="000000"/>
                </a:solidFill>
                <a:latin typeface="Times New Roman" panose="02020603050405020304" pitchFamily="18" charset="0"/>
                <a:ea typeface="宋体"/>
                <a:cs typeface="Times New Roman" panose="02020603050405020304" pitchFamily="18" charset="0"/>
              </a:rPr>
              <a:t>组会汇报</a:t>
            </a:r>
            <a:endParaRPr sz="3600">
              <a:solidFill>
                <a:srgbClr val="000000"/>
              </a:solidFill>
              <a:latin typeface="Times New Roman" panose="02020603050405020304" pitchFamily="18" charset="0"/>
              <a:ea typeface="宋体"/>
              <a:cs typeface="Times New Roman" panose="02020603050405020304" pitchFamily="18" charset="0"/>
            </a:endParaRPr>
          </a:p>
        </p:txBody>
      </p:sp>
      <p:sp>
        <p:nvSpPr>
          <p:cNvPr id="100096" name="矩形 3">
            <a:extLst>
              <a:ext uri="{FF2B5EF4-FFF2-40B4-BE49-F238E27FC236}">
                <a16:creationId xmlns:a16="http://schemas.microsoft.com/office/drawing/2014/main" id="{FA768D31-7B61-43D6-8030-8E6B128FA6C4}"/>
              </a:ext>
            </a:extLst>
          </p:cNvPr>
          <p:cNvSpPr>
            <a:spLocks noGrp="1"/>
          </p:cNvSpPr>
          <p:nvPr/>
        </p:nvSpPr>
        <p:spPr>
          <a:xfrm>
            <a:off x="3810000" y="3705225"/>
            <a:ext cx="4572000" cy="6191"/>
          </a:xfrm>
          <a:prstGeom prst="rect">
            <a:avLst/>
          </a:prstGeom>
          <a:solidFill>
            <a:srgbClr val="999999"/>
          </a:solidFill>
          <a:ln w="0">
            <a:noFill/>
          </a:ln>
        </p:spPr>
      </p:sp>
      <p:sp>
        <p:nvSpPr>
          <p:cNvPr id="100098" name="矩形 5">
            <a:extLst>
              <a:ext uri="{FF2B5EF4-FFF2-40B4-BE49-F238E27FC236}">
                <a16:creationId xmlns:a16="http://schemas.microsoft.com/office/drawing/2014/main" id="{C5C0394A-C71E-4369-906B-BDA2FC01B40B}"/>
              </a:ext>
            </a:extLst>
          </p:cNvPr>
          <p:cNvSpPr>
            <a:spLocks noGrp="1"/>
          </p:cNvSpPr>
          <p:nvPr/>
        </p:nvSpPr>
        <p:spPr>
          <a:xfrm>
            <a:off x="523875" y="4029456"/>
            <a:ext cx="11144250" cy="428625"/>
          </a:xfrm>
          <a:prstGeom prst="rect">
            <a:avLst/>
          </a:prstGeom>
          <a:noFill/>
          <a:ln w="0">
            <a:noFill/>
          </a:ln>
        </p:spPr>
        <p:txBody>
          <a:bodyPr>
            <a:noAutofit/>
          </a:bodyPr>
          <a:lstStyle/>
          <a:p>
            <a:pPr algn="ctr">
              <a:defRPr sz="2250">
                <a:solidFill>
                  <a:srgbClr val="000000"/>
                </a:solidFill>
                <a:latin typeface="宋体"/>
                <a:ea typeface="宋体"/>
                <a:cs typeface="宋体"/>
              </a:defRPr>
            </a:pPr>
            <a:r>
              <a:rPr sz="2250">
                <a:solidFill>
                  <a:srgbClr val="000000"/>
                </a:solidFill>
                <a:latin typeface="Times New Roman" panose="02020603050405020304" pitchFamily="18" charset="0"/>
                <a:ea typeface="宋体"/>
                <a:cs typeface="Times New Roman" panose="02020603050405020304" pitchFamily="18" charset="0"/>
              </a:rPr>
              <a:t>姓名：吴斯栋</a:t>
            </a:r>
          </a:p>
        </p:txBody>
      </p:sp>
      <p:sp>
        <p:nvSpPr>
          <p:cNvPr id="100099" name="矩形 6">
            <a:extLst>
              <a:ext uri="{FF2B5EF4-FFF2-40B4-BE49-F238E27FC236}">
                <a16:creationId xmlns:a16="http://schemas.microsoft.com/office/drawing/2014/main" id="{227028D0-21C1-4043-A671-2DAB640E56E1}"/>
              </a:ext>
            </a:extLst>
          </p:cNvPr>
          <p:cNvSpPr>
            <a:spLocks noGrp="1"/>
          </p:cNvSpPr>
          <p:nvPr/>
        </p:nvSpPr>
        <p:spPr>
          <a:xfrm>
            <a:off x="523875" y="4478655"/>
            <a:ext cx="11144250" cy="428625"/>
          </a:xfrm>
          <a:prstGeom prst="rect">
            <a:avLst/>
          </a:prstGeom>
          <a:noFill/>
          <a:ln w="0">
            <a:noFill/>
          </a:ln>
        </p:spPr>
        <p:txBody>
          <a:bodyPr>
            <a:noAutofit/>
          </a:bodyPr>
          <a:lstStyle/>
          <a:p>
            <a:pPr algn="ctr">
              <a:defRPr sz="2250">
                <a:solidFill>
                  <a:srgbClr val="000000"/>
                </a:solidFill>
                <a:latin typeface="宋体"/>
                <a:ea typeface="宋体"/>
                <a:cs typeface="宋体"/>
              </a:defRPr>
            </a:pPr>
            <a:r>
              <a:rPr sz="2250">
                <a:solidFill>
                  <a:srgbClr val="000000"/>
                </a:solidFill>
                <a:latin typeface="Times New Roman" panose="02020603050405020304" pitchFamily="18" charset="0"/>
                <a:ea typeface="宋体"/>
                <a:cs typeface="Times New Roman" panose="02020603050405020304" pitchFamily="18" charset="0"/>
              </a:rPr>
              <a:t>导师：李飞教授</a:t>
            </a:r>
          </a:p>
        </p:txBody>
      </p:sp>
      <p:sp>
        <p:nvSpPr>
          <p:cNvPr id="100100" name="矩形 7">
            <a:extLst>
              <a:ext uri="{FF2B5EF4-FFF2-40B4-BE49-F238E27FC236}">
                <a16:creationId xmlns:a16="http://schemas.microsoft.com/office/drawing/2014/main" id="{F591E5F6-E1A3-42BB-86DC-F6E38CFC3C5B}"/>
              </a:ext>
            </a:extLst>
          </p:cNvPr>
          <p:cNvSpPr>
            <a:spLocks noGrp="1"/>
          </p:cNvSpPr>
          <p:nvPr/>
        </p:nvSpPr>
        <p:spPr>
          <a:xfrm>
            <a:off x="523875" y="4976622"/>
            <a:ext cx="11144250" cy="428625"/>
          </a:xfrm>
          <a:prstGeom prst="rect">
            <a:avLst/>
          </a:prstGeom>
          <a:noFill/>
          <a:ln w="0">
            <a:noFill/>
          </a:ln>
        </p:spPr>
        <p:txBody>
          <a:bodyPr>
            <a:noAutofit/>
          </a:bodyPr>
          <a:lstStyle/>
          <a:p>
            <a:pPr algn="ctr">
              <a:defRPr sz="2250">
                <a:solidFill>
                  <a:srgbClr val="000000"/>
                </a:solidFill>
                <a:latin typeface="宋体"/>
                <a:ea typeface="宋体"/>
                <a:cs typeface="宋体"/>
              </a:defRPr>
            </a:pPr>
            <a:r>
              <a:rPr sz="2250">
                <a:solidFill>
                  <a:srgbClr val="000000"/>
                </a:solidFill>
                <a:latin typeface="Times New Roman" panose="02020603050405020304" pitchFamily="18" charset="0"/>
                <a:ea typeface="宋体"/>
                <a:cs typeface="Times New Roman" panose="02020603050405020304" pitchFamily="18" charset="0"/>
              </a:rPr>
              <a:t>日期：2026.9.15</a:t>
            </a:r>
          </a:p>
        </p:txBody>
      </p:sp>
    </p:spTree>
    <p:extLst>
      <p:ext uri="{BB962C8B-B14F-4D97-AF65-F5344CB8AC3E}">
        <p14:creationId xmlns:p14="http://schemas.microsoft.com/office/powerpoint/2010/main" val="130203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QGA完整迭代流程">
    <p:bg>
      <p:bgPr>
        <a:solidFill>
          <a:srgbClr val="FFFFFF"/>
        </a:solidFill>
        <a:effectLst/>
      </p:bgPr>
    </p:bg>
    <p:spTree>
      <p:nvGrpSpPr>
        <p:cNvPr id="1" name=""/>
        <p:cNvGrpSpPr/>
        <p:nvPr/>
      </p:nvGrpSpPr>
      <p:grpSpPr>
        <a:xfrm>
          <a:off x="0" y="0"/>
          <a:ext cx="0" cy="0"/>
          <a:chOff x="0" y="0"/>
          <a:chExt cx="0" cy="0"/>
        </a:xfrm>
      </p:grpSpPr>
      <p:pic>
        <p:nvPicPr>
          <p:cNvPr id="200048"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200049"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当前目标</a:t>
            </a:r>
          </a:p>
        </p:txBody>
      </p:sp>
      <p:cxnSp>
        <p:nvCxnSpPr>
          <p:cNvPr id="200050" name="header_rule"/>
          <p:cNvCxnSpPr/>
          <p:nvPr/>
        </p:nvCxnSpPr>
        <p:spPr>
          <a:xfrm>
            <a:off x="546100" y="711200"/>
            <a:ext cx="8318500" cy="0"/>
          </a:xfrm>
          <a:prstGeom prst="straightConnector1">
            <a:avLst/>
          </a:prstGeom>
          <a:ln w="6985">
            <a:solidFill>
              <a:srgbClr val="A0A0A0"/>
            </a:solidFill>
          </a:ln>
        </p:spPr>
      </p:cxnSp>
      <p:cxnSp>
        <p:nvCxnSpPr>
          <p:cNvPr id="200051" name="column_rule"/>
          <p:cNvCxnSpPr/>
          <p:nvPr/>
        </p:nvCxnSpPr>
        <p:spPr>
          <a:xfrm>
            <a:off x="5384800" y="1041400"/>
            <a:ext cx="0" cy="5143500"/>
          </a:xfrm>
          <a:prstGeom prst="straightConnector1">
            <a:avLst/>
          </a:prstGeom>
          <a:ln w="6350">
            <a:solidFill>
              <a:srgbClr val="B5B5B5"/>
            </a:solidFill>
          </a:ln>
        </p:spPr>
      </p:cxnSp>
      <p:cxnSp>
        <p:nvCxnSpPr>
          <p:cNvPr id="200058" name="footer_rule"/>
          <p:cNvCxnSpPr/>
          <p:nvPr/>
        </p:nvCxnSpPr>
        <p:spPr>
          <a:xfrm>
            <a:off x="546100" y="6337300"/>
            <a:ext cx="11074400" cy="0"/>
          </a:xfrm>
          <a:prstGeom prst="straightConnector1">
            <a:avLst/>
          </a:prstGeom>
          <a:ln w="6350">
            <a:solidFill>
              <a:srgbClr val="B5B5B5"/>
            </a:solidFill>
          </a:ln>
        </p:spPr>
      </p:cxnSp>
      <p:sp>
        <p:nvSpPr>
          <p:cNvPr id="300001" name="revision_text_300001"/>
          <p:cNvSpPr txBox="1"/>
          <p:nvPr/>
        </p:nvSpPr>
        <p:spPr>
          <a:xfrm>
            <a:off x="1168400" y="1625600"/>
            <a:ext cx="3048000" cy="584200"/>
          </a:xfrm>
          <a:prstGeom prst="rect">
            <a:avLst/>
          </a:prstGeom>
          <a:solidFill>
            <a:srgbClr val="FFFFFF"/>
          </a:solidFill>
          <a:ln w="11430">
            <a:solidFill>
              <a:srgbClr val="000000"/>
            </a:solidFill>
          </a:ln>
        </p:spPr>
        <p:txBody>
          <a:bodyPr lIns="0" tIns="0" rIns="0" bIns="0" anchor="ctr">
            <a:noAutofit/>
          </a:bodyPr>
          <a:lstStyle/>
          <a:p>
            <a:pPr algn="ctr">
              <a:lnSpc>
                <a:spcPct val="115000"/>
              </a:lnSpc>
            </a:pPr>
            <a:r>
              <a:rPr lang="en-US" sz="1600" b="0">
                <a:solidFill>
                  <a:srgbClr val="000000"/>
                </a:solidFill>
                <a:latin typeface="Times New Roman"/>
                <a:ea typeface="宋体"/>
              </a:rPr>
              <a:t>含噪雷达量测</a:t>
            </a:r>
          </a:p>
        </p:txBody>
      </p:sp>
      <p:sp>
        <p:nvSpPr>
          <p:cNvPr id="300002" name="revision_text_300002"/>
          <p:cNvSpPr txBox="1"/>
          <p:nvPr/>
        </p:nvSpPr>
        <p:spPr>
          <a:xfrm>
            <a:off x="1168400" y="2743200"/>
            <a:ext cx="3048000" cy="584200"/>
          </a:xfrm>
          <a:prstGeom prst="rect">
            <a:avLst/>
          </a:prstGeom>
          <a:solidFill>
            <a:srgbClr val="FFFFFF"/>
          </a:solidFill>
          <a:ln w="11430">
            <a:solidFill>
              <a:srgbClr val="000000"/>
            </a:solidFill>
          </a:ln>
        </p:spPr>
        <p:txBody>
          <a:bodyPr lIns="0" tIns="0" rIns="0" bIns="0" anchor="ctr">
            <a:noAutofit/>
          </a:bodyPr>
          <a:lstStyle/>
          <a:p>
            <a:pPr algn="ctr">
              <a:lnSpc>
                <a:spcPct val="115000"/>
              </a:lnSpc>
            </a:pPr>
            <a:r>
              <a:rPr lang="en-US" sz="1600" b="0">
                <a:solidFill>
                  <a:srgbClr val="000000"/>
                </a:solidFill>
                <a:latin typeface="Times New Roman"/>
                <a:ea typeface="宋体"/>
              </a:rPr>
              <a:t>历史状态序列</a:t>
            </a:r>
          </a:p>
        </p:txBody>
      </p:sp>
      <p:sp>
        <p:nvSpPr>
          <p:cNvPr id="300003" name="revision_text_300003"/>
          <p:cNvSpPr txBox="1"/>
          <p:nvPr/>
        </p:nvSpPr>
        <p:spPr>
          <a:xfrm>
            <a:off x="1168400" y="3860800"/>
            <a:ext cx="3048000" cy="584200"/>
          </a:xfrm>
          <a:prstGeom prst="rect">
            <a:avLst/>
          </a:prstGeom>
          <a:solidFill>
            <a:srgbClr val="FFFFFF"/>
          </a:solidFill>
          <a:ln w="11430">
            <a:solidFill>
              <a:srgbClr val="000000"/>
            </a:solidFill>
          </a:ln>
        </p:spPr>
        <p:txBody>
          <a:bodyPr lIns="0" tIns="0" rIns="0" bIns="0" anchor="ctr">
            <a:noAutofit/>
          </a:bodyPr>
          <a:lstStyle/>
          <a:p>
            <a:pPr algn="ctr">
              <a:lnSpc>
                <a:spcPct val="115000"/>
              </a:lnSpc>
            </a:pPr>
            <a:r>
              <a:rPr lang="en-US" sz="1600" b="0">
                <a:solidFill>
                  <a:srgbClr val="000000"/>
                </a:solidFill>
                <a:latin typeface="Times New Roman"/>
                <a:ea typeface="宋体"/>
              </a:rPr>
              <a:t>车辆交互图</a:t>
            </a:r>
          </a:p>
        </p:txBody>
      </p:sp>
      <p:sp>
        <p:nvSpPr>
          <p:cNvPr id="300004" name="revision_text_300004"/>
          <p:cNvSpPr txBox="1"/>
          <p:nvPr/>
        </p:nvSpPr>
        <p:spPr>
          <a:xfrm>
            <a:off x="1168400" y="4978400"/>
            <a:ext cx="3048000" cy="584200"/>
          </a:xfrm>
          <a:prstGeom prst="rect">
            <a:avLst/>
          </a:prstGeom>
          <a:solidFill>
            <a:srgbClr val="FFFFFF"/>
          </a:solidFill>
          <a:ln w="11430">
            <a:solidFill>
              <a:srgbClr val="000000"/>
            </a:solidFill>
          </a:ln>
        </p:spPr>
        <p:txBody>
          <a:bodyPr lIns="0" tIns="0" rIns="0" bIns="0" anchor="ctr">
            <a:noAutofit/>
          </a:bodyPr>
          <a:lstStyle/>
          <a:p>
            <a:pPr algn="ctr">
              <a:lnSpc>
                <a:spcPct val="115000"/>
              </a:lnSpc>
            </a:pPr>
            <a:r>
              <a:rPr lang="en-US" sz="1600" b="0">
                <a:solidFill>
                  <a:srgbClr val="000000"/>
                </a:solidFill>
                <a:latin typeface="Times New Roman"/>
                <a:ea typeface="宋体"/>
              </a:rPr>
              <a:t>未来20步轨迹</a:t>
            </a:r>
          </a:p>
        </p:txBody>
      </p:sp>
      <p:cxnSp>
        <p:nvCxnSpPr>
          <p:cNvPr id="300005" name="goal_flow_300005"/>
          <p:cNvCxnSpPr/>
          <p:nvPr/>
        </p:nvCxnSpPr>
        <p:spPr>
          <a:xfrm>
            <a:off x="2692400" y="2209800"/>
            <a:ext cx="0" cy="533400"/>
          </a:xfrm>
          <a:prstGeom prst="straightConnector1">
            <a:avLst/>
          </a:prstGeom>
          <a:ln w="11430">
            <a:solidFill>
              <a:srgbClr val="000000"/>
            </a:solidFill>
            <a:headEnd type="none"/>
            <a:tailEnd type="triangle"/>
          </a:ln>
        </p:spPr>
      </p:cxnSp>
      <p:cxnSp>
        <p:nvCxnSpPr>
          <p:cNvPr id="300006" name="goal_flow_300006"/>
          <p:cNvCxnSpPr/>
          <p:nvPr/>
        </p:nvCxnSpPr>
        <p:spPr>
          <a:xfrm>
            <a:off x="2692400" y="3327400"/>
            <a:ext cx="0" cy="533400"/>
          </a:xfrm>
          <a:prstGeom prst="straightConnector1">
            <a:avLst/>
          </a:prstGeom>
          <a:ln w="11430">
            <a:solidFill>
              <a:srgbClr val="000000"/>
            </a:solidFill>
            <a:headEnd type="none"/>
            <a:tailEnd type="triangle"/>
          </a:ln>
        </p:spPr>
      </p:cxnSp>
      <p:cxnSp>
        <p:nvCxnSpPr>
          <p:cNvPr id="300007" name="goal_flow_300007"/>
          <p:cNvCxnSpPr/>
          <p:nvPr/>
        </p:nvCxnSpPr>
        <p:spPr>
          <a:xfrm>
            <a:off x="2692400" y="4445000"/>
            <a:ext cx="0" cy="533400"/>
          </a:xfrm>
          <a:prstGeom prst="straightConnector1">
            <a:avLst/>
          </a:prstGeom>
          <a:ln w="11430">
            <a:solidFill>
              <a:srgbClr val="000000"/>
            </a:solidFill>
            <a:headEnd type="none"/>
            <a:tailEnd type="triangle"/>
          </a:ln>
        </p:spPr>
      </p:cxnSp>
      <p:sp>
        <p:nvSpPr>
          <p:cNvPr id="300008" name="revision_text_300008"/>
          <p:cNvSpPr txBox="1"/>
          <p:nvPr/>
        </p:nvSpPr>
        <p:spPr>
          <a:xfrm>
            <a:off x="5727700" y="1409700"/>
            <a:ext cx="5892800" cy="381000"/>
          </a:xfrm>
          <a:prstGeom prst="rect">
            <a:avLst/>
          </a:prstGeom>
          <a:noFill/>
          <a:ln>
            <a:noFill/>
          </a:ln>
        </p:spPr>
        <p:txBody>
          <a:bodyPr lIns="0" tIns="0" rIns="0" bIns="0" anchor="ctr">
            <a:noAutofit/>
          </a:bodyPr>
          <a:lstStyle/>
          <a:p>
            <a:pPr algn="l">
              <a:lnSpc>
                <a:spcPct val="115000"/>
              </a:lnSpc>
            </a:pPr>
            <a:r>
              <a:rPr lang="en-US" sz="1600" b="1">
                <a:solidFill>
                  <a:srgbClr val="000000"/>
                </a:solidFill>
                <a:latin typeface="Times New Roman"/>
                <a:ea typeface="宋体"/>
              </a:rPr>
              <a:t>基于QGNN＋LLM的多目标轨迹预测</a:t>
            </a:r>
          </a:p>
        </p:txBody>
      </p:sp>
      <p:sp>
        <p:nvSpPr>
          <p:cNvPr id="300009" name="revision_text_300009"/>
          <p:cNvSpPr txBox="1"/>
          <p:nvPr/>
        </p:nvSpPr>
        <p:spPr>
          <a:xfrm>
            <a:off x="5727700" y="1943100"/>
            <a:ext cx="5892800" cy="723900"/>
          </a:xfrm>
          <a:prstGeom prst="rect">
            <a:avLst/>
          </a:prstGeom>
          <a:noFill/>
          <a:ln>
            <a:noFill/>
          </a:ln>
        </p:spPr>
        <p:txBody>
          <a:bodyPr lIns="0" tIns="0" rIns="0" bIns="0" anchor="ctr">
            <a:noAutofit/>
          </a:bodyPr>
          <a:lstStyle/>
          <a:p>
            <a:pPr algn="l">
              <a:lnSpc>
                <a:spcPct val="115000"/>
              </a:lnSpc>
            </a:pPr>
            <a:r>
              <a:rPr lang="en-US" sz="1300" b="0">
                <a:solidFill>
                  <a:srgbClr val="000000"/>
                </a:solidFill>
                <a:latin typeface="Times New Roman"/>
                <a:ea typeface="宋体"/>
              </a:rPr>
              <a:t>含噪历史量测经状态估计，形成过去20帧的</a:t>
            </a:r>
          </a:p>
          <a:p>
            <a:pPr algn="l">
              <a:lnSpc>
                <a:spcPct val="115000"/>
              </a:lnSpc>
            </a:pPr>
            <a:r>
              <a:rPr lang="en-US" sz="1300" b="0">
                <a:solidFill>
                  <a:srgbClr val="000000"/>
                </a:solidFill>
                <a:latin typeface="Times New Roman"/>
                <a:ea typeface="宋体"/>
              </a:rPr>
              <a:t>位置、速度和有效性标记。</a:t>
            </a:r>
          </a:p>
        </p:txBody>
      </p:sp>
      <p:sp>
        <p:nvSpPr>
          <p:cNvPr id="300010" name="revision_text_300010"/>
          <p:cNvSpPr txBox="1"/>
          <p:nvPr/>
        </p:nvSpPr>
        <p:spPr>
          <a:xfrm>
            <a:off x="5727700" y="2908300"/>
            <a:ext cx="5892800" cy="330200"/>
          </a:xfrm>
          <a:prstGeom prst="rect">
            <a:avLst/>
          </a:prstGeom>
          <a:noFill/>
          <a:ln>
            <a:noFill/>
          </a:ln>
        </p:spPr>
        <p:txBody>
          <a:bodyPr lIns="0" tIns="0" rIns="0" bIns="0" anchor="ctr">
            <a:noAutofit/>
          </a:bodyPr>
          <a:lstStyle/>
          <a:p>
            <a:pPr algn="l">
              <a:lnSpc>
                <a:spcPct val="115000"/>
              </a:lnSpc>
            </a:pPr>
            <a:r>
              <a:rPr lang="en-US" sz="1600" b="1">
                <a:solidFill>
                  <a:srgbClr val="000000"/>
                </a:solidFill>
                <a:latin typeface="Times New Roman"/>
                <a:ea typeface="宋体"/>
              </a:rPr>
              <a:t>研究问题</a:t>
            </a:r>
          </a:p>
        </p:txBody>
      </p:sp>
      <p:sp>
        <p:nvSpPr>
          <p:cNvPr id="300011" name="revision_text_300011"/>
          <p:cNvSpPr txBox="1"/>
          <p:nvPr/>
        </p:nvSpPr>
        <p:spPr>
          <a:xfrm>
            <a:off x="5727700" y="3365500"/>
            <a:ext cx="5892800" cy="1219200"/>
          </a:xfrm>
          <a:prstGeom prst="rect">
            <a:avLst/>
          </a:prstGeom>
          <a:noFill/>
          <a:ln>
            <a:noFill/>
          </a:ln>
        </p:spPr>
        <p:txBody>
          <a:bodyPr lIns="0" tIns="0" rIns="0" bIns="0" anchor="ctr">
            <a:noAutofit/>
          </a:bodyPr>
          <a:lstStyle/>
          <a:p>
            <a:pPr algn="l">
              <a:lnSpc>
                <a:spcPct val="115000"/>
              </a:lnSpc>
            </a:pPr>
            <a:r>
              <a:rPr lang="en-US" sz="1300" b="0">
                <a:solidFill>
                  <a:srgbClr val="000000"/>
                </a:solidFill>
                <a:latin typeface="Times New Roman"/>
                <a:ea typeface="宋体"/>
              </a:rPr>
              <a:t>经典GNN用神经网络计算车辆间交互权重。</a:t>
            </a:r>
          </a:p>
          <a:p>
            <a:pPr algn="l">
              <a:lnSpc>
                <a:spcPct val="115000"/>
              </a:lnSpc>
            </a:pPr>
            <a:r>
              <a:rPr lang="en-US" sz="1300" b="0">
                <a:solidFill>
                  <a:srgbClr val="000000"/>
                </a:solidFill>
                <a:latin typeface="Times New Roman"/>
                <a:ea typeface="宋体"/>
              </a:rPr>
              <a:t>用参数化量子电路生成关系权重与门控，</a:t>
            </a:r>
          </a:p>
          <a:p>
            <a:pPr algn="l">
              <a:lnSpc>
                <a:spcPct val="115000"/>
              </a:lnSpc>
            </a:pPr>
            <a:r>
              <a:rPr lang="en-US" sz="1300" b="0">
                <a:solidFill>
                  <a:srgbClr val="000000"/>
                </a:solidFill>
                <a:latin typeface="Times New Roman"/>
                <a:ea typeface="宋体"/>
              </a:rPr>
              <a:t>研究其对复杂车辆交互的表达能力。</a:t>
            </a:r>
          </a:p>
          <a:p>
            <a:pPr algn="l">
              <a:lnSpc>
                <a:spcPct val="115000"/>
              </a:lnSpc>
            </a:pPr>
            <a:r>
              <a:rPr lang="en-US" sz="1300" b="0">
                <a:solidFill>
                  <a:srgbClr val="000000"/>
                </a:solidFill>
                <a:latin typeface="Times New Roman"/>
                <a:ea typeface="宋体"/>
              </a:rPr>
              <a:t>图特征送入GPT-2＋LoRA，预测轨迹修正量。</a:t>
            </a:r>
          </a:p>
        </p:txBody>
      </p:sp>
      <p:sp>
        <p:nvSpPr>
          <p:cNvPr id="300012" name="revision_text_300012"/>
          <p:cNvSpPr txBox="1"/>
          <p:nvPr/>
        </p:nvSpPr>
        <p:spPr>
          <a:xfrm>
            <a:off x="5727700" y="4889500"/>
            <a:ext cx="5892800" cy="317500"/>
          </a:xfrm>
          <a:prstGeom prst="rect">
            <a:avLst/>
          </a:prstGeom>
          <a:noFill/>
          <a:ln>
            <a:noFill/>
          </a:ln>
        </p:spPr>
        <p:txBody>
          <a:bodyPr lIns="0" tIns="0" rIns="0" bIns="0" anchor="ctr">
            <a:noAutofit/>
          </a:bodyPr>
          <a:lstStyle/>
          <a:p>
            <a:pPr algn="l">
              <a:lnSpc>
                <a:spcPct val="115000"/>
              </a:lnSpc>
            </a:pPr>
            <a:r>
              <a:rPr lang="en-US" sz="1600" b="1">
                <a:solidFill>
                  <a:srgbClr val="000000"/>
                </a:solidFill>
                <a:latin typeface="Times New Roman"/>
                <a:ea typeface="宋体"/>
              </a:rPr>
              <a:t>比较与评价</a:t>
            </a:r>
          </a:p>
        </p:txBody>
      </p:sp>
      <p:sp>
        <p:nvSpPr>
          <p:cNvPr id="300013" name="revision_text_300013"/>
          <p:cNvSpPr txBox="1"/>
          <p:nvPr/>
        </p:nvSpPr>
        <p:spPr>
          <a:xfrm>
            <a:off x="5727700" y="5359400"/>
            <a:ext cx="5892800" cy="698500"/>
          </a:xfrm>
          <a:prstGeom prst="rect">
            <a:avLst/>
          </a:prstGeom>
          <a:noFill/>
          <a:ln>
            <a:noFill/>
          </a:ln>
        </p:spPr>
        <p:txBody>
          <a:bodyPr lIns="0" tIns="0" rIns="0" bIns="0" anchor="ctr">
            <a:noAutofit/>
          </a:bodyPr>
          <a:lstStyle/>
          <a:p>
            <a:pPr algn="l">
              <a:lnSpc>
                <a:spcPct val="115000"/>
              </a:lnSpc>
            </a:pPr>
            <a:r>
              <a:rPr lang="en-US" sz="1300" b="0">
                <a:solidFill>
                  <a:srgbClr val="000000"/>
                </a:solidFill>
                <a:latin typeface="Times New Roman"/>
                <a:ea typeface="宋体"/>
              </a:rPr>
              <a:t>保持输入与时间预测器一致，比较GNN和QGNN。</a:t>
            </a:r>
          </a:p>
          <a:p>
            <a:pPr algn="l">
              <a:lnSpc>
                <a:spcPct val="115000"/>
              </a:lnSpc>
            </a:pPr>
            <a:r>
              <a:rPr lang="en-US" sz="1300" b="0">
                <a:solidFill>
                  <a:srgbClr val="000000"/>
                </a:solidFill>
                <a:latin typeface="Times New Roman"/>
                <a:ea typeface="宋体"/>
              </a:rPr>
              <a:t>分别报告ADE、FDE，并查看典型轨迹误差。</a:t>
            </a:r>
          </a:p>
        </p:txBody>
      </p:sp>
      <p:sp>
        <p:nvSpPr>
          <p:cNvPr id="300014" name="revision_text_300014"/>
          <p:cNvSpPr txBox="1"/>
          <p:nvPr/>
        </p:nvSpPr>
        <p:spPr>
          <a:xfrm>
            <a:off x="546100" y="6477000"/>
            <a:ext cx="11074400" cy="292100"/>
          </a:xfrm>
          <a:prstGeom prst="rect">
            <a:avLst/>
          </a:prstGeom>
          <a:noFill/>
          <a:ln>
            <a:noFill/>
          </a:ln>
        </p:spPr>
        <p:txBody>
          <a:bodyPr lIns="0" tIns="0" rIns="0" bIns="0" anchor="ctr">
            <a:noAutofit/>
          </a:bodyPr>
          <a:lstStyle/>
          <a:p>
            <a:pPr algn="l">
              <a:lnSpc>
                <a:spcPct val="115000"/>
              </a:lnSpc>
            </a:pPr>
            <a:r>
              <a:rPr lang="en-US" sz="1200" b="0">
                <a:solidFill>
                  <a:srgbClr val="000000"/>
                </a:solidFill>
                <a:latin typeface="Times New Roman"/>
                <a:ea typeface="宋体"/>
              </a:rPr>
              <a:t>利用历史运动与车辆交互信息，预测未来2秒的二维轨迹。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QGA完整迭代流程">
    <p:bg>
      <p:bgPr>
        <a:solidFill>
          <a:srgbClr val="FFFFFF"/>
        </a:solidFill>
        <a:effectLst/>
      </p:bgPr>
    </p:bg>
    <p:spTree>
      <p:nvGrpSpPr>
        <p:cNvPr id="1" name=""/>
        <p:cNvGrpSpPr/>
        <p:nvPr/>
      </p:nvGrpSpPr>
      <p:grpSpPr>
        <a:xfrm>
          <a:off x="0" y="0"/>
          <a:ext cx="0" cy="0"/>
          <a:chOff x="0" y="0"/>
          <a:chExt cx="0" cy="0"/>
        </a:xfrm>
      </p:grpSpPr>
      <p:pic>
        <p:nvPicPr>
          <p:cNvPr id="100101"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02"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系统整体架构</a:t>
            </a:r>
          </a:p>
        </p:txBody>
      </p:sp>
      <p:cxnSp>
        <p:nvCxnSpPr>
          <p:cNvPr id="100103" name="header_rule"/>
          <p:cNvCxnSpPr/>
          <p:nvPr/>
        </p:nvCxnSpPr>
        <p:spPr>
          <a:xfrm>
            <a:off x="546100" y="711200"/>
            <a:ext cx="8318500" cy="0"/>
          </a:xfrm>
          <a:prstGeom prst="straightConnector1">
            <a:avLst/>
          </a:prstGeom>
          <a:ln w="6985">
            <a:solidFill>
              <a:srgbClr val="A0A0A0"/>
            </a:solidFill>
          </a:ln>
        </p:spPr>
      </p:cxnSp>
      <p:cxnSp>
        <p:nvCxnSpPr>
          <p:cNvPr id="100105" name="column_rule"/>
          <p:cNvCxnSpPr/>
          <p:nvPr/>
        </p:nvCxnSpPr>
        <p:spPr>
          <a:xfrm>
            <a:off x="5384800" y="1041400"/>
            <a:ext cx="0" cy="5143500"/>
          </a:xfrm>
          <a:prstGeom prst="straightConnector1">
            <a:avLst/>
          </a:prstGeom>
          <a:ln w="6350">
            <a:solidFill>
              <a:srgbClr val="B5B5B5"/>
            </a:solidFill>
          </a:ln>
        </p:spPr>
      </p:cxnSp>
      <p:sp>
        <p:nvSpPr>
          <p:cNvPr id="100106" name="iteration_heading"/>
          <p:cNvSpPr/>
          <p:nvPr/>
        </p:nvSpPr>
        <p:spPr>
          <a:xfrm>
            <a:off x="5727700" y="1066800"/>
            <a:ext cx="58928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输入与车辆交互图</a:t>
            </a:r>
          </a:p>
        </p:txBody>
      </p:sp>
      <p:sp>
        <p:nvSpPr>
          <p:cNvPr id="100107" name="iteration_text"/>
          <p:cNvSpPr/>
          <p:nvPr/>
        </p:nvSpPr>
        <p:spPr>
          <a:xfrm>
            <a:off x="5727700" y="1524000"/>
            <a:ext cx="5892800" cy="825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过去20帧的位置、速度及有效性标记。</a:t>
            </a:r>
          </a:p>
          <a:p>
            <a:pPr algn="l">
              <a:lnSpc>
                <a:spcPts val="2000"/>
              </a:lnSpc>
              <a:spcBef>
                <a:spcPts val="0"/>
              </a:spcBef>
              <a:spcAft>
                <a:spcPts val="0"/>
              </a:spcAft>
            </a:pPr>
            <a:r>
              <a:rPr lang="en-US" sz="1300" b="0">
                <a:solidFill>
                  <a:srgbClr val="000000"/>
                </a:solidFill>
                <a:latin typeface="Times New Roman"/>
                <a:ea typeface="宋体"/>
                <a:cs typeface="Times New Roman"/>
              </a:rPr>
              <a:t>每车为一个节点，45m邻域连接并保留自环。</a:t>
            </a:r>
          </a:p>
          <a:p>
            <a:pPr algn="l">
              <a:lnSpc>
                <a:spcPts val="2000"/>
              </a:lnSpc>
              <a:spcBef>
                <a:spcPts val="0"/>
              </a:spcBef>
              <a:spcAft>
                <a:spcPts val="0"/>
              </a:spcAft>
            </a:pPr>
            <a:r>
              <a:rPr lang="en-US" sz="1300" b="0">
                <a:solidFill>
                  <a:srgbClr val="000000"/>
                </a:solidFill>
                <a:latin typeface="Times New Roman"/>
                <a:ea typeface="宋体"/>
                <a:cs typeface="Times New Roman"/>
              </a:rPr>
              <a:t>每帧两层消息传播，得到每车128维图特征。</a:t>
            </a:r>
          </a:p>
        </p:txBody>
      </p:sp>
      <p:sp>
        <p:nvSpPr>
          <p:cNvPr id="100108" name="smooth_heading"/>
          <p:cNvSpPr/>
          <p:nvPr/>
        </p:nvSpPr>
        <p:spPr>
          <a:xfrm>
            <a:off x="5727700" y="2679700"/>
            <a:ext cx="58928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时间预测与轨迹修正</a:t>
            </a:r>
          </a:p>
        </p:txBody>
      </p:sp>
      <p:sp>
        <p:nvSpPr>
          <p:cNvPr id="100110" name="smooth_text"/>
          <p:cNvSpPr/>
          <p:nvPr/>
        </p:nvSpPr>
        <p:spPr>
          <a:xfrm>
            <a:off x="5727700" y="3619500"/>
            <a:ext cx="5892800" cy="571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图特征与本车状态映射为768维数值token。</a:t>
            </a:r>
          </a:p>
          <a:p>
            <a:pPr algn="l">
              <a:lnSpc>
                <a:spcPts val="2000"/>
              </a:lnSpc>
              <a:spcBef>
                <a:spcPts val="0"/>
              </a:spcBef>
              <a:spcAft>
                <a:spcPts val="0"/>
              </a:spcAft>
            </a:pPr>
            <a:r>
              <a:rPr lang="en-US" sz="1300" b="0">
                <a:solidFill>
                  <a:srgbClr val="000000"/>
                </a:solidFill>
                <a:latin typeface="Times New Roman"/>
                <a:ea typeface="宋体"/>
                <a:cs typeface="Times New Roman"/>
              </a:rPr>
              <a:t>共享GPT-2＋LoRA处理每车序列，输出位置修正量。</a:t>
            </a:r>
          </a:p>
        </p:txBody>
      </p:sp>
      <p:sp>
        <p:nvSpPr>
          <p:cNvPr id="100111" name="recovery_heading"/>
          <p:cNvSpPr/>
          <p:nvPr/>
        </p:nvSpPr>
        <p:spPr>
          <a:xfrm>
            <a:off x="5727700" y="4470400"/>
            <a:ext cx="58928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训练与预测范围</a:t>
            </a:r>
          </a:p>
        </p:txBody>
      </p:sp>
      <p:sp>
        <p:nvSpPr>
          <p:cNvPr id="100113" name="recovery_text"/>
          <p:cNvSpPr/>
          <p:nvPr/>
        </p:nvSpPr>
        <p:spPr>
          <a:xfrm>
            <a:off x="5727700" y="5384800"/>
            <a:ext cx="5892800" cy="825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每个场景最多8辆车，预测未来20步二维位置。</a:t>
            </a:r>
          </a:p>
          <a:p>
            <a:pPr algn="l">
              <a:lnSpc>
                <a:spcPts val="2000"/>
              </a:lnSpc>
              <a:spcBef>
                <a:spcPts val="0"/>
              </a:spcBef>
              <a:spcAft>
                <a:spcPts val="0"/>
              </a:spcAft>
            </a:pPr>
            <a:r>
              <a:rPr lang="en-US" sz="1300" b="0">
                <a:solidFill>
                  <a:srgbClr val="000000"/>
                </a:solidFill>
                <a:latin typeface="Times New Roman"/>
                <a:ea typeface="宋体"/>
                <a:cs typeface="Times New Roman"/>
              </a:rPr>
              <a:t>冻结GPT-2基座，联合训练QGNN、LoRA、</a:t>
            </a:r>
          </a:p>
          <a:p>
            <a:pPr algn="l">
              <a:lnSpc>
                <a:spcPts val="2000"/>
              </a:lnSpc>
              <a:spcBef>
                <a:spcPts val="0"/>
              </a:spcBef>
              <a:spcAft>
                <a:spcPts val="0"/>
              </a:spcAft>
            </a:pPr>
            <a:r>
              <a:rPr lang="en-US" sz="1300" b="0">
                <a:solidFill>
                  <a:srgbClr val="000000"/>
                </a:solidFill>
                <a:latin typeface="Times New Roman"/>
                <a:ea typeface="宋体"/>
                <a:cs typeface="Times New Roman"/>
              </a:rPr>
              <a:t>输入适配器与预测头。</a:t>
            </a:r>
          </a:p>
        </p:txBody>
      </p:sp>
      <p:cxnSp>
        <p:nvCxnSpPr>
          <p:cNvPr id="100114" name="footer_rule"/>
          <p:cNvCxnSpPr/>
          <p:nvPr/>
        </p:nvCxnSpPr>
        <p:spPr>
          <a:xfrm>
            <a:off x="546100" y="6337300"/>
            <a:ext cx="11074400" cy="0"/>
          </a:xfrm>
          <a:prstGeom prst="straightConnector1">
            <a:avLst/>
          </a:prstGeom>
          <a:ln w="6350">
            <a:solidFill>
              <a:srgbClr val="B5B5B5"/>
            </a:solidFill>
          </a:ln>
        </p:spPr>
      </p:cxnSp>
      <p:sp>
        <p:nvSpPr>
          <p:cNvPr id="100115" name="output"/>
          <p:cNvSpPr/>
          <p:nvPr/>
        </p:nvSpPr>
        <p:spPr>
          <a:xfrm>
            <a:off x="546100" y="6477000"/>
            <a:ext cx="11074400" cy="292100"/>
          </a:xfrm>
          <a:prstGeom prst="rect">
            <a:avLst/>
          </a:prstGeom>
          <a:noFill/>
          <a:ln>
            <a:noFill/>
          </a:ln>
        </p:spPr>
        <p:txBody>
          <a:bodyPr lIns="0" tIns="0" rIns="0" bIns="0" anchor="t">
            <a:noAutofit/>
          </a:bodyPr>
          <a:lstStyle/>
          <a:p>
            <a:pPr algn="l">
              <a:lnSpc>
                <a:spcPts val="1800"/>
              </a:lnSpc>
              <a:spcBef>
                <a:spcPts val="0"/>
              </a:spcBef>
              <a:spcAft>
                <a:spcPts val="0"/>
              </a:spcAft>
            </a:pPr>
            <a:r>
              <a:rPr lang="en-US" sz="1200" b="0">
                <a:solidFill>
                  <a:srgbClr val="000000"/>
                </a:solidFill>
                <a:latin typeface="Times New Roman"/>
                <a:ea typeface="宋体"/>
                <a:cs typeface="Times New Roman"/>
              </a:rPr>
              <a:t>从多车历史状态预测未来2秒轨迹；GNN对照接入相同的时间预测器。</a:t>
            </a:r>
          </a:p>
        </p:txBody>
      </p:sp>
      <mc:AlternateContent xmlns:mc="http://schemas.openxmlformats.org/markup-compatibility/2006" xmlns:a14="http://schemas.microsoft.com/office/drawing/2010/main">
        <mc:Choice Requires="a14">
          <p:sp>
            <p:nvSpPr>
              <p:cNvPr id="200001" name="final_trajectory" descr="LaTeX: \hat{\mathbf{p}}_{t+\tau}=\hat{\mathbf{p}}_t+\tau\hat{\mathbf{v}}_t+\Delta\mathbf{p}_{t+\tau}"/>
              <p:cNvSpPr/>
              <p:nvPr/>
            </p:nvSpPr>
            <p:spPr>
              <a:xfrm>
                <a:off x="5727700" y="3098800"/>
                <a:ext cx="5892800" cy="431800"/>
              </a:xfrm>
            </p:spPr>
            <p:txBody>
              <a:bodyPr lIns="0" tIns="0" rIns="0" bIns="0" anchor="ctr"/>
              <a:lstStyle/>
              <a:p>
                <a:pPr algn="ctr">
                  <a:defRPr lang="en-US" sz="19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𝐩</m:t>
                                  </m:r>
                                </m:e>
                              </m:acc>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𝜏</m:t>
                              </m:r>
                            </m:sub>
                          </m:sSub>
                          <m:r>
                            <a:rPr>
                              <a:latin typeface="Cambria Math" panose="02040503050406030204" pitchFamily="18" charset="0"/>
                            </a:rPr>
                            <m:t>=</m:t>
                          </m:r>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𝐩</m:t>
                                  </m:r>
                                </m:e>
                              </m:acc>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𝜏</m:t>
                          </m:r>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𝐯</m:t>
                                  </m:r>
                                </m:e>
                              </m:acc>
                            </m:e>
                            <m:sub>
                              <m:r>
                                <a:rPr>
                                  <a:latin typeface="Cambria Math" panose="02040503050406030204" pitchFamily="18" charset="0"/>
                                </a:rPr>
                                <m:t>𝑡</m:t>
                              </m:r>
                            </m:sub>
                          </m:sSub>
                          <m:r>
                            <a:rPr>
                              <a:latin typeface="Cambria Math" panose="02040503050406030204" pitchFamily="18" charset="0"/>
                            </a:rPr>
                            <m:t>+</m:t>
                          </m:r>
                          <m:r>
                            <a:rPr>
                              <a:latin typeface="Cambria Math" panose="02040503050406030204" pitchFamily="18" charset="0"/>
                            </a:rPr>
                            <m:t>𝛥</m:t>
                          </m:r>
                          <m:sSub>
                            <m:sSubPr>
                              <m:ctrlPr>
                                <a:rPr i="1">
                                  <a:latin typeface="Cambria Math" panose="02040503050406030204" pitchFamily="18" charset="0"/>
                                </a:rPr>
                              </m:ctrlPr>
                            </m:sSubPr>
                            <m:e>
                              <m:r>
                                <a:rPr>
                                  <a:latin typeface="Cambria Math" panose="02040503050406030204" pitchFamily="18" charset="0"/>
                                </a:rPr>
                                <m:t>𝐩</m:t>
                              </m:r>
                            </m:e>
                            <m:sub>
                              <m:r>
                                <a:rPr>
                                  <a:latin typeface="Cambria Math" panose="02040503050406030204" pitchFamily="18" charset="0"/>
                                </a:rPr>
                                <m:t>𝑡</m:t>
                              </m:r>
                              <m:r>
                                <a:rPr>
                                  <a:latin typeface="Cambria Math" panose="02040503050406030204" pitchFamily="18" charset="0"/>
                                </a:rPr>
                                <m:t>+</m:t>
                              </m:r>
                              <m:r>
                                <a:rPr>
                                  <a:latin typeface="Cambria Math" panose="02040503050406030204" pitchFamily="18" charset="0"/>
                                </a:rPr>
                                <m:t>𝜏</m:t>
                              </m:r>
                            </m:sub>
                          </m:sSub>
                        </m:oMath>
                      </m:oMathPara>
                    </a14:m>
                  </mc:Choice>
                  <mc:Fallback xmlns:asvg="http://schemas.microsoft.com/office/drawing/2016/SVG/main" xmlns="">
                    <a:r>
                      <a:rPr lang="en-US" sz="1900"/>
                      <a:t>p̂t₊τ=p̂t+τv̂t+Δpt₊τ</a:t>
                    </a:r>
                  </mc:Fallback>
                </mc:AlternateContent>
                <a:endParaRPr/>
              </a:p>
            </p:txBody>
          </p:sp>
        </mc:Choice>
        <mc:Fallback xmlns:asvg="http://schemas.microsoft.com/office/drawing/2016/SVG/main" xmlns="">
          <p:sp>
            <p:nvSpPr>
              <p:cNvPr id="200001" name="final_trajectory" descr="LaTeX: \hat{\mathbf{p}}_{t+\tau}=\hat{\mathbf{p}}_t+\tau\hat{\mathbf{v}}_t+\Delta\mathbf{p}_{t+\tau}"/>
              <p:cNvSpPr>
                <a:spLocks noRot="1" noChangeAspect="1" noMove="1" noResize="1" noEditPoints="1" noAdjustHandles="1" noChangeArrowheads="1" noChangeShapeType="1" noTextEdit="1"/>
              </p:cNvSpPr>
              <p:nvPr/>
            </p:nvSpPr>
            <p:spPr>
              <a:xfrm>
                <a:off x="5727700" y="3098800"/>
                <a:ext cx="5892800" cy="431800"/>
              </a:xfr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0002" name="input_output" descr="LaTeX: \mathbf{X}\in\mathbb{R}^{20\times N\times6}\quad\longrightarrow\quad\hat{\mathbf{P}}\in\mathbb{R}^{20\times N\times2}"/>
              <p:cNvSpPr/>
              <p:nvPr/>
            </p:nvSpPr>
            <p:spPr>
              <a:xfrm>
                <a:off x="5727700" y="4864100"/>
                <a:ext cx="5892800" cy="4445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r>
                            <a:rPr>
                              <a:latin typeface="Cambria Math" panose="02040503050406030204" pitchFamily="18" charset="0"/>
                            </a:rPr>
                            <m:t>𝐗</m:t>
                          </m:r>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ℝ</m:t>
                              </m:r>
                            </m:e>
                            <m:sup>
                              <m:r>
                                <a:rPr>
                                  <a:latin typeface="Cambria Math" panose="02040503050406030204" pitchFamily="18" charset="0"/>
                                </a:rPr>
                                <m:t>20× </m:t>
                              </m:r>
                              <m:r>
                                <a:rPr>
                                  <a:latin typeface="Cambria Math" panose="02040503050406030204" pitchFamily="18" charset="0"/>
                                </a:rPr>
                                <m:t>𝑁</m:t>
                              </m:r>
                              <m:r>
                                <a:rPr>
                                  <a:latin typeface="Cambria Math" panose="02040503050406030204" pitchFamily="18" charset="0"/>
                                </a:rPr>
                                <m:t>×6</m:t>
                              </m:r>
                            </m:sup>
                          </m:sSup>
                          <m:r>
                            <a:rPr>
                              <a:latin typeface="Cambria Math" panose="02040503050406030204" pitchFamily="18" charset="0"/>
                            </a:rPr>
                            <m:t> ⟶ </m:t>
                          </m:r>
                          <m:acc>
                            <m:accPr>
                              <m:chr m:val="̂"/>
                              <m:ctrlPr>
                                <a:rPr i="1">
                                  <a:latin typeface="Cambria Math" panose="02040503050406030204" pitchFamily="18" charset="0"/>
                                </a:rPr>
                              </m:ctrlPr>
                            </m:accPr>
                            <m:e>
                              <m:r>
                                <a:rPr>
                                  <a:latin typeface="Cambria Math" panose="02040503050406030204" pitchFamily="18" charset="0"/>
                                </a:rPr>
                                <m:t>𝐏</m:t>
                              </m:r>
                            </m:e>
                          </m:acc>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ℝ</m:t>
                              </m:r>
                            </m:e>
                            <m:sup>
                              <m:r>
                                <a:rPr>
                                  <a:latin typeface="Cambria Math" panose="02040503050406030204" pitchFamily="18" charset="0"/>
                                </a:rPr>
                                <m:t>20× </m:t>
                              </m:r>
                              <m:r>
                                <a:rPr>
                                  <a:latin typeface="Cambria Math" panose="02040503050406030204" pitchFamily="18" charset="0"/>
                                </a:rPr>
                                <m:t>𝑁</m:t>
                              </m:r>
                              <m:r>
                                <a:rPr>
                                  <a:latin typeface="Cambria Math" panose="02040503050406030204" pitchFamily="18" charset="0"/>
                                </a:rPr>
                                <m:t>×2</m:t>
                              </m:r>
                            </m:sup>
                          </m:sSup>
                        </m:oMath>
                      </m:oMathPara>
                    </a14:m>
                  </mc:Choice>
                  <mc:Fallback xmlns:asvg="http://schemas.microsoft.com/office/drawing/2016/SVG/main" xmlns="">
                    <a:r>
                      <a:rPr lang="en-US" sz="1700"/>
                      <a:t>X∈R²⁰× N×⁶ ⟶ P̂∈R²⁰× N×²</a:t>
                    </a:r>
                  </mc:Fallback>
                </mc:AlternateContent>
                <a:endParaRPr/>
              </a:p>
            </p:txBody>
          </p:sp>
        </mc:Choice>
        <mc:Fallback xmlns:asvg="http://schemas.microsoft.com/office/drawing/2016/SVG/main" xmlns="">
          <p:sp>
            <p:nvSpPr>
              <p:cNvPr id="200002" name="input_output" descr="LaTeX: \mathbf{X}\in\mathbb{R}^{20\times N\times6}\quad\longrightarrow\quad\hat{\mathbf{P}}\in\mathbb{R}^{20\times N\times2}"/>
              <p:cNvSpPr>
                <a:spLocks noRot="1" noChangeAspect="1" noMove="1" noResize="1" noEditPoints="1" noAdjustHandles="1" noChangeArrowheads="1" noChangeShapeType="1" noTextEdit="1"/>
              </p:cNvSpPr>
              <p:nvPr/>
            </p:nvSpPr>
            <p:spPr>
              <a:xfrm>
                <a:off x="5727700" y="4864100"/>
                <a:ext cx="5892800" cy="444500"/>
              </a:xfrm>
              <a:blipFill>
                <a:blip r:embed="rId5"/>
                <a:stretch>
                  <a:fillRect/>
                </a:stretch>
              </a:blipFill>
            </p:spPr>
            <p:txBody>
              <a:bodyPr/>
              <a:lstStyle/>
              <a:p>
                <a:r>
                  <a:rPr lang="zh-CN" altLang="en-US">
                    <a:noFill/>
                  </a:rPr>
                  <a:t> </a:t>
                </a:r>
              </a:p>
            </p:txBody>
          </p:sp>
        </mc:Fallback>
      </mc:AlternateContent>
      <p:sp>
        <p:nvSpPr>
          <p:cNvPr id="200003" name="system_step_0"/>
          <p:cNvSpPr txBox="1"/>
          <p:nvPr/>
        </p:nvSpPr>
        <p:spPr>
          <a:xfrm>
            <a:off x="914400" y="1117600"/>
            <a:ext cx="2832100" cy="5588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历史车辆状态</a:t>
            </a:r>
          </a:p>
          <a:p>
            <a:pPr algn="ctr">
              <a:lnSpc>
                <a:spcPts val="1820"/>
              </a:lnSpc>
              <a:spcBef>
                <a:spcPts val="0"/>
              </a:spcBef>
              <a:spcAft>
                <a:spcPts val="0"/>
              </a:spcAft>
            </a:pPr>
            <a:r>
              <a:rPr lang="en-US" sz="1300" b="0">
                <a:solidFill>
                  <a:srgbClr val="000000"/>
                </a:solidFill>
                <a:latin typeface="Times New Roman"/>
                <a:ea typeface="宋体"/>
                <a:cs typeface="Times New Roman"/>
              </a:rPr>
              <a:t>20帧，最多8辆</a:t>
            </a:r>
          </a:p>
        </p:txBody>
      </p:sp>
      <p:sp>
        <p:nvSpPr>
          <p:cNvPr id="200004" name="system_step_1"/>
          <p:cNvSpPr txBox="1"/>
          <p:nvPr/>
        </p:nvSpPr>
        <p:spPr>
          <a:xfrm>
            <a:off x="914400" y="1930400"/>
            <a:ext cx="2832100" cy="4826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逐帧构建车辆交互图</a:t>
            </a:r>
          </a:p>
        </p:txBody>
      </p:sp>
      <p:sp>
        <p:nvSpPr>
          <p:cNvPr id="200005" name="system_step_2"/>
          <p:cNvSpPr txBox="1"/>
          <p:nvPr/>
        </p:nvSpPr>
        <p:spPr>
          <a:xfrm>
            <a:off x="914400" y="2667000"/>
            <a:ext cx="2832100" cy="4826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双层 QGNN</a:t>
            </a:r>
          </a:p>
        </p:txBody>
      </p:sp>
      <p:sp>
        <p:nvSpPr>
          <p:cNvPr id="200006" name="system_step_3"/>
          <p:cNvSpPr txBox="1"/>
          <p:nvPr/>
        </p:nvSpPr>
        <p:spPr>
          <a:xfrm>
            <a:off x="914400" y="3403600"/>
            <a:ext cx="2832100" cy="6096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本车状态＋图特征</a:t>
            </a:r>
          </a:p>
          <a:p>
            <a:pPr algn="ctr">
              <a:lnSpc>
                <a:spcPts val="1820"/>
              </a:lnSpc>
              <a:spcBef>
                <a:spcPts val="0"/>
              </a:spcBef>
              <a:spcAft>
                <a:spcPts val="0"/>
              </a:spcAft>
            </a:pPr>
            <a:r>
              <a:rPr lang="en-US" sz="1300" b="0">
                <a:solidFill>
                  <a:srgbClr val="000000"/>
                </a:solidFill>
                <a:latin typeface="Times New Roman"/>
                <a:ea typeface="宋体"/>
                <a:cs typeface="Times New Roman"/>
              </a:rPr>
              <a:t>GPT-2＋LoRA</a:t>
            </a:r>
          </a:p>
        </p:txBody>
      </p:sp>
      <p:sp>
        <p:nvSpPr>
          <p:cNvPr id="200007" name="system_step_4"/>
          <p:cNvSpPr txBox="1"/>
          <p:nvPr/>
        </p:nvSpPr>
        <p:spPr>
          <a:xfrm>
            <a:off x="914400" y="4279900"/>
            <a:ext cx="2832100" cy="4826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预测头：轨迹修正量</a:t>
            </a:r>
          </a:p>
        </p:txBody>
      </p:sp>
      <p:sp>
        <p:nvSpPr>
          <p:cNvPr id="200008" name="system_step_5"/>
          <p:cNvSpPr txBox="1"/>
          <p:nvPr/>
        </p:nvSpPr>
        <p:spPr>
          <a:xfrm>
            <a:off x="914400" y="5435600"/>
            <a:ext cx="2832100" cy="558800"/>
          </a:xfrm>
          <a:prstGeom prst="rect">
            <a:avLst/>
          </a:prstGeom>
          <a:solidFill>
            <a:srgbClr val="FFFFFF"/>
          </a:solidFill>
          <a:ln w="8255">
            <a:solidFill>
              <a:srgbClr val="000000"/>
            </a:solidFill>
          </a:ln>
        </p:spPr>
        <p:txBody>
          <a:bodyPr lIns="38100" tIns="38100" rIns="38100" bIns="38100" anchor="ctr"/>
          <a:lstStyle/>
          <a:p>
            <a:pPr algn="ctr">
              <a:lnSpc>
                <a:spcPts val="1820"/>
              </a:lnSpc>
              <a:spcBef>
                <a:spcPts val="0"/>
              </a:spcBef>
              <a:spcAft>
                <a:spcPts val="0"/>
              </a:spcAft>
            </a:pPr>
            <a:r>
              <a:rPr lang="en-US" sz="1300" b="0">
                <a:solidFill>
                  <a:srgbClr val="000000"/>
                </a:solidFill>
                <a:latin typeface="Times New Roman"/>
                <a:ea typeface="宋体"/>
                <a:cs typeface="Times New Roman"/>
              </a:rPr>
              <a:t>相加得到未来轨迹</a:t>
            </a:r>
          </a:p>
          <a:p>
            <a:pPr algn="ctr">
              <a:lnSpc>
                <a:spcPts val="1820"/>
              </a:lnSpc>
              <a:spcBef>
                <a:spcPts val="0"/>
              </a:spcBef>
              <a:spcAft>
                <a:spcPts val="0"/>
              </a:spcAft>
            </a:pPr>
            <a:r>
              <a:rPr lang="en-US" sz="1300" b="0">
                <a:solidFill>
                  <a:srgbClr val="000000"/>
                </a:solidFill>
                <a:latin typeface="Times New Roman"/>
                <a:ea typeface="宋体"/>
                <a:cs typeface="Times New Roman"/>
              </a:rPr>
              <a:t>未来20步二维位置</a:t>
            </a:r>
          </a:p>
        </p:txBody>
      </p:sp>
      <p:cxnSp>
        <p:nvCxnSpPr>
          <p:cNvPr id="200009" name="Connector 4"/>
          <p:cNvCxnSpPr>
            <a:cxnSpLocks/>
            <a:stCxn id="200003" idx="0"/>
            <a:endCxn id="200004" idx="0"/>
          </p:cNvCxnSpPr>
          <p:nvPr/>
        </p:nvCxnSpPr>
        <p:spPr>
          <a:xfrm>
            <a:off x="2330450" y="1676400"/>
            <a:ext cx="0" cy="254000"/>
          </a:xfrm>
          <a:prstGeom prst="straightConnector1">
            <a:avLst/>
          </a:prstGeom>
          <a:ln w="8890">
            <a:solidFill>
              <a:srgbClr val="000000"/>
            </a:solidFill>
            <a:tailEnd type="triangle"/>
          </a:ln>
        </p:spPr>
      </p:cxnSp>
      <p:cxnSp>
        <p:nvCxnSpPr>
          <p:cNvPr id="200010" name="Connector 5"/>
          <p:cNvCxnSpPr>
            <a:stCxn id="200004" idx="0"/>
            <a:endCxn id="200005" idx="0"/>
          </p:cNvCxnSpPr>
          <p:nvPr/>
        </p:nvCxnSpPr>
        <p:spPr>
          <a:xfrm>
            <a:off x="2330450" y="2413000"/>
            <a:ext cx="0" cy="254000"/>
          </a:xfrm>
          <a:prstGeom prst="straightConnector1">
            <a:avLst/>
          </a:prstGeom>
          <a:ln w="8890">
            <a:solidFill>
              <a:srgbClr val="000000"/>
            </a:solidFill>
            <a:tailEnd type="triangle"/>
          </a:ln>
        </p:spPr>
      </p:cxnSp>
      <p:cxnSp>
        <p:nvCxnSpPr>
          <p:cNvPr id="200011" name="Connector 6"/>
          <p:cNvCxnSpPr>
            <a:stCxn id="200005" idx="0"/>
            <a:endCxn id="200006" idx="0"/>
          </p:cNvCxnSpPr>
          <p:nvPr/>
        </p:nvCxnSpPr>
        <p:spPr>
          <a:xfrm>
            <a:off x="2330450" y="3149600"/>
            <a:ext cx="0" cy="254000"/>
          </a:xfrm>
          <a:prstGeom prst="straightConnector1">
            <a:avLst/>
          </a:prstGeom>
          <a:ln w="8890">
            <a:solidFill>
              <a:srgbClr val="000000"/>
            </a:solidFill>
            <a:tailEnd type="triangle"/>
          </a:ln>
        </p:spPr>
      </p:cxnSp>
      <p:cxnSp>
        <p:nvCxnSpPr>
          <p:cNvPr id="200012" name="Connector 7"/>
          <p:cNvCxnSpPr>
            <a:stCxn id="200006" idx="0"/>
            <a:endCxn id="200007" idx="0"/>
          </p:cNvCxnSpPr>
          <p:nvPr/>
        </p:nvCxnSpPr>
        <p:spPr>
          <a:xfrm>
            <a:off x="2330450" y="4013200"/>
            <a:ext cx="0" cy="266700"/>
          </a:xfrm>
          <a:prstGeom prst="straightConnector1">
            <a:avLst/>
          </a:prstGeom>
          <a:ln w="8890">
            <a:solidFill>
              <a:srgbClr val="000000"/>
            </a:solidFill>
            <a:tailEnd type="triangle"/>
          </a:ln>
        </p:spPr>
      </p:cxnSp>
      <p:cxnSp>
        <p:nvCxnSpPr>
          <p:cNvPr id="200013" name="Connector 8"/>
          <p:cNvCxnSpPr>
            <a:stCxn id="200007" idx="0"/>
            <a:endCxn id="200008" idx="0"/>
          </p:cNvCxnSpPr>
          <p:nvPr/>
        </p:nvCxnSpPr>
        <p:spPr>
          <a:xfrm>
            <a:off x="2330450" y="4762500"/>
            <a:ext cx="0" cy="673100"/>
          </a:xfrm>
          <a:prstGeom prst="straightConnector1">
            <a:avLst/>
          </a:prstGeom>
          <a:ln w="8890">
            <a:solidFill>
              <a:srgbClr val="000000"/>
            </a:solidFill>
            <a:tailEnd type="triangle"/>
          </a:ln>
        </p:spPr>
      </p:cxnSp>
      <p:sp>
        <p:nvSpPr>
          <p:cNvPr id="200014" name="constant_velocity"/>
          <p:cNvSpPr txBox="1"/>
          <p:nvPr/>
        </p:nvSpPr>
        <p:spPr>
          <a:xfrm>
            <a:off x="3937000" y="4686300"/>
            <a:ext cx="1155700" cy="482600"/>
          </a:xfrm>
          <a:prstGeom prst="rect">
            <a:avLst/>
          </a:prstGeom>
          <a:solidFill>
            <a:srgbClr val="FFFFFF"/>
          </a:solidFill>
          <a:ln w="8255">
            <a:solidFill>
              <a:srgbClr val="000000"/>
            </a:solidFill>
          </a:ln>
        </p:spPr>
        <p:txBody>
          <a:bodyPr lIns="38100" tIns="38100" rIns="38100" bIns="38100" anchor="ctr"/>
          <a:lstStyle/>
          <a:p>
            <a:pPr algn="ctr">
              <a:lnSpc>
                <a:spcPts val="1680"/>
              </a:lnSpc>
              <a:spcBef>
                <a:spcPts val="0"/>
              </a:spcBef>
              <a:spcAft>
                <a:spcPts val="0"/>
              </a:spcAft>
            </a:pPr>
            <a:r>
              <a:rPr lang="en-US" sz="1200" b="0">
                <a:solidFill>
                  <a:srgbClr val="000000"/>
                </a:solidFill>
                <a:latin typeface="Times New Roman"/>
                <a:ea typeface="宋体"/>
                <a:cs typeface="Times New Roman"/>
              </a:rPr>
              <a:t>恒速外推</a:t>
            </a:r>
          </a:p>
        </p:txBody>
      </p:sp>
      <p:cxnSp>
        <p:nvCxnSpPr>
          <p:cNvPr id="200015" name="Connector 9"/>
          <p:cNvCxnSpPr>
            <a:cxnSpLocks/>
            <a:stCxn id="200003" idx="3"/>
            <a:endCxn id="200014" idx="0"/>
          </p:cNvCxnSpPr>
          <p:nvPr/>
        </p:nvCxnSpPr>
        <p:spPr>
          <a:xfrm>
            <a:off x="3746500" y="1397000"/>
            <a:ext cx="768350" cy="3289300"/>
          </a:xfrm>
          <a:prstGeom prst="bentConnector2">
            <a:avLst/>
          </a:prstGeom>
          <a:ln w="8890">
            <a:solidFill>
              <a:srgbClr val="000000"/>
            </a:solidFill>
            <a:tailEnd type="triangle"/>
          </a:ln>
        </p:spPr>
      </p:cxnSp>
      <p:cxnSp>
        <p:nvCxnSpPr>
          <p:cNvPr id="200016" name="Connector 10"/>
          <p:cNvCxnSpPr>
            <a:cxnSpLocks/>
            <a:stCxn id="200014" idx="0"/>
            <a:endCxn id="200008" idx="0"/>
          </p:cNvCxnSpPr>
          <p:nvPr/>
        </p:nvCxnSpPr>
        <p:spPr>
          <a:xfrm flipH="1">
            <a:off x="3746500" y="5168900"/>
            <a:ext cx="768350" cy="546100"/>
          </a:xfrm>
          <a:prstGeom prst="bentConnector3">
            <a:avLst>
              <a:gd name="adj1" fmla="val -880"/>
            </a:avLst>
          </a:prstGeom>
          <a:ln w="8890">
            <a:solidFill>
              <a:srgbClr val="000000"/>
            </a:solidFill>
            <a:tailEnd type="triangle"/>
          </a:ln>
        </p:spPr>
      </p:cxnSp>
      <p:sp>
        <p:nvSpPr>
          <p:cNvPr id="200017" name="last_state_label"/>
          <p:cNvSpPr txBox="1"/>
          <p:nvPr/>
        </p:nvSpPr>
        <p:spPr>
          <a:xfrm>
            <a:off x="4511040" y="3517900"/>
            <a:ext cx="914400" cy="533400"/>
          </a:xfrm>
          <a:prstGeom prst="rect">
            <a:avLst/>
          </a:prstGeom>
          <a:noFill/>
          <a:ln>
            <a:noFill/>
          </a:ln>
        </p:spPr>
        <p:txBody>
          <a:bodyPr lIns="0" tIns="0" rIns="0" bIns="0" anchor="t"/>
          <a:lstStyle/>
          <a:p>
            <a:pPr algn="l">
              <a:lnSpc>
                <a:spcPts val="1540"/>
              </a:lnSpc>
              <a:spcBef>
                <a:spcPts val="0"/>
              </a:spcBef>
              <a:spcAft>
                <a:spcPts val="0"/>
              </a:spcAft>
            </a:pPr>
            <a:r>
              <a:rPr lang="en-US" sz="1100" b="0">
                <a:solidFill>
                  <a:srgbClr val="000000"/>
                </a:solidFill>
                <a:latin typeface="Times New Roman"/>
                <a:ea typeface="宋体"/>
                <a:cs typeface="Times New Roman"/>
              </a:rPr>
              <a:t>当前位置</a:t>
            </a:r>
          </a:p>
          <a:p>
            <a:pPr algn="l">
              <a:lnSpc>
                <a:spcPts val="1540"/>
              </a:lnSpc>
              <a:spcBef>
                <a:spcPts val="0"/>
              </a:spcBef>
              <a:spcAft>
                <a:spcPts val="0"/>
              </a:spcAft>
            </a:pPr>
            <a:r>
              <a:rPr lang="en-US" sz="1100" b="0">
                <a:solidFill>
                  <a:srgbClr val="000000"/>
                </a:solidFill>
                <a:latin typeface="Times New Roman"/>
                <a:ea typeface="宋体"/>
                <a:cs typeface="Times New Roman"/>
              </a:rPr>
              <a:t>与速度</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量子遗传算法：状态表示与搜索机制">
    <p:bg>
      <p:bgPr>
        <a:solidFill>
          <a:srgbClr val="FFFFFF"/>
        </a:solidFill>
        <a:effectLst/>
      </p:bgPr>
    </p:bg>
    <p:spTree>
      <p:nvGrpSpPr>
        <p:cNvPr id="1" name=""/>
        <p:cNvGrpSpPr/>
        <p:nvPr/>
      </p:nvGrpSpPr>
      <p:grpSpPr>
        <a:xfrm>
          <a:off x="0" y="0"/>
          <a:ext cx="0" cy="0"/>
          <a:chOff x="0" y="0"/>
          <a:chExt cx="0" cy="0"/>
        </a:xfrm>
      </p:grpSpPr>
      <p:pic>
        <p:nvPicPr>
          <p:cNvPr id="100116"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17"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QGNN：关系编码与量子电路</a:t>
            </a:r>
          </a:p>
        </p:txBody>
      </p:sp>
      <p:cxnSp>
        <p:nvCxnSpPr>
          <p:cNvPr id="100118" name="header_rule"/>
          <p:cNvCxnSpPr/>
          <p:nvPr/>
        </p:nvCxnSpPr>
        <p:spPr>
          <a:xfrm>
            <a:off x="546100" y="711200"/>
            <a:ext cx="8318500" cy="0"/>
          </a:xfrm>
          <a:prstGeom prst="straightConnector1">
            <a:avLst/>
          </a:prstGeom>
          <a:ln w="6985">
            <a:solidFill>
              <a:srgbClr val="A0A0A0"/>
            </a:solidFill>
          </a:ln>
        </p:spPr>
      </p:cxnSp>
      <p:sp>
        <p:nvSpPr>
          <p:cNvPr id="100119" name="left_heading"/>
          <p:cNvSpPr/>
          <p:nvPr/>
        </p:nvSpPr>
        <p:spPr>
          <a:xfrm>
            <a:off x="546100" y="1066800"/>
            <a:ext cx="43815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关系特征与角度编码</a:t>
            </a:r>
          </a:p>
        </p:txBody>
      </p:sp>
      <p:sp>
        <p:nvSpPr>
          <p:cNvPr id="100122" name="amplitude_meaning"/>
          <p:cNvSpPr/>
          <p:nvPr/>
        </p:nvSpPr>
        <p:spPr>
          <a:xfrm>
            <a:off x="546100" y="4381500"/>
            <a:ext cx="4445000" cy="5969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逐通道学习缩放与偏置，</a:t>
            </a:r>
          </a:p>
          <a:p>
            <a:pPr algn="l">
              <a:lnSpc>
                <a:spcPts val="2000"/>
              </a:lnSpc>
              <a:spcBef>
                <a:spcPts val="0"/>
              </a:spcBef>
              <a:spcAft>
                <a:spcPts val="0"/>
              </a:spcAft>
            </a:pPr>
            <a:r>
              <a:rPr lang="en-US" sz="1300" b="0">
                <a:solidFill>
                  <a:srgbClr val="000000"/>
                </a:solidFill>
                <a:latin typeface="Times New Roman"/>
                <a:ea typeface="宋体"/>
                <a:cs typeface="Times New Roman"/>
              </a:rPr>
              <a:t>将12维关系特征转换为12个旋转角。</a:t>
            </a:r>
          </a:p>
        </p:txBody>
      </p:sp>
      <p:sp>
        <p:nvSpPr>
          <p:cNvPr id="100124" name="equal_probabilities"/>
          <p:cNvSpPr/>
          <p:nvPr/>
        </p:nvSpPr>
        <p:spPr>
          <a:xfrm>
            <a:off x="546100" y="5080000"/>
            <a:ext cx="4445000" cy="5842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同层电路参数在不同车辆关系与</a:t>
            </a:r>
          </a:p>
          <a:p>
            <a:pPr algn="l">
              <a:lnSpc>
                <a:spcPts val="2000"/>
              </a:lnSpc>
              <a:spcBef>
                <a:spcPts val="0"/>
              </a:spcBef>
              <a:spcAft>
                <a:spcPts val="0"/>
              </a:spcAft>
            </a:pPr>
            <a:r>
              <a:rPr lang="en-US" sz="1300" b="0">
                <a:solidFill>
                  <a:srgbClr val="000000"/>
                </a:solidFill>
                <a:latin typeface="Times New Roman"/>
                <a:ea typeface="宋体"/>
                <a:cs typeface="Times New Roman"/>
              </a:rPr>
              <a:t>历史时刻之间共享。</a:t>
            </a:r>
          </a:p>
        </p:txBody>
      </p:sp>
      <p:cxnSp>
        <p:nvCxnSpPr>
          <p:cNvPr id="100125" name="column_rule"/>
          <p:cNvCxnSpPr/>
          <p:nvPr/>
        </p:nvCxnSpPr>
        <p:spPr>
          <a:xfrm>
            <a:off x="5295900" y="1054100"/>
            <a:ext cx="0" cy="4737100"/>
          </a:xfrm>
          <a:prstGeom prst="straightConnector1">
            <a:avLst/>
          </a:prstGeom>
          <a:ln w="6350">
            <a:solidFill>
              <a:srgbClr val="B5B5B5"/>
            </a:solidFill>
          </a:ln>
        </p:spPr>
      </p:cxnSp>
      <p:sp>
        <p:nvSpPr>
          <p:cNvPr id="100126" name="right_heading"/>
          <p:cNvSpPr/>
          <p:nvPr/>
        </p:nvSpPr>
        <p:spPr>
          <a:xfrm>
            <a:off x="5664200" y="1066800"/>
            <a:ext cx="57150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6比特参数化量子电路</a:t>
            </a:r>
          </a:p>
        </p:txBody>
      </p:sp>
      <p:cxnSp>
        <p:nvCxnSpPr>
          <p:cNvPr id="100128" name="footer_rule"/>
          <p:cNvCxnSpPr/>
          <p:nvPr/>
        </p:nvCxnSpPr>
        <p:spPr>
          <a:xfrm>
            <a:off x="546100" y="6121400"/>
            <a:ext cx="11074400" cy="0"/>
          </a:xfrm>
          <a:prstGeom prst="straightConnector1">
            <a:avLst/>
          </a:prstGeom>
          <a:ln w="6350">
            <a:solidFill>
              <a:srgbClr val="B5B5B5"/>
            </a:solidFill>
          </a:ln>
        </p:spPr>
      </p:cxnSp>
      <p:sp>
        <p:nvSpPr>
          <p:cNvPr id="100129" name="project_connection"/>
          <p:cNvSpPr/>
          <p:nvPr/>
        </p:nvSpPr>
        <p:spPr>
          <a:xfrm>
            <a:off x="546100" y="6324600"/>
            <a:ext cx="11074400" cy="3048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两层QGNN各使用6比特、3层电路，参数独立。每车的图输出为128维。</a:t>
            </a:r>
          </a:p>
        </p:txBody>
      </p:sp>
      <mc:AlternateContent xmlns:mc="http://schemas.openxmlformats.org/markup-compatibility/2006" xmlns:a14="http://schemas.microsoft.com/office/drawing/2010/main">
        <mc:Choice Requires="a14">
          <p:sp>
            <p:nvSpPr>
              <p:cNvPr id="200018" name="relation_vector" descr="LaTeX: \mathbf{r}_{ij}=[\tanh(\mathbf{e}_{ij});\ \gamma\tanh(\mathbf{c}_{ij})]\in\mathbb{R}^{12}"/>
              <p:cNvSpPr/>
              <p:nvPr/>
            </p:nvSpPr>
            <p:spPr>
              <a:xfrm>
                <a:off x="546100" y="1511300"/>
                <a:ext cx="4445000" cy="558800"/>
              </a:xfrm>
            </p:spPr>
            <p:txBody>
              <a:bodyPr lIns="0" tIns="0" rIns="0" bIns="0" anchor="ctr"/>
              <a:lstStyle/>
              <a:p>
                <a:pPr algn="ctr">
                  <a:defRPr lang="en-US" sz="16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𝐫</m:t>
                              </m:r>
                            </m:e>
                            <m:sub>
                              <m:r>
                                <a:rPr>
                                  <a:latin typeface="Cambria Math" panose="02040503050406030204" pitchFamily="18" charset="0"/>
                                </a:rPr>
                                <m:t>𝑖𝑗</m:t>
                              </m:r>
                            </m:sub>
                          </m:sSub>
                          <m:r>
                            <a:rPr>
                              <a:latin typeface="Cambria Math" panose="02040503050406030204" pitchFamily="18" charset="0"/>
                            </a:rPr>
                            <m:t>=[</m:t>
                          </m:r>
                          <m:r>
                            <m:rPr>
                              <m:nor/>
                            </m:rPr>
                            <a:rPr/>
                            <m:t>tanh</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𝐞</m:t>
                              </m:r>
                            </m:e>
                            <m:sub>
                              <m:r>
                                <a:rPr>
                                  <a:latin typeface="Cambria Math" panose="02040503050406030204" pitchFamily="18" charset="0"/>
                                </a:rPr>
                                <m:t>𝑖𝑗</m:t>
                              </m:r>
                            </m:sub>
                          </m:sSub>
                          <m:r>
                            <a:rPr>
                              <a:latin typeface="Cambria Math" panose="02040503050406030204" pitchFamily="18" charset="0"/>
                            </a:rPr>
                            <m:t>); </m:t>
                          </m:r>
                          <m:r>
                            <a:rPr>
                              <a:latin typeface="Cambria Math" panose="02040503050406030204" pitchFamily="18" charset="0"/>
                            </a:rPr>
                            <m:t>𝛾</m:t>
                          </m:r>
                          <m:r>
                            <m:rPr>
                              <m:nor/>
                            </m:rPr>
                            <a:rPr/>
                            <m:t>tanh</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𝐜</m:t>
                              </m:r>
                            </m:e>
                            <m:sub>
                              <m:r>
                                <a:rPr>
                                  <a:latin typeface="Cambria Math" panose="02040503050406030204" pitchFamily="18" charset="0"/>
                                </a:rPr>
                                <m:t>𝑖𝑗</m:t>
                              </m:r>
                            </m:sub>
                          </m:sSub>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ℝ</m:t>
                              </m:r>
                            </m:e>
                            <m:sup>
                              <m:r>
                                <a:rPr>
                                  <a:latin typeface="Cambria Math" panose="02040503050406030204" pitchFamily="18" charset="0"/>
                                </a:rPr>
                                <m:t>12</m:t>
                              </m:r>
                            </m:sup>
                          </m:sSup>
                        </m:oMath>
                      </m:oMathPara>
                    </a14:m>
                  </mc:Choice>
                  <mc:Fallback xmlns:asvg="http://schemas.microsoft.com/office/drawing/2016/SVG/main" xmlns="">
                    <a:r>
                      <a:rPr lang="en-US" sz="1600"/>
                      <a:t>rᵢj=[tanh(eᵢj); γtanh(cᵢj)]∈R¹²</a:t>
                    </a:r>
                  </mc:Fallback>
                </mc:AlternateContent>
                <a:endParaRPr/>
              </a:p>
            </p:txBody>
          </p:sp>
        </mc:Choice>
        <mc:Fallback xmlns:asvg="http://schemas.microsoft.com/office/drawing/2016/SVG/main" xmlns="">
          <p:sp>
            <p:nvSpPr>
              <p:cNvPr id="200018" name="relation_vector" descr="LaTeX: \mathbf{r}_{ij}=[\tanh(\mathbf{e}_{ij});\ \gamma\tanh(\mathbf{c}_{ij})]\in\mathbb{R}^{12}"/>
              <p:cNvSpPr>
                <a:spLocks noRot="1" noChangeAspect="1" noMove="1" noResize="1" noEditPoints="1" noAdjustHandles="1" noChangeArrowheads="1" noChangeShapeType="1" noTextEdit="1"/>
              </p:cNvSpPr>
              <p:nvPr/>
            </p:nvSpPr>
            <p:spPr>
              <a:xfrm>
                <a:off x="546100" y="1511300"/>
                <a:ext cx="4445000" cy="558800"/>
              </a:xfrm>
              <a:blipFill>
                <a:blip r:embed="rId4"/>
                <a:stretch>
                  <a:fillRect/>
                </a:stretch>
              </a:blipFill>
            </p:spPr>
            <p:txBody>
              <a:bodyPr/>
              <a:lstStyle/>
              <a:p>
                <a:r>
                  <a:rPr lang="zh-CN" altLang="en-US">
                    <a:noFill/>
                  </a:rPr>
                  <a:t> </a:t>
                </a:r>
              </a:p>
            </p:txBody>
          </p:sp>
        </mc:Fallback>
      </mc:AlternateContent>
      <p:sp>
        <p:nvSpPr>
          <p:cNvPr id="200019" name="relation_explanation"/>
          <p:cNvSpPr txBox="1"/>
          <p:nvPr/>
        </p:nvSpPr>
        <p:spPr>
          <a:xfrm>
            <a:off x="546100" y="2298700"/>
            <a:ext cx="4445000" cy="1422400"/>
          </a:xfrm>
          <a:prstGeom prst="rect">
            <a:avLst/>
          </a:prstGeom>
          <a:noFill/>
          <a:ln>
            <a:noFill/>
          </a:ln>
        </p:spPr>
        <p:txBody>
          <a:bodyPr lIns="0" tIns="0" rIns="0" bIns="0" anchor="t"/>
          <a:lstStyle/>
          <a:p>
            <a:pPr algn="l">
              <a:lnSpc>
                <a:spcPts val="1820"/>
              </a:lnSpc>
              <a:spcBef>
                <a:spcPts val="0"/>
              </a:spcBef>
              <a:spcAft>
                <a:spcPts val="0"/>
              </a:spcAft>
            </a:pPr>
            <a:r>
              <a:rPr lang="en-US" sz="1300" b="0">
                <a:solidFill>
                  <a:srgbClr val="000000"/>
                </a:solidFill>
                <a:latin typeface="Times New Roman"/>
                <a:ea typeface="宋体"/>
                <a:cs typeface="Times New Roman"/>
              </a:rPr>
              <a:t>7维物理关系：相对位置、相对速度、</a:t>
            </a:r>
          </a:p>
          <a:p>
            <a:pPr algn="l">
              <a:lnSpc>
                <a:spcPts val="1820"/>
              </a:lnSpc>
              <a:spcBef>
                <a:spcPts val="0"/>
              </a:spcBef>
              <a:spcAft>
                <a:spcPts val="0"/>
              </a:spcAft>
            </a:pPr>
            <a:r>
              <a:rPr lang="en-US" sz="1300" b="0">
                <a:solidFill>
                  <a:srgbClr val="000000"/>
                </a:solidFill>
                <a:latin typeface="Times New Roman"/>
                <a:ea typeface="宋体"/>
                <a:cs typeface="Times New Roman"/>
              </a:rPr>
              <a:t>距离、径向接近速度与碰撞时间。</a:t>
            </a:r>
          </a:p>
          <a:p>
            <a:pPr algn="l">
              <a:lnSpc>
                <a:spcPts val="1820"/>
              </a:lnSpc>
              <a:spcBef>
                <a:spcPts val="0"/>
              </a:spcBef>
              <a:spcAft>
                <a:spcPts val="0"/>
              </a:spcAft>
            </a:pPr>
            <a:endParaRPr lang="en-US" sz="1300" b="0">
              <a:solidFill>
                <a:srgbClr val="000000"/>
              </a:solidFill>
              <a:latin typeface="Times New Roman"/>
              <a:ea typeface="宋体"/>
              <a:cs typeface="Times New Roman"/>
            </a:endParaRPr>
          </a:p>
          <a:p>
            <a:pPr algn="l">
              <a:lnSpc>
                <a:spcPts val="1820"/>
              </a:lnSpc>
              <a:spcBef>
                <a:spcPts val="0"/>
              </a:spcBef>
              <a:spcAft>
                <a:spcPts val="0"/>
              </a:spcAft>
            </a:pPr>
            <a:r>
              <a:rPr lang="en-US" sz="1300" b="0">
                <a:solidFill>
                  <a:srgbClr val="000000"/>
                </a:solidFill>
                <a:latin typeface="Times New Roman"/>
                <a:ea typeface="宋体"/>
                <a:cs typeface="Times New Roman"/>
              </a:rPr>
              <a:t>5维上下文：四组节点相似度和整体差异。</a:t>
            </a:r>
          </a:p>
          <a:p>
            <a:pPr algn="l">
              <a:lnSpc>
                <a:spcPts val="1820"/>
              </a:lnSpc>
              <a:spcBef>
                <a:spcPts val="0"/>
              </a:spcBef>
              <a:spcAft>
                <a:spcPts val="0"/>
              </a:spcAft>
            </a:pPr>
            <a:r>
              <a:rPr lang="en-US" sz="1300" b="0">
                <a:solidFill>
                  <a:srgbClr val="000000"/>
                </a:solidFill>
                <a:latin typeface="Times New Roman"/>
                <a:ea typeface="宋体"/>
                <a:cs typeface="Times New Roman"/>
              </a:rPr>
              <a:t>两层分别侧重物理关系与节点上下文。</a:t>
            </a:r>
          </a:p>
        </p:txBody>
      </p:sp>
      <mc:AlternateContent xmlns:mc="http://schemas.openxmlformats.org/markup-compatibility/2006" xmlns:a14="http://schemas.microsoft.com/office/drawing/2010/main">
        <mc:Choice Requires="a14">
          <p:sp>
            <p:nvSpPr>
              <p:cNvPr id="200020" name="angle_encoding" descr="LaTeX: \boldsymbol{\theta}_{ij}=2\arctan[\mathbf{s}\odot\mathbf{r}_{ij}+0.25\tanh(\mathbf{b})]"/>
              <p:cNvSpPr/>
              <p:nvPr/>
            </p:nvSpPr>
            <p:spPr>
              <a:xfrm>
                <a:off x="546100" y="3759200"/>
                <a:ext cx="4445000" cy="4826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𝜽</m:t>
                              </m:r>
                            </m:e>
                            <m:sub>
                              <m:r>
                                <a:rPr>
                                  <a:latin typeface="Cambria Math" panose="02040503050406030204" pitchFamily="18" charset="0"/>
                                </a:rPr>
                                <m:t>𝑖𝑗</m:t>
                              </m:r>
                            </m:sub>
                          </m:sSub>
                          <m:r>
                            <a:rPr>
                              <a:latin typeface="Cambria Math" panose="02040503050406030204" pitchFamily="18" charset="0"/>
                            </a:rPr>
                            <m:t>=2</m:t>
                          </m:r>
                          <m:r>
                            <m:rPr>
                              <m:nor/>
                            </m:rPr>
                            <a:rPr/>
                            <m:t>arctan</m:t>
                          </m:r>
                          <m:r>
                            <a:rPr>
                              <a:latin typeface="Cambria Math" panose="02040503050406030204" pitchFamily="18" charset="0"/>
                            </a:rPr>
                            <m:t>[</m:t>
                          </m:r>
                          <m:r>
                            <a:rPr>
                              <a:latin typeface="Cambria Math" panose="02040503050406030204" pitchFamily="18" charset="0"/>
                            </a:rPr>
                            <m:t>𝐬</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𝐫</m:t>
                              </m:r>
                            </m:e>
                            <m:sub>
                              <m:r>
                                <a:rPr>
                                  <a:latin typeface="Cambria Math" panose="02040503050406030204" pitchFamily="18" charset="0"/>
                                </a:rPr>
                                <m:t>𝑖𝑗</m:t>
                              </m:r>
                            </m:sub>
                          </m:sSub>
                          <m:r>
                            <a:rPr>
                              <a:latin typeface="Cambria Math" panose="02040503050406030204" pitchFamily="18" charset="0"/>
                            </a:rPr>
                            <m:t>+0.25</m:t>
                          </m:r>
                          <m:r>
                            <m:rPr>
                              <m:nor/>
                            </m:rPr>
                            <a:rPr/>
                            <m:t>tanh</m:t>
                          </m:r>
                          <m:r>
                            <a:rPr>
                              <a:latin typeface="Cambria Math" panose="02040503050406030204" pitchFamily="18" charset="0"/>
                            </a:rPr>
                            <m:t>(</m:t>
                          </m:r>
                          <m:r>
                            <a:rPr>
                              <a:latin typeface="Cambria Math" panose="02040503050406030204" pitchFamily="18" charset="0"/>
                            </a:rPr>
                            <m:t>𝐛</m:t>
                          </m:r>
                          <m:r>
                            <a:rPr>
                              <a:latin typeface="Cambria Math" panose="02040503050406030204" pitchFamily="18" charset="0"/>
                            </a:rPr>
                            <m:t>)]</m:t>
                          </m:r>
                        </m:oMath>
                      </m:oMathPara>
                    </a14:m>
                  </mc:Choice>
                  <mc:Fallback xmlns:asvg="http://schemas.microsoft.com/office/drawing/2016/SVG/main" xmlns="">
                    <a:r>
                      <a:rPr lang="en-US" sz="1700"/>
                      <a:t>θᵢj=2arctan[s⊙rᵢj+0.25tanh(b)]</a:t>
                    </a:r>
                  </mc:Fallback>
                </mc:AlternateContent>
                <a:endParaRPr/>
              </a:p>
            </p:txBody>
          </p:sp>
        </mc:Choice>
        <mc:Fallback xmlns:asvg="http://schemas.microsoft.com/office/drawing/2016/SVG/main" xmlns="">
          <p:sp>
            <p:nvSpPr>
              <p:cNvPr id="200020" name="angle_encoding" descr="LaTeX: \boldsymbol{\theta}_{ij}=2\arctan[\mathbf{s}\odot\mathbf{r}_{ij}+0.25\tanh(\mathbf{b})]"/>
              <p:cNvSpPr>
                <a:spLocks noRot="1" noChangeAspect="1" noMove="1" noResize="1" noEditPoints="1" noAdjustHandles="1" noChangeArrowheads="1" noChangeShapeType="1" noTextEdit="1"/>
              </p:cNvSpPr>
              <p:nvPr/>
            </p:nvSpPr>
            <p:spPr>
              <a:xfrm>
                <a:off x="546100" y="3759200"/>
                <a:ext cx="4445000" cy="482600"/>
              </a:xfrm>
              <a:blipFill>
                <a:blip r:embed="rId5"/>
                <a:stretch>
                  <a:fillRect/>
                </a:stretch>
              </a:blipFill>
            </p:spPr>
            <p:txBody>
              <a:bodyPr/>
              <a:lstStyle/>
              <a:p>
                <a:r>
                  <a:rPr lang="zh-CN" altLang="en-US">
                    <a:noFill/>
                  </a:rPr>
                  <a:t> </a:t>
                </a:r>
              </a:p>
            </p:txBody>
          </p:sp>
        </mc:Fallback>
      </mc:AlternateContent>
      <p:sp>
        <p:nvSpPr>
          <p:cNvPr id="300015" name="revision_text_300015"/>
          <p:cNvSpPr txBox="1"/>
          <p:nvPr/>
        </p:nvSpPr>
        <p:spPr>
          <a:xfrm>
            <a:off x="6210300" y="1587500"/>
            <a:ext cx="1206500" cy="279400"/>
          </a:xfrm>
          <a:prstGeom prst="rect">
            <a:avLst/>
          </a:prstGeom>
          <a:noFill/>
          <a:ln>
            <a:noFill/>
          </a:ln>
        </p:spPr>
        <p:txBody>
          <a:bodyPr lIns="0" tIns="0" rIns="0" bIns="0" anchor="ctr">
            <a:noAutofit/>
          </a:bodyPr>
          <a:lstStyle/>
          <a:p>
            <a:pPr algn="ctr">
              <a:lnSpc>
                <a:spcPct val="115000"/>
              </a:lnSpc>
            </a:pPr>
            <a:r>
              <a:rPr lang="en-US" sz="1200" b="0">
                <a:solidFill>
                  <a:srgbClr val="000000"/>
                </a:solidFill>
                <a:latin typeface="Times New Roman"/>
                <a:ea typeface="宋体"/>
              </a:rPr>
              <a:t>角度编码</a:t>
            </a:r>
          </a:p>
        </p:txBody>
      </p:sp>
      <p:sp>
        <p:nvSpPr>
          <p:cNvPr id="300016" name="revision_text_300016"/>
          <p:cNvSpPr txBox="1"/>
          <p:nvPr/>
        </p:nvSpPr>
        <p:spPr>
          <a:xfrm>
            <a:off x="7493000" y="1587500"/>
            <a:ext cx="1739900" cy="279400"/>
          </a:xfrm>
          <a:prstGeom prst="rect">
            <a:avLst/>
          </a:prstGeom>
          <a:noFill/>
          <a:ln>
            <a:noFill/>
          </a:ln>
        </p:spPr>
        <p:txBody>
          <a:bodyPr lIns="0" tIns="0" rIns="0" bIns="0" anchor="ctr">
            <a:noAutofit/>
          </a:bodyPr>
          <a:lstStyle/>
          <a:p>
            <a:pPr algn="ctr">
              <a:lnSpc>
                <a:spcPct val="115000"/>
              </a:lnSpc>
            </a:pPr>
            <a:r>
              <a:rPr lang="en-US" sz="1200" b="0">
                <a:solidFill>
                  <a:srgbClr val="000000"/>
                </a:solidFill>
                <a:latin typeface="Times New Roman"/>
                <a:ea typeface="宋体"/>
              </a:rPr>
              <a:t>可训练旋转</a:t>
            </a:r>
          </a:p>
        </p:txBody>
      </p:sp>
      <p:sp>
        <p:nvSpPr>
          <p:cNvPr id="300017" name="revision_text_300017"/>
          <p:cNvSpPr txBox="1"/>
          <p:nvPr/>
        </p:nvSpPr>
        <p:spPr>
          <a:xfrm>
            <a:off x="9385300" y="1587500"/>
            <a:ext cx="2120900" cy="279400"/>
          </a:xfrm>
          <a:prstGeom prst="rect">
            <a:avLst/>
          </a:prstGeom>
          <a:noFill/>
          <a:ln>
            <a:noFill/>
          </a:ln>
        </p:spPr>
        <p:txBody>
          <a:bodyPr lIns="0" tIns="0" rIns="0" bIns="0" anchor="ctr">
            <a:noAutofit/>
          </a:bodyPr>
          <a:lstStyle/>
          <a:p>
            <a:pPr algn="ctr">
              <a:lnSpc>
                <a:spcPct val="115000"/>
              </a:lnSpc>
            </a:pPr>
            <a:r>
              <a:rPr lang="en-US" sz="1200" b="0">
                <a:solidFill>
                  <a:srgbClr val="000000"/>
                </a:solidFill>
                <a:latin typeface="Times New Roman"/>
                <a:ea typeface="宋体"/>
              </a:rPr>
              <a:t>环形CNOT</a:t>
            </a:r>
          </a:p>
        </p:txBody>
      </p:sp>
      <p:cxnSp>
        <p:nvCxnSpPr>
          <p:cNvPr id="300018" name="circuit_wire_300018"/>
          <p:cNvCxnSpPr/>
          <p:nvPr/>
        </p:nvCxnSpPr>
        <p:spPr>
          <a:xfrm>
            <a:off x="6184900" y="1905000"/>
            <a:ext cx="1168400" cy="0"/>
          </a:xfrm>
          <a:prstGeom prst="straightConnector1">
            <a:avLst/>
          </a:prstGeom>
          <a:ln w="7620">
            <a:solidFill>
              <a:srgbClr val="A6A6A6"/>
            </a:solidFill>
            <a:headEnd type="none"/>
            <a:tailEnd type="none"/>
          </a:ln>
        </p:spPr>
      </p:cxnSp>
      <p:cxnSp>
        <p:nvCxnSpPr>
          <p:cNvPr id="300019" name="circuit_wire_300019"/>
          <p:cNvCxnSpPr/>
          <p:nvPr/>
        </p:nvCxnSpPr>
        <p:spPr>
          <a:xfrm>
            <a:off x="7493000" y="1905000"/>
            <a:ext cx="1727200" cy="0"/>
          </a:xfrm>
          <a:prstGeom prst="straightConnector1">
            <a:avLst/>
          </a:prstGeom>
          <a:ln w="7620">
            <a:solidFill>
              <a:srgbClr val="A6A6A6"/>
            </a:solidFill>
            <a:headEnd type="none"/>
            <a:tailEnd type="none"/>
          </a:ln>
        </p:spPr>
      </p:cxnSp>
      <p:cxnSp>
        <p:nvCxnSpPr>
          <p:cNvPr id="300020" name="circuit_wire_300020"/>
          <p:cNvCxnSpPr/>
          <p:nvPr/>
        </p:nvCxnSpPr>
        <p:spPr>
          <a:xfrm>
            <a:off x="9385300" y="1905000"/>
            <a:ext cx="2120900" cy="0"/>
          </a:xfrm>
          <a:prstGeom prst="straightConnector1">
            <a:avLst/>
          </a:prstGeom>
          <a:ln w="7620">
            <a:solidFill>
              <a:srgbClr val="A6A6A6"/>
            </a:solidFill>
            <a:headEnd type="none"/>
            <a:tailEnd type="none"/>
          </a:ln>
        </p:spPr>
      </p:cxnSp>
      <mc:AlternateContent xmlns:mc="http://schemas.openxmlformats.org/markup-compatibility/2006">
        <mc:Choice xmlns:a14="http://schemas.microsoft.com/office/drawing/2010/main" Requires="a14">
          <p:sp>
            <p:nvSpPr>
              <p:cNvPr id="300021" name="Equation 11"/>
              <p:cNvSpPr/>
              <p:nvPr/>
            </p:nvSpPr>
            <p:spPr>
              <a:xfrm>
                <a:off x="5588000" y="2197100"/>
                <a:ext cx="533400" cy="304800"/>
              </a:xfrm>
            </p:spPr>
            <p:txBody>
              <a:bodyPr lIns="0" tIns="0" rIns="0" bIns="0" anchor="ctr"/>
              <a:lstStyle/>
              <a:p>
                <a:pPr algn="ctr">
                  <a:defRPr sz="12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r>
                            <a:rPr>
                              <a:latin typeface="Cambria Math" panose="02040503050406030204" pitchFamily="18" charset="0"/>
                            </a:rPr>
                            <m:t>|0</m:t>
                          </m:r>
                          <m:sSub>
                            <m:sSubPr>
                              <m:ctrlPr>
                                <a:rPr i="1">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0</m:t>
                              </m:r>
                            </m:sub>
                          </m:sSub>
                        </m:oMath>
                      </m:oMathPara>
                    </a14:m>
                  </mc:Choice>
                  <mc:Fallback xmlns:asvg="http://schemas.microsoft.com/office/drawing/2016/SVG/main" xmlns="">
                    <a:r>
                      <a:rPr lang="en-US" sz="1200"/>
                      <a:t>|0⟩₀</a:t>
                    </a:r>
                  </mc:Fallback>
                </mc:AlternateContent>
                <a:endParaRPr/>
              </a:p>
            </p:txBody>
          </p:sp>
        </mc:Choice>
        <mc:Fallback>
          <p:sp>
            <p:nvSpPr>
              <p:cNvPr id="300021" name="Equation 11"/>
              <p:cNvSpPr>
                <a:spLocks noRot="1" noChangeAspect="1" noMove="1" noResize="1" noEditPoints="1" noAdjustHandles="1" noChangeArrowheads="1" noChangeShapeType="1" noTextEdit="1"/>
              </p:cNvSpPr>
              <p:nvPr/>
            </p:nvSpPr>
            <p:spPr>
              <a:xfrm>
                <a:off x="5588000" y="2197100"/>
                <a:ext cx="533400" cy="304800"/>
              </a:xfrm>
              <a:blipFill>
                <a:blip r:embed="rId6"/>
                <a:stretch>
                  <a:fillRect/>
                </a:stretch>
              </a:blipFill>
            </p:spPr>
            <p:txBody>
              <a:bodyPr/>
              <a:lstStyle/>
              <a:p>
                <a:r>
                  <a:rPr lang="zh-CN" altLang="en-US">
                    <a:noFill/>
                  </a:rPr>
                  <a:t> </a:t>
                </a:r>
              </a:p>
            </p:txBody>
          </p:sp>
        </mc:Fallback>
      </mc:AlternateContent>
      <p:cxnSp>
        <p:nvCxnSpPr>
          <p:cNvPr id="300022" name="circuit_wire_300022"/>
          <p:cNvCxnSpPr/>
          <p:nvPr/>
        </p:nvCxnSpPr>
        <p:spPr>
          <a:xfrm>
            <a:off x="6108700" y="2349500"/>
            <a:ext cx="5499100" cy="0"/>
          </a:xfrm>
          <a:prstGeom prst="straightConnector1">
            <a:avLst/>
          </a:prstGeom>
          <a:ln w="10160">
            <a:solidFill>
              <a:srgbClr val="000000"/>
            </a:solidFill>
            <a:headEnd type="none"/>
            <a:tailEnd type="none"/>
          </a:ln>
        </p:spPr>
      </p:cxnSp>
      <mc:AlternateContent xmlns:mc="http://schemas.openxmlformats.org/markup-compatibility/2006">
        <mc:Choice xmlns:a14="http://schemas.microsoft.com/office/drawing/2010/main" Requires="a14">
          <p:sp>
            <p:nvSpPr>
              <p:cNvPr id="300023" name="Equation 12"/>
              <p:cNvSpPr/>
              <p:nvPr/>
            </p:nvSpPr>
            <p:spPr>
              <a:xfrm>
                <a:off x="5588000" y="2705100"/>
                <a:ext cx="533400" cy="304800"/>
              </a:xfrm>
            </p:spPr>
            <p:txBody>
              <a:bodyPr lIns="0" tIns="0" rIns="0" bIns="0" anchor="ctr"/>
              <a:lstStyle/>
              <a:p>
                <a:pPr algn="ctr">
                  <a:defRPr sz="12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r>
                            <a:rPr>
                              <a:latin typeface="Cambria Math" panose="02040503050406030204" pitchFamily="18" charset="0"/>
                            </a:rPr>
                            <m:t>|0</m:t>
                          </m:r>
                          <m:sSub>
                            <m:sSubPr>
                              <m:ctrlPr>
                                <a:rPr i="1">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1</m:t>
                              </m:r>
                            </m:sub>
                          </m:sSub>
                        </m:oMath>
                      </m:oMathPara>
                    </a14:m>
                  </mc:Choice>
                  <mc:Fallback xmlns:asvg="http://schemas.microsoft.com/office/drawing/2016/SVG/main" xmlns="">
                    <a:r>
                      <a:rPr lang="en-US" sz="1200"/>
                      <a:t>|0⟩₁</a:t>
                    </a:r>
                  </mc:Fallback>
                </mc:AlternateContent>
                <a:endParaRPr/>
              </a:p>
            </p:txBody>
          </p:sp>
        </mc:Choice>
        <mc:Fallback>
          <p:sp>
            <p:nvSpPr>
              <p:cNvPr id="300023" name="Equation 12"/>
              <p:cNvSpPr>
                <a:spLocks noRot="1" noChangeAspect="1" noMove="1" noResize="1" noEditPoints="1" noAdjustHandles="1" noChangeArrowheads="1" noChangeShapeType="1" noTextEdit="1"/>
              </p:cNvSpPr>
              <p:nvPr/>
            </p:nvSpPr>
            <p:spPr>
              <a:xfrm>
                <a:off x="5588000" y="2705100"/>
                <a:ext cx="533400" cy="304800"/>
              </a:xfrm>
              <a:blipFill>
                <a:blip r:embed="rId7"/>
                <a:stretch>
                  <a:fillRect/>
                </a:stretch>
              </a:blipFill>
            </p:spPr>
            <p:txBody>
              <a:bodyPr/>
              <a:lstStyle/>
              <a:p>
                <a:r>
                  <a:rPr lang="zh-CN" altLang="en-US">
                    <a:noFill/>
                  </a:rPr>
                  <a:t> </a:t>
                </a:r>
              </a:p>
            </p:txBody>
          </p:sp>
        </mc:Fallback>
      </mc:AlternateContent>
      <p:cxnSp>
        <p:nvCxnSpPr>
          <p:cNvPr id="300024" name="circuit_wire_300024"/>
          <p:cNvCxnSpPr/>
          <p:nvPr/>
        </p:nvCxnSpPr>
        <p:spPr>
          <a:xfrm>
            <a:off x="6108700" y="2857500"/>
            <a:ext cx="5499100" cy="0"/>
          </a:xfrm>
          <a:prstGeom prst="straightConnector1">
            <a:avLst/>
          </a:prstGeom>
          <a:ln w="10160">
            <a:solidFill>
              <a:srgbClr val="000000"/>
            </a:solidFill>
            <a:headEnd type="none"/>
            <a:tailEnd type="none"/>
          </a:ln>
        </p:spPr>
      </p:cxnSp>
      <mc:AlternateContent xmlns:mc="http://schemas.openxmlformats.org/markup-compatibility/2006">
        <mc:Choice xmlns:a14="http://schemas.microsoft.com/office/drawing/2010/main" Requires="a14">
          <p:sp>
            <p:nvSpPr>
              <p:cNvPr id="300025" name="Equation 13"/>
              <p:cNvSpPr/>
              <p:nvPr/>
            </p:nvSpPr>
            <p:spPr>
              <a:xfrm>
                <a:off x="5588000" y="3213100"/>
                <a:ext cx="533400" cy="304800"/>
              </a:xfrm>
            </p:spPr>
            <p:txBody>
              <a:bodyPr lIns="0" tIns="0" rIns="0" bIns="0" anchor="ctr"/>
              <a:lstStyle/>
              <a:p>
                <a:pPr algn="ctr">
                  <a:defRPr sz="12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r>
                            <a:rPr>
                              <a:latin typeface="Cambria Math" panose="02040503050406030204" pitchFamily="18" charset="0"/>
                            </a:rPr>
                            <m:t>|0</m:t>
                          </m:r>
                          <m:sSub>
                            <m:sSubPr>
                              <m:ctrlPr>
                                <a:rPr i="1">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2</m:t>
                              </m:r>
                            </m:sub>
                          </m:sSub>
                        </m:oMath>
                      </m:oMathPara>
                    </a14:m>
                  </mc:Choice>
                  <mc:Fallback xmlns:asvg="http://schemas.microsoft.com/office/drawing/2016/SVG/main" xmlns="">
                    <a:r>
                      <a:rPr lang="en-US" sz="1200"/>
                      <a:t>|0⟩₂</a:t>
                    </a:r>
                  </mc:Fallback>
                </mc:AlternateContent>
                <a:endParaRPr/>
              </a:p>
            </p:txBody>
          </p:sp>
        </mc:Choice>
        <mc:Fallback>
          <p:sp>
            <p:nvSpPr>
              <p:cNvPr id="300025" name="Equation 13"/>
              <p:cNvSpPr>
                <a:spLocks noRot="1" noChangeAspect="1" noMove="1" noResize="1" noEditPoints="1" noAdjustHandles="1" noChangeArrowheads="1" noChangeShapeType="1" noTextEdit="1"/>
              </p:cNvSpPr>
              <p:nvPr/>
            </p:nvSpPr>
            <p:spPr>
              <a:xfrm>
                <a:off x="5588000" y="3213100"/>
                <a:ext cx="533400" cy="304800"/>
              </a:xfrm>
              <a:blipFill>
                <a:blip r:embed="rId8"/>
                <a:stretch>
                  <a:fillRect/>
                </a:stretch>
              </a:blipFill>
            </p:spPr>
            <p:txBody>
              <a:bodyPr/>
              <a:lstStyle/>
              <a:p>
                <a:r>
                  <a:rPr lang="zh-CN" altLang="en-US">
                    <a:noFill/>
                  </a:rPr>
                  <a:t> </a:t>
                </a:r>
              </a:p>
            </p:txBody>
          </p:sp>
        </mc:Fallback>
      </mc:AlternateContent>
      <p:cxnSp>
        <p:nvCxnSpPr>
          <p:cNvPr id="300026" name="circuit_wire_300026"/>
          <p:cNvCxnSpPr/>
          <p:nvPr/>
        </p:nvCxnSpPr>
        <p:spPr>
          <a:xfrm>
            <a:off x="6108700" y="3365500"/>
            <a:ext cx="5499100" cy="0"/>
          </a:xfrm>
          <a:prstGeom prst="straightConnector1">
            <a:avLst/>
          </a:prstGeom>
          <a:ln w="10160">
            <a:solidFill>
              <a:srgbClr val="000000"/>
            </a:solidFill>
            <a:headEnd type="none"/>
            <a:tailEnd type="none"/>
          </a:ln>
        </p:spPr>
      </p:cxnSp>
      <mc:AlternateContent xmlns:mc="http://schemas.openxmlformats.org/markup-compatibility/2006">
        <mc:Choice xmlns:a14="http://schemas.microsoft.com/office/drawing/2010/main" Requires="a14">
          <p:sp>
            <p:nvSpPr>
              <p:cNvPr id="300027" name="Equation 14"/>
              <p:cNvSpPr/>
              <p:nvPr/>
            </p:nvSpPr>
            <p:spPr>
              <a:xfrm>
                <a:off x="5588000" y="3721100"/>
                <a:ext cx="533400" cy="304800"/>
              </a:xfrm>
            </p:spPr>
            <p:txBody>
              <a:bodyPr lIns="0" tIns="0" rIns="0" bIns="0" anchor="ctr"/>
              <a:lstStyle/>
              <a:p>
                <a:pPr algn="ctr">
                  <a:defRPr sz="12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r>
                            <a:rPr>
                              <a:latin typeface="Cambria Math" panose="02040503050406030204" pitchFamily="18" charset="0"/>
                            </a:rPr>
                            <m:t>|0</m:t>
                          </m:r>
                          <m:sSub>
                            <m:sSubPr>
                              <m:ctrlPr>
                                <a:rPr i="1">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3</m:t>
                              </m:r>
                            </m:sub>
                          </m:sSub>
                        </m:oMath>
                      </m:oMathPara>
                    </a14:m>
                  </mc:Choice>
                  <mc:Fallback xmlns:asvg="http://schemas.microsoft.com/office/drawing/2016/SVG/main" xmlns="">
                    <a:r>
                      <a:rPr lang="en-US" sz="1200"/>
                      <a:t>|0⟩₃</a:t>
                    </a:r>
                  </mc:Fallback>
                </mc:AlternateContent>
                <a:endParaRPr/>
              </a:p>
            </p:txBody>
          </p:sp>
        </mc:Choice>
        <mc:Fallback>
          <p:sp>
            <p:nvSpPr>
              <p:cNvPr id="300027" name="Equation 14"/>
              <p:cNvSpPr>
                <a:spLocks noRot="1" noChangeAspect="1" noMove="1" noResize="1" noEditPoints="1" noAdjustHandles="1" noChangeArrowheads="1" noChangeShapeType="1" noTextEdit="1"/>
              </p:cNvSpPr>
              <p:nvPr/>
            </p:nvSpPr>
            <p:spPr>
              <a:xfrm>
                <a:off x="5588000" y="3721100"/>
                <a:ext cx="533400" cy="304800"/>
              </a:xfrm>
              <a:blipFill>
                <a:blip r:embed="rId9"/>
                <a:stretch>
                  <a:fillRect/>
                </a:stretch>
              </a:blipFill>
            </p:spPr>
            <p:txBody>
              <a:bodyPr/>
              <a:lstStyle/>
              <a:p>
                <a:r>
                  <a:rPr lang="zh-CN" altLang="en-US">
                    <a:noFill/>
                  </a:rPr>
                  <a:t> </a:t>
                </a:r>
              </a:p>
            </p:txBody>
          </p:sp>
        </mc:Fallback>
      </mc:AlternateContent>
      <p:cxnSp>
        <p:nvCxnSpPr>
          <p:cNvPr id="300028" name="circuit_wire_300028"/>
          <p:cNvCxnSpPr/>
          <p:nvPr/>
        </p:nvCxnSpPr>
        <p:spPr>
          <a:xfrm>
            <a:off x="6108700" y="3873500"/>
            <a:ext cx="5499100" cy="0"/>
          </a:xfrm>
          <a:prstGeom prst="straightConnector1">
            <a:avLst/>
          </a:prstGeom>
          <a:ln w="10160">
            <a:solidFill>
              <a:srgbClr val="000000"/>
            </a:solidFill>
            <a:headEnd type="none"/>
            <a:tailEnd type="none"/>
          </a:ln>
        </p:spPr>
      </p:cxnSp>
      <mc:AlternateContent xmlns:mc="http://schemas.openxmlformats.org/markup-compatibility/2006">
        <mc:Choice xmlns:a14="http://schemas.microsoft.com/office/drawing/2010/main" Requires="a14">
          <p:sp>
            <p:nvSpPr>
              <p:cNvPr id="300029" name="Equation 15"/>
              <p:cNvSpPr/>
              <p:nvPr/>
            </p:nvSpPr>
            <p:spPr>
              <a:xfrm>
                <a:off x="5588000" y="4229100"/>
                <a:ext cx="533400" cy="304800"/>
              </a:xfrm>
            </p:spPr>
            <p:txBody>
              <a:bodyPr lIns="0" tIns="0" rIns="0" bIns="0" anchor="ctr"/>
              <a:lstStyle/>
              <a:p>
                <a:pPr algn="ctr">
                  <a:defRPr sz="12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r>
                            <a:rPr>
                              <a:latin typeface="Cambria Math" panose="02040503050406030204" pitchFamily="18" charset="0"/>
                            </a:rPr>
                            <m:t>|0</m:t>
                          </m:r>
                          <m:sSub>
                            <m:sSubPr>
                              <m:ctrlPr>
                                <a:rPr i="1">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4</m:t>
                              </m:r>
                            </m:sub>
                          </m:sSub>
                        </m:oMath>
                      </m:oMathPara>
                    </a14:m>
                  </mc:Choice>
                  <mc:Fallback xmlns:asvg="http://schemas.microsoft.com/office/drawing/2016/SVG/main" xmlns="">
                    <a:r>
                      <a:rPr lang="en-US" sz="1200"/>
                      <a:t>|0⟩₄</a:t>
                    </a:r>
                  </mc:Fallback>
                </mc:AlternateContent>
                <a:endParaRPr/>
              </a:p>
            </p:txBody>
          </p:sp>
        </mc:Choice>
        <mc:Fallback>
          <p:sp>
            <p:nvSpPr>
              <p:cNvPr id="300029" name="Equation 15"/>
              <p:cNvSpPr>
                <a:spLocks noRot="1" noChangeAspect="1" noMove="1" noResize="1" noEditPoints="1" noAdjustHandles="1" noChangeArrowheads="1" noChangeShapeType="1" noTextEdit="1"/>
              </p:cNvSpPr>
              <p:nvPr/>
            </p:nvSpPr>
            <p:spPr>
              <a:xfrm>
                <a:off x="5588000" y="4229100"/>
                <a:ext cx="533400" cy="304800"/>
              </a:xfrm>
              <a:blipFill>
                <a:blip r:embed="rId10"/>
                <a:stretch>
                  <a:fillRect/>
                </a:stretch>
              </a:blipFill>
            </p:spPr>
            <p:txBody>
              <a:bodyPr/>
              <a:lstStyle/>
              <a:p>
                <a:r>
                  <a:rPr lang="zh-CN" altLang="en-US">
                    <a:noFill/>
                  </a:rPr>
                  <a:t> </a:t>
                </a:r>
              </a:p>
            </p:txBody>
          </p:sp>
        </mc:Fallback>
      </mc:AlternateContent>
      <p:cxnSp>
        <p:nvCxnSpPr>
          <p:cNvPr id="300030" name="circuit_wire_300030"/>
          <p:cNvCxnSpPr/>
          <p:nvPr/>
        </p:nvCxnSpPr>
        <p:spPr>
          <a:xfrm>
            <a:off x="6108700" y="4381500"/>
            <a:ext cx="5499100" cy="0"/>
          </a:xfrm>
          <a:prstGeom prst="straightConnector1">
            <a:avLst/>
          </a:prstGeom>
          <a:ln w="10160">
            <a:solidFill>
              <a:srgbClr val="000000"/>
            </a:solidFill>
            <a:headEnd type="none"/>
            <a:tailEnd type="none"/>
          </a:ln>
        </p:spPr>
      </p:cxnSp>
      <mc:AlternateContent xmlns:mc="http://schemas.openxmlformats.org/markup-compatibility/2006">
        <mc:Choice xmlns:a14="http://schemas.microsoft.com/office/drawing/2010/main" Requires="a14">
          <p:sp>
            <p:nvSpPr>
              <p:cNvPr id="300031" name="Equation 16"/>
              <p:cNvSpPr/>
              <p:nvPr/>
            </p:nvSpPr>
            <p:spPr>
              <a:xfrm>
                <a:off x="5588000" y="4737100"/>
                <a:ext cx="533400" cy="304800"/>
              </a:xfrm>
            </p:spPr>
            <p:txBody>
              <a:bodyPr lIns="0" tIns="0" rIns="0" bIns="0" anchor="ctr"/>
              <a:lstStyle/>
              <a:p>
                <a:pPr algn="ctr">
                  <a:defRPr sz="12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r>
                            <a:rPr>
                              <a:latin typeface="Cambria Math" panose="02040503050406030204" pitchFamily="18" charset="0"/>
                            </a:rPr>
                            <m:t>|0</m:t>
                          </m:r>
                          <m:sSub>
                            <m:sSubPr>
                              <m:ctrlPr>
                                <a:rPr i="1">
                                  <a:latin typeface="Cambria Math" panose="02040503050406030204" pitchFamily="18" charset="0"/>
                                </a:rPr>
                              </m:ctrlPr>
                            </m:sSubPr>
                            <m:e>
                              <m:r>
                                <a:rPr>
                                  <a:latin typeface="Cambria Math" panose="02040503050406030204" pitchFamily="18" charset="0"/>
                                </a:rPr>
                                <m:t>⟩</m:t>
                              </m:r>
                            </m:e>
                            <m:sub>
                              <m:r>
                                <a:rPr>
                                  <a:latin typeface="Cambria Math" panose="02040503050406030204" pitchFamily="18" charset="0"/>
                                </a:rPr>
                                <m:t>5</m:t>
                              </m:r>
                            </m:sub>
                          </m:sSub>
                        </m:oMath>
                      </m:oMathPara>
                    </a14:m>
                  </mc:Choice>
                  <mc:Fallback xmlns:asvg="http://schemas.microsoft.com/office/drawing/2016/SVG/main" xmlns="">
                    <a:r>
                      <a:rPr lang="en-US" sz="1200"/>
                      <a:t>|0⟩₅</a:t>
                    </a:r>
                  </mc:Fallback>
                </mc:AlternateContent>
                <a:endParaRPr/>
              </a:p>
            </p:txBody>
          </p:sp>
        </mc:Choice>
        <mc:Fallback>
          <p:sp>
            <p:nvSpPr>
              <p:cNvPr id="300031" name="Equation 16"/>
              <p:cNvSpPr>
                <a:spLocks noRot="1" noChangeAspect="1" noMove="1" noResize="1" noEditPoints="1" noAdjustHandles="1" noChangeArrowheads="1" noChangeShapeType="1" noTextEdit="1"/>
              </p:cNvSpPr>
              <p:nvPr/>
            </p:nvSpPr>
            <p:spPr>
              <a:xfrm>
                <a:off x="5588000" y="4737100"/>
                <a:ext cx="533400" cy="304800"/>
              </a:xfrm>
              <a:blipFill>
                <a:blip r:embed="rId11"/>
                <a:stretch>
                  <a:fillRect/>
                </a:stretch>
              </a:blipFill>
            </p:spPr>
            <p:txBody>
              <a:bodyPr/>
              <a:lstStyle/>
              <a:p>
                <a:r>
                  <a:rPr lang="zh-CN" altLang="en-US">
                    <a:noFill/>
                  </a:rPr>
                  <a:t> </a:t>
                </a:r>
              </a:p>
            </p:txBody>
          </p:sp>
        </mc:Fallback>
      </mc:AlternateContent>
      <p:cxnSp>
        <p:nvCxnSpPr>
          <p:cNvPr id="300032" name="circuit_wire_300032"/>
          <p:cNvCxnSpPr/>
          <p:nvPr/>
        </p:nvCxnSpPr>
        <p:spPr>
          <a:xfrm>
            <a:off x="6108700" y="4889500"/>
            <a:ext cx="5499100" cy="0"/>
          </a:xfrm>
          <a:prstGeom prst="straightConnector1">
            <a:avLst/>
          </a:prstGeom>
          <a:ln w="10160">
            <a:solidFill>
              <a:srgbClr val="000000"/>
            </a:solidFill>
            <a:headEnd type="none"/>
            <a:tailEnd type="none"/>
          </a:ln>
        </p:spPr>
      </p:cxnSp>
      <p:sp>
        <p:nvSpPr>
          <p:cNvPr id="300033" name="quantum_gate_300033"/>
          <p:cNvSpPr/>
          <p:nvPr/>
        </p:nvSpPr>
        <p:spPr>
          <a:xfrm>
            <a:off x="6184900" y="2171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34" name="Equation 18"/>
              <p:cNvSpPr/>
              <p:nvPr/>
            </p:nvSpPr>
            <p:spPr>
              <a:xfrm>
                <a:off x="6197600" y="2184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0</m:t>
                              </m:r>
                            </m:sub>
                          </m:sSub>
                          <m:r>
                            <a:rPr>
                              <a:latin typeface="Cambria Math" panose="02040503050406030204" pitchFamily="18" charset="0"/>
                            </a:rPr>
                            <m:t>)</m:t>
                          </m:r>
                        </m:oMath>
                      </m:oMathPara>
                    </a14:m>
                  </mc:Choice>
                  <mc:Fallback xmlns:asvg="http://schemas.microsoft.com/office/drawing/2016/SVG/main" xmlns="">
                    <a:r>
                      <a:rPr lang="en-US" sz="1050"/>
                      <a:t>RY(θ₀)</a:t>
                    </a:r>
                  </mc:Fallback>
                </mc:AlternateContent>
                <a:endParaRPr/>
              </a:p>
            </p:txBody>
          </p:sp>
        </mc:Choice>
        <mc:Fallback>
          <p:sp>
            <p:nvSpPr>
              <p:cNvPr id="300034" name="Equation 18"/>
              <p:cNvSpPr>
                <a:spLocks noRot="1" noChangeAspect="1" noMove="1" noResize="1" noEditPoints="1" noAdjustHandles="1" noChangeArrowheads="1" noChangeShapeType="1" noTextEdit="1"/>
              </p:cNvSpPr>
              <p:nvPr/>
            </p:nvSpPr>
            <p:spPr>
              <a:xfrm>
                <a:off x="6197600" y="2184400"/>
                <a:ext cx="533400" cy="330200"/>
              </a:xfrm>
              <a:blipFill>
                <a:blip r:embed="rId12"/>
                <a:stretch>
                  <a:fillRect/>
                </a:stretch>
              </a:blipFill>
            </p:spPr>
            <p:txBody>
              <a:bodyPr/>
              <a:lstStyle/>
              <a:p>
                <a:r>
                  <a:rPr lang="zh-CN" altLang="en-US">
                    <a:noFill/>
                  </a:rPr>
                  <a:t> </a:t>
                </a:r>
              </a:p>
            </p:txBody>
          </p:sp>
        </mc:Fallback>
      </mc:AlternateContent>
      <p:sp>
        <p:nvSpPr>
          <p:cNvPr id="300035" name="quantum_gate_300035"/>
          <p:cNvSpPr/>
          <p:nvPr/>
        </p:nvSpPr>
        <p:spPr>
          <a:xfrm>
            <a:off x="6794500" y="2171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36" name="Equation 20"/>
              <p:cNvSpPr/>
              <p:nvPr/>
            </p:nvSpPr>
            <p:spPr>
              <a:xfrm>
                <a:off x="6807200" y="2184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6</m:t>
                              </m:r>
                            </m:sub>
                          </m:sSub>
                          <m:r>
                            <a:rPr>
                              <a:latin typeface="Cambria Math" panose="02040503050406030204" pitchFamily="18" charset="0"/>
                            </a:rPr>
                            <m:t>)</m:t>
                          </m:r>
                        </m:oMath>
                      </m:oMathPara>
                    </a14:m>
                  </mc:Choice>
                  <mc:Fallback xmlns:asvg="http://schemas.microsoft.com/office/drawing/2016/SVG/main" xmlns="">
                    <a:r>
                      <a:rPr lang="en-US" sz="1050"/>
                      <a:t>RZ(θ₆)</a:t>
                    </a:r>
                  </mc:Fallback>
                </mc:AlternateContent>
                <a:endParaRPr/>
              </a:p>
            </p:txBody>
          </p:sp>
        </mc:Choice>
        <mc:Fallback>
          <p:sp>
            <p:nvSpPr>
              <p:cNvPr id="300036" name="Equation 20"/>
              <p:cNvSpPr>
                <a:spLocks noRot="1" noChangeAspect="1" noMove="1" noResize="1" noEditPoints="1" noAdjustHandles="1" noChangeArrowheads="1" noChangeShapeType="1" noTextEdit="1"/>
              </p:cNvSpPr>
              <p:nvPr/>
            </p:nvSpPr>
            <p:spPr>
              <a:xfrm>
                <a:off x="6807200" y="2184400"/>
                <a:ext cx="533400" cy="330200"/>
              </a:xfrm>
              <a:blipFill>
                <a:blip r:embed="rId13"/>
                <a:stretch>
                  <a:fillRect/>
                </a:stretch>
              </a:blipFill>
            </p:spPr>
            <p:txBody>
              <a:bodyPr/>
              <a:lstStyle/>
              <a:p>
                <a:r>
                  <a:rPr lang="zh-CN" altLang="en-US">
                    <a:noFill/>
                  </a:rPr>
                  <a:t> </a:t>
                </a:r>
              </a:p>
            </p:txBody>
          </p:sp>
        </mc:Fallback>
      </mc:AlternateContent>
      <p:sp>
        <p:nvSpPr>
          <p:cNvPr id="300037" name="quantum_gate_300037"/>
          <p:cNvSpPr/>
          <p:nvPr/>
        </p:nvSpPr>
        <p:spPr>
          <a:xfrm>
            <a:off x="7493000" y="2171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38" name="Equation 22"/>
              <p:cNvSpPr/>
              <p:nvPr/>
            </p:nvSpPr>
            <p:spPr>
              <a:xfrm>
                <a:off x="7505700" y="2184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ℓ 0</m:t>
                              </m:r>
                            </m:sub>
                          </m:sSub>
                          <m:r>
                            <a:rPr>
                              <a:latin typeface="Cambria Math" panose="02040503050406030204" pitchFamily="18" charset="0"/>
                            </a:rPr>
                            <m:t>)</m:t>
                          </m:r>
                        </m:oMath>
                      </m:oMathPara>
                    </a14:m>
                  </mc:Choice>
                  <mc:Fallback xmlns:asvg="http://schemas.microsoft.com/office/drawing/2016/SVG/main" xmlns="">
                    <a:r>
                      <a:rPr lang="en-US" sz="1050"/>
                      <a:t>RZ(ϕℓ ₀)</a:t>
                    </a:r>
                  </mc:Fallback>
                </mc:AlternateContent>
                <a:endParaRPr/>
              </a:p>
            </p:txBody>
          </p:sp>
        </mc:Choice>
        <mc:Fallback>
          <p:sp>
            <p:nvSpPr>
              <p:cNvPr id="300038" name="Equation 22"/>
              <p:cNvSpPr>
                <a:spLocks noRot="1" noChangeAspect="1" noMove="1" noResize="1" noEditPoints="1" noAdjustHandles="1" noChangeArrowheads="1" noChangeShapeType="1" noTextEdit="1"/>
              </p:cNvSpPr>
              <p:nvPr/>
            </p:nvSpPr>
            <p:spPr>
              <a:xfrm>
                <a:off x="7505700" y="2184400"/>
                <a:ext cx="495300" cy="330200"/>
              </a:xfrm>
              <a:blipFill>
                <a:blip r:embed="rId14"/>
                <a:stretch>
                  <a:fillRect/>
                </a:stretch>
              </a:blipFill>
            </p:spPr>
            <p:txBody>
              <a:bodyPr/>
              <a:lstStyle/>
              <a:p>
                <a:r>
                  <a:rPr lang="zh-CN" altLang="en-US">
                    <a:noFill/>
                  </a:rPr>
                  <a:t> </a:t>
                </a:r>
              </a:p>
            </p:txBody>
          </p:sp>
        </mc:Fallback>
      </mc:AlternateContent>
      <p:sp>
        <p:nvSpPr>
          <p:cNvPr id="300039" name="quantum_gate_300039"/>
          <p:cNvSpPr/>
          <p:nvPr/>
        </p:nvSpPr>
        <p:spPr>
          <a:xfrm>
            <a:off x="8089900" y="2171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40" name="Equation 24"/>
              <p:cNvSpPr/>
              <p:nvPr/>
            </p:nvSpPr>
            <p:spPr>
              <a:xfrm>
                <a:off x="8102600" y="2184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𝜗</m:t>
                              </m:r>
                            </m:e>
                            <m:sub>
                              <m:r>
                                <a:rPr>
                                  <a:latin typeface="Cambria Math" panose="02040503050406030204" pitchFamily="18" charset="0"/>
                                </a:rPr>
                                <m:t>ℓ 0</m:t>
                              </m:r>
                            </m:sub>
                          </m:sSub>
                          <m:r>
                            <a:rPr>
                              <a:latin typeface="Cambria Math" panose="02040503050406030204" pitchFamily="18" charset="0"/>
                            </a:rPr>
                            <m:t>)</m:t>
                          </m:r>
                        </m:oMath>
                      </m:oMathPara>
                    </a14:m>
                  </mc:Choice>
                  <mc:Fallback xmlns:asvg="http://schemas.microsoft.com/office/drawing/2016/SVG/main" xmlns="">
                    <a:r>
                      <a:rPr lang="en-US" sz="1050"/>
                      <a:t>RY(ϑℓ ₀)</a:t>
                    </a:r>
                  </mc:Fallback>
                </mc:AlternateContent>
                <a:endParaRPr/>
              </a:p>
            </p:txBody>
          </p:sp>
        </mc:Choice>
        <mc:Fallback>
          <p:sp>
            <p:nvSpPr>
              <p:cNvPr id="300040" name="Equation 24"/>
              <p:cNvSpPr>
                <a:spLocks noRot="1" noChangeAspect="1" noMove="1" noResize="1" noEditPoints="1" noAdjustHandles="1" noChangeArrowheads="1" noChangeShapeType="1" noTextEdit="1"/>
              </p:cNvSpPr>
              <p:nvPr/>
            </p:nvSpPr>
            <p:spPr>
              <a:xfrm>
                <a:off x="8102600" y="2184400"/>
                <a:ext cx="495300" cy="330200"/>
              </a:xfrm>
              <a:blipFill>
                <a:blip r:embed="rId15"/>
                <a:stretch>
                  <a:fillRect/>
                </a:stretch>
              </a:blipFill>
            </p:spPr>
            <p:txBody>
              <a:bodyPr/>
              <a:lstStyle/>
              <a:p>
                <a:r>
                  <a:rPr lang="zh-CN" altLang="en-US">
                    <a:noFill/>
                  </a:rPr>
                  <a:t> </a:t>
                </a:r>
              </a:p>
            </p:txBody>
          </p:sp>
        </mc:Fallback>
      </mc:AlternateContent>
      <p:sp>
        <p:nvSpPr>
          <p:cNvPr id="300041" name="quantum_gate_300041"/>
          <p:cNvSpPr/>
          <p:nvPr/>
        </p:nvSpPr>
        <p:spPr>
          <a:xfrm>
            <a:off x="8686800" y="2171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42" name="Equation 26"/>
              <p:cNvSpPr/>
              <p:nvPr/>
            </p:nvSpPr>
            <p:spPr>
              <a:xfrm>
                <a:off x="8699500" y="2184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ℓ 0</m:t>
                              </m:r>
                            </m:sub>
                          </m:sSub>
                          <m:r>
                            <a:rPr>
                              <a:latin typeface="Cambria Math" panose="02040503050406030204" pitchFamily="18" charset="0"/>
                            </a:rPr>
                            <m:t>)</m:t>
                          </m:r>
                        </m:oMath>
                      </m:oMathPara>
                    </a14:m>
                  </mc:Choice>
                  <mc:Fallback xmlns:asvg="http://schemas.microsoft.com/office/drawing/2016/SVG/main" xmlns="">
                    <a:r>
                      <a:rPr lang="en-US" sz="1050"/>
                      <a:t>RZ(ωℓ ₀)</a:t>
                    </a:r>
                  </mc:Fallback>
                </mc:AlternateContent>
                <a:endParaRPr/>
              </a:p>
            </p:txBody>
          </p:sp>
        </mc:Choice>
        <mc:Fallback>
          <p:sp>
            <p:nvSpPr>
              <p:cNvPr id="300042" name="Equation 26"/>
              <p:cNvSpPr>
                <a:spLocks noRot="1" noChangeAspect="1" noMove="1" noResize="1" noEditPoints="1" noAdjustHandles="1" noChangeArrowheads="1" noChangeShapeType="1" noTextEdit="1"/>
              </p:cNvSpPr>
              <p:nvPr/>
            </p:nvSpPr>
            <p:spPr>
              <a:xfrm>
                <a:off x="8699500" y="2184400"/>
                <a:ext cx="495300" cy="330200"/>
              </a:xfrm>
              <a:blipFill>
                <a:blip r:embed="rId16"/>
                <a:stretch>
                  <a:fillRect/>
                </a:stretch>
              </a:blipFill>
            </p:spPr>
            <p:txBody>
              <a:bodyPr/>
              <a:lstStyle/>
              <a:p>
                <a:r>
                  <a:rPr lang="zh-CN" altLang="en-US">
                    <a:noFill/>
                  </a:rPr>
                  <a:t> </a:t>
                </a:r>
              </a:p>
            </p:txBody>
          </p:sp>
        </mc:Fallback>
      </mc:AlternateContent>
      <p:sp>
        <p:nvSpPr>
          <p:cNvPr id="300043" name="quantum_gate_300043"/>
          <p:cNvSpPr/>
          <p:nvPr/>
        </p:nvSpPr>
        <p:spPr>
          <a:xfrm>
            <a:off x="6184900" y="2679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44" name="Equation 28"/>
              <p:cNvSpPr/>
              <p:nvPr/>
            </p:nvSpPr>
            <p:spPr>
              <a:xfrm>
                <a:off x="6197600" y="2692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1</m:t>
                              </m:r>
                            </m:sub>
                          </m:sSub>
                          <m:r>
                            <a:rPr>
                              <a:latin typeface="Cambria Math" panose="02040503050406030204" pitchFamily="18" charset="0"/>
                            </a:rPr>
                            <m:t>)</m:t>
                          </m:r>
                        </m:oMath>
                      </m:oMathPara>
                    </a14:m>
                  </mc:Choice>
                  <mc:Fallback xmlns:asvg="http://schemas.microsoft.com/office/drawing/2016/SVG/main" xmlns="">
                    <a:r>
                      <a:rPr lang="en-US" sz="1050"/>
                      <a:t>RY(θ₁)</a:t>
                    </a:r>
                  </mc:Fallback>
                </mc:AlternateContent>
                <a:endParaRPr/>
              </a:p>
            </p:txBody>
          </p:sp>
        </mc:Choice>
        <mc:Fallback>
          <p:sp>
            <p:nvSpPr>
              <p:cNvPr id="300044" name="Equation 28"/>
              <p:cNvSpPr>
                <a:spLocks noRot="1" noChangeAspect="1" noMove="1" noResize="1" noEditPoints="1" noAdjustHandles="1" noChangeArrowheads="1" noChangeShapeType="1" noTextEdit="1"/>
              </p:cNvSpPr>
              <p:nvPr/>
            </p:nvSpPr>
            <p:spPr>
              <a:xfrm>
                <a:off x="6197600" y="2692400"/>
                <a:ext cx="533400" cy="330200"/>
              </a:xfrm>
              <a:blipFill>
                <a:blip r:embed="rId17"/>
                <a:stretch>
                  <a:fillRect/>
                </a:stretch>
              </a:blipFill>
            </p:spPr>
            <p:txBody>
              <a:bodyPr/>
              <a:lstStyle/>
              <a:p>
                <a:r>
                  <a:rPr lang="zh-CN" altLang="en-US">
                    <a:noFill/>
                  </a:rPr>
                  <a:t> </a:t>
                </a:r>
              </a:p>
            </p:txBody>
          </p:sp>
        </mc:Fallback>
      </mc:AlternateContent>
      <p:sp>
        <p:nvSpPr>
          <p:cNvPr id="300045" name="quantum_gate_300045"/>
          <p:cNvSpPr/>
          <p:nvPr/>
        </p:nvSpPr>
        <p:spPr>
          <a:xfrm>
            <a:off x="6794500" y="2679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46" name="Equation 30"/>
              <p:cNvSpPr/>
              <p:nvPr/>
            </p:nvSpPr>
            <p:spPr>
              <a:xfrm>
                <a:off x="6807200" y="2692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7</m:t>
                              </m:r>
                            </m:sub>
                          </m:sSub>
                          <m:r>
                            <a:rPr>
                              <a:latin typeface="Cambria Math" panose="02040503050406030204" pitchFamily="18" charset="0"/>
                            </a:rPr>
                            <m:t>)</m:t>
                          </m:r>
                        </m:oMath>
                      </m:oMathPara>
                    </a14:m>
                  </mc:Choice>
                  <mc:Fallback xmlns:asvg="http://schemas.microsoft.com/office/drawing/2016/SVG/main" xmlns="">
                    <a:r>
                      <a:rPr lang="en-US" sz="1050"/>
                      <a:t>RZ(θ₇)</a:t>
                    </a:r>
                  </mc:Fallback>
                </mc:AlternateContent>
                <a:endParaRPr/>
              </a:p>
            </p:txBody>
          </p:sp>
        </mc:Choice>
        <mc:Fallback>
          <p:sp>
            <p:nvSpPr>
              <p:cNvPr id="300046" name="Equation 30"/>
              <p:cNvSpPr>
                <a:spLocks noRot="1" noChangeAspect="1" noMove="1" noResize="1" noEditPoints="1" noAdjustHandles="1" noChangeArrowheads="1" noChangeShapeType="1" noTextEdit="1"/>
              </p:cNvSpPr>
              <p:nvPr/>
            </p:nvSpPr>
            <p:spPr>
              <a:xfrm>
                <a:off x="6807200" y="2692400"/>
                <a:ext cx="533400" cy="330200"/>
              </a:xfrm>
              <a:blipFill>
                <a:blip r:embed="rId18"/>
                <a:stretch>
                  <a:fillRect/>
                </a:stretch>
              </a:blipFill>
            </p:spPr>
            <p:txBody>
              <a:bodyPr/>
              <a:lstStyle/>
              <a:p>
                <a:r>
                  <a:rPr lang="zh-CN" altLang="en-US">
                    <a:noFill/>
                  </a:rPr>
                  <a:t> </a:t>
                </a:r>
              </a:p>
            </p:txBody>
          </p:sp>
        </mc:Fallback>
      </mc:AlternateContent>
      <p:sp>
        <p:nvSpPr>
          <p:cNvPr id="300047" name="quantum_gate_300047"/>
          <p:cNvSpPr/>
          <p:nvPr/>
        </p:nvSpPr>
        <p:spPr>
          <a:xfrm>
            <a:off x="7493000" y="2679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48" name="Equation 32"/>
              <p:cNvSpPr/>
              <p:nvPr/>
            </p:nvSpPr>
            <p:spPr>
              <a:xfrm>
                <a:off x="7505700" y="2692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ℓ 1</m:t>
                              </m:r>
                            </m:sub>
                          </m:sSub>
                          <m:r>
                            <a:rPr>
                              <a:latin typeface="Cambria Math" panose="02040503050406030204" pitchFamily="18" charset="0"/>
                            </a:rPr>
                            <m:t>)</m:t>
                          </m:r>
                        </m:oMath>
                      </m:oMathPara>
                    </a14:m>
                  </mc:Choice>
                  <mc:Fallback xmlns:asvg="http://schemas.microsoft.com/office/drawing/2016/SVG/main" xmlns="">
                    <a:r>
                      <a:rPr lang="en-US" sz="1050"/>
                      <a:t>RZ(ϕℓ ₁)</a:t>
                    </a:r>
                  </mc:Fallback>
                </mc:AlternateContent>
                <a:endParaRPr/>
              </a:p>
            </p:txBody>
          </p:sp>
        </mc:Choice>
        <mc:Fallback>
          <p:sp>
            <p:nvSpPr>
              <p:cNvPr id="300048" name="Equation 32"/>
              <p:cNvSpPr>
                <a:spLocks noRot="1" noChangeAspect="1" noMove="1" noResize="1" noEditPoints="1" noAdjustHandles="1" noChangeArrowheads="1" noChangeShapeType="1" noTextEdit="1"/>
              </p:cNvSpPr>
              <p:nvPr/>
            </p:nvSpPr>
            <p:spPr>
              <a:xfrm>
                <a:off x="7505700" y="2692400"/>
                <a:ext cx="495300" cy="330200"/>
              </a:xfrm>
              <a:blipFill>
                <a:blip r:embed="rId19"/>
                <a:stretch>
                  <a:fillRect/>
                </a:stretch>
              </a:blipFill>
            </p:spPr>
            <p:txBody>
              <a:bodyPr/>
              <a:lstStyle/>
              <a:p>
                <a:r>
                  <a:rPr lang="zh-CN" altLang="en-US">
                    <a:noFill/>
                  </a:rPr>
                  <a:t> </a:t>
                </a:r>
              </a:p>
            </p:txBody>
          </p:sp>
        </mc:Fallback>
      </mc:AlternateContent>
      <p:sp>
        <p:nvSpPr>
          <p:cNvPr id="300049" name="quantum_gate_300049"/>
          <p:cNvSpPr/>
          <p:nvPr/>
        </p:nvSpPr>
        <p:spPr>
          <a:xfrm>
            <a:off x="8089900" y="2679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50" name="Equation 34"/>
              <p:cNvSpPr/>
              <p:nvPr/>
            </p:nvSpPr>
            <p:spPr>
              <a:xfrm>
                <a:off x="8102600" y="2692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𝜗</m:t>
                              </m:r>
                            </m:e>
                            <m:sub>
                              <m:r>
                                <a:rPr>
                                  <a:latin typeface="Cambria Math" panose="02040503050406030204" pitchFamily="18" charset="0"/>
                                </a:rPr>
                                <m:t>ℓ 1</m:t>
                              </m:r>
                            </m:sub>
                          </m:sSub>
                          <m:r>
                            <a:rPr>
                              <a:latin typeface="Cambria Math" panose="02040503050406030204" pitchFamily="18" charset="0"/>
                            </a:rPr>
                            <m:t>)</m:t>
                          </m:r>
                        </m:oMath>
                      </m:oMathPara>
                    </a14:m>
                  </mc:Choice>
                  <mc:Fallback xmlns:asvg="http://schemas.microsoft.com/office/drawing/2016/SVG/main" xmlns="">
                    <a:r>
                      <a:rPr lang="en-US" sz="1050"/>
                      <a:t>RY(ϑℓ ₁)</a:t>
                    </a:r>
                  </mc:Fallback>
                </mc:AlternateContent>
                <a:endParaRPr/>
              </a:p>
            </p:txBody>
          </p:sp>
        </mc:Choice>
        <mc:Fallback>
          <p:sp>
            <p:nvSpPr>
              <p:cNvPr id="300050" name="Equation 34"/>
              <p:cNvSpPr>
                <a:spLocks noRot="1" noChangeAspect="1" noMove="1" noResize="1" noEditPoints="1" noAdjustHandles="1" noChangeArrowheads="1" noChangeShapeType="1" noTextEdit="1"/>
              </p:cNvSpPr>
              <p:nvPr/>
            </p:nvSpPr>
            <p:spPr>
              <a:xfrm>
                <a:off x="8102600" y="2692400"/>
                <a:ext cx="495300" cy="330200"/>
              </a:xfrm>
              <a:blipFill>
                <a:blip r:embed="rId20"/>
                <a:stretch>
                  <a:fillRect/>
                </a:stretch>
              </a:blipFill>
            </p:spPr>
            <p:txBody>
              <a:bodyPr/>
              <a:lstStyle/>
              <a:p>
                <a:r>
                  <a:rPr lang="zh-CN" altLang="en-US">
                    <a:noFill/>
                  </a:rPr>
                  <a:t> </a:t>
                </a:r>
              </a:p>
            </p:txBody>
          </p:sp>
        </mc:Fallback>
      </mc:AlternateContent>
      <p:sp>
        <p:nvSpPr>
          <p:cNvPr id="300051" name="quantum_gate_300051"/>
          <p:cNvSpPr/>
          <p:nvPr/>
        </p:nvSpPr>
        <p:spPr>
          <a:xfrm>
            <a:off x="8686800" y="2679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52" name="Equation 36"/>
              <p:cNvSpPr/>
              <p:nvPr/>
            </p:nvSpPr>
            <p:spPr>
              <a:xfrm>
                <a:off x="8699500" y="2692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ℓ 1</m:t>
                              </m:r>
                            </m:sub>
                          </m:sSub>
                          <m:r>
                            <a:rPr>
                              <a:latin typeface="Cambria Math" panose="02040503050406030204" pitchFamily="18" charset="0"/>
                            </a:rPr>
                            <m:t>)</m:t>
                          </m:r>
                        </m:oMath>
                      </m:oMathPara>
                    </a14:m>
                  </mc:Choice>
                  <mc:Fallback xmlns:asvg="http://schemas.microsoft.com/office/drawing/2016/SVG/main" xmlns="">
                    <a:r>
                      <a:rPr lang="en-US" sz="1050"/>
                      <a:t>RZ(ωℓ ₁)</a:t>
                    </a:r>
                  </mc:Fallback>
                </mc:AlternateContent>
                <a:endParaRPr/>
              </a:p>
            </p:txBody>
          </p:sp>
        </mc:Choice>
        <mc:Fallback>
          <p:sp>
            <p:nvSpPr>
              <p:cNvPr id="300052" name="Equation 36"/>
              <p:cNvSpPr>
                <a:spLocks noRot="1" noChangeAspect="1" noMove="1" noResize="1" noEditPoints="1" noAdjustHandles="1" noChangeArrowheads="1" noChangeShapeType="1" noTextEdit="1"/>
              </p:cNvSpPr>
              <p:nvPr/>
            </p:nvSpPr>
            <p:spPr>
              <a:xfrm>
                <a:off x="8699500" y="2692400"/>
                <a:ext cx="495300" cy="330200"/>
              </a:xfrm>
              <a:blipFill>
                <a:blip r:embed="rId21"/>
                <a:stretch>
                  <a:fillRect/>
                </a:stretch>
              </a:blipFill>
            </p:spPr>
            <p:txBody>
              <a:bodyPr/>
              <a:lstStyle/>
              <a:p>
                <a:r>
                  <a:rPr lang="zh-CN" altLang="en-US">
                    <a:noFill/>
                  </a:rPr>
                  <a:t> </a:t>
                </a:r>
              </a:p>
            </p:txBody>
          </p:sp>
        </mc:Fallback>
      </mc:AlternateContent>
      <p:sp>
        <p:nvSpPr>
          <p:cNvPr id="300053" name="quantum_gate_300053"/>
          <p:cNvSpPr/>
          <p:nvPr/>
        </p:nvSpPr>
        <p:spPr>
          <a:xfrm>
            <a:off x="6184900" y="3187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54" name="Equation 38"/>
              <p:cNvSpPr/>
              <p:nvPr/>
            </p:nvSpPr>
            <p:spPr>
              <a:xfrm>
                <a:off x="6197600" y="3200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2</m:t>
                              </m:r>
                            </m:sub>
                          </m:sSub>
                          <m:r>
                            <a:rPr>
                              <a:latin typeface="Cambria Math" panose="02040503050406030204" pitchFamily="18" charset="0"/>
                            </a:rPr>
                            <m:t>)</m:t>
                          </m:r>
                        </m:oMath>
                      </m:oMathPara>
                    </a14:m>
                  </mc:Choice>
                  <mc:Fallback xmlns:asvg="http://schemas.microsoft.com/office/drawing/2016/SVG/main" xmlns="">
                    <a:r>
                      <a:rPr lang="en-US" sz="1050"/>
                      <a:t>RY(θ₂)</a:t>
                    </a:r>
                  </mc:Fallback>
                </mc:AlternateContent>
                <a:endParaRPr/>
              </a:p>
            </p:txBody>
          </p:sp>
        </mc:Choice>
        <mc:Fallback>
          <p:sp>
            <p:nvSpPr>
              <p:cNvPr id="300054" name="Equation 38"/>
              <p:cNvSpPr>
                <a:spLocks noRot="1" noChangeAspect="1" noMove="1" noResize="1" noEditPoints="1" noAdjustHandles="1" noChangeArrowheads="1" noChangeShapeType="1" noTextEdit="1"/>
              </p:cNvSpPr>
              <p:nvPr/>
            </p:nvSpPr>
            <p:spPr>
              <a:xfrm>
                <a:off x="6197600" y="3200400"/>
                <a:ext cx="533400" cy="330200"/>
              </a:xfrm>
              <a:blipFill>
                <a:blip r:embed="rId22"/>
                <a:stretch>
                  <a:fillRect/>
                </a:stretch>
              </a:blipFill>
            </p:spPr>
            <p:txBody>
              <a:bodyPr/>
              <a:lstStyle/>
              <a:p>
                <a:r>
                  <a:rPr lang="zh-CN" altLang="en-US">
                    <a:noFill/>
                  </a:rPr>
                  <a:t> </a:t>
                </a:r>
              </a:p>
            </p:txBody>
          </p:sp>
        </mc:Fallback>
      </mc:AlternateContent>
      <p:sp>
        <p:nvSpPr>
          <p:cNvPr id="300055" name="quantum_gate_300055"/>
          <p:cNvSpPr/>
          <p:nvPr/>
        </p:nvSpPr>
        <p:spPr>
          <a:xfrm>
            <a:off x="6794500" y="3187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56" name="Equation 40"/>
              <p:cNvSpPr/>
              <p:nvPr/>
            </p:nvSpPr>
            <p:spPr>
              <a:xfrm>
                <a:off x="6807200" y="3200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8</m:t>
                              </m:r>
                            </m:sub>
                          </m:sSub>
                          <m:r>
                            <a:rPr>
                              <a:latin typeface="Cambria Math" panose="02040503050406030204" pitchFamily="18" charset="0"/>
                            </a:rPr>
                            <m:t>)</m:t>
                          </m:r>
                        </m:oMath>
                      </m:oMathPara>
                    </a14:m>
                  </mc:Choice>
                  <mc:Fallback xmlns:asvg="http://schemas.microsoft.com/office/drawing/2016/SVG/main" xmlns="">
                    <a:r>
                      <a:rPr lang="en-US" sz="1050"/>
                      <a:t>RZ(θ₈)</a:t>
                    </a:r>
                  </mc:Fallback>
                </mc:AlternateContent>
                <a:endParaRPr/>
              </a:p>
            </p:txBody>
          </p:sp>
        </mc:Choice>
        <mc:Fallback>
          <p:sp>
            <p:nvSpPr>
              <p:cNvPr id="300056" name="Equation 40"/>
              <p:cNvSpPr>
                <a:spLocks noRot="1" noChangeAspect="1" noMove="1" noResize="1" noEditPoints="1" noAdjustHandles="1" noChangeArrowheads="1" noChangeShapeType="1" noTextEdit="1"/>
              </p:cNvSpPr>
              <p:nvPr/>
            </p:nvSpPr>
            <p:spPr>
              <a:xfrm>
                <a:off x="6807200" y="3200400"/>
                <a:ext cx="533400" cy="330200"/>
              </a:xfrm>
              <a:blipFill>
                <a:blip r:embed="rId23"/>
                <a:stretch>
                  <a:fillRect/>
                </a:stretch>
              </a:blipFill>
            </p:spPr>
            <p:txBody>
              <a:bodyPr/>
              <a:lstStyle/>
              <a:p>
                <a:r>
                  <a:rPr lang="zh-CN" altLang="en-US">
                    <a:noFill/>
                  </a:rPr>
                  <a:t> </a:t>
                </a:r>
              </a:p>
            </p:txBody>
          </p:sp>
        </mc:Fallback>
      </mc:AlternateContent>
      <p:sp>
        <p:nvSpPr>
          <p:cNvPr id="300057" name="quantum_gate_300057"/>
          <p:cNvSpPr/>
          <p:nvPr/>
        </p:nvSpPr>
        <p:spPr>
          <a:xfrm>
            <a:off x="7493000" y="3187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58" name="Equation 42"/>
              <p:cNvSpPr/>
              <p:nvPr/>
            </p:nvSpPr>
            <p:spPr>
              <a:xfrm>
                <a:off x="7505700" y="3200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ℓ 2</m:t>
                              </m:r>
                            </m:sub>
                          </m:sSub>
                          <m:r>
                            <a:rPr>
                              <a:latin typeface="Cambria Math" panose="02040503050406030204" pitchFamily="18" charset="0"/>
                            </a:rPr>
                            <m:t>)</m:t>
                          </m:r>
                        </m:oMath>
                      </m:oMathPara>
                    </a14:m>
                  </mc:Choice>
                  <mc:Fallback xmlns:asvg="http://schemas.microsoft.com/office/drawing/2016/SVG/main" xmlns="">
                    <a:r>
                      <a:rPr lang="en-US" sz="1050"/>
                      <a:t>RZ(ϕℓ ₂)</a:t>
                    </a:r>
                  </mc:Fallback>
                </mc:AlternateContent>
                <a:endParaRPr/>
              </a:p>
            </p:txBody>
          </p:sp>
        </mc:Choice>
        <mc:Fallback>
          <p:sp>
            <p:nvSpPr>
              <p:cNvPr id="300058" name="Equation 42"/>
              <p:cNvSpPr>
                <a:spLocks noRot="1" noChangeAspect="1" noMove="1" noResize="1" noEditPoints="1" noAdjustHandles="1" noChangeArrowheads="1" noChangeShapeType="1" noTextEdit="1"/>
              </p:cNvSpPr>
              <p:nvPr/>
            </p:nvSpPr>
            <p:spPr>
              <a:xfrm>
                <a:off x="7505700" y="3200400"/>
                <a:ext cx="495300" cy="330200"/>
              </a:xfrm>
              <a:blipFill>
                <a:blip r:embed="rId24"/>
                <a:stretch>
                  <a:fillRect/>
                </a:stretch>
              </a:blipFill>
            </p:spPr>
            <p:txBody>
              <a:bodyPr/>
              <a:lstStyle/>
              <a:p>
                <a:r>
                  <a:rPr lang="zh-CN" altLang="en-US">
                    <a:noFill/>
                  </a:rPr>
                  <a:t> </a:t>
                </a:r>
              </a:p>
            </p:txBody>
          </p:sp>
        </mc:Fallback>
      </mc:AlternateContent>
      <p:sp>
        <p:nvSpPr>
          <p:cNvPr id="300059" name="quantum_gate_300059"/>
          <p:cNvSpPr/>
          <p:nvPr/>
        </p:nvSpPr>
        <p:spPr>
          <a:xfrm>
            <a:off x="8089900" y="3187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60" name="Equation 44"/>
              <p:cNvSpPr/>
              <p:nvPr/>
            </p:nvSpPr>
            <p:spPr>
              <a:xfrm>
                <a:off x="8102600" y="3200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𝜗</m:t>
                              </m:r>
                            </m:e>
                            <m:sub>
                              <m:r>
                                <a:rPr>
                                  <a:latin typeface="Cambria Math" panose="02040503050406030204" pitchFamily="18" charset="0"/>
                                </a:rPr>
                                <m:t>ℓ 2</m:t>
                              </m:r>
                            </m:sub>
                          </m:sSub>
                          <m:r>
                            <a:rPr>
                              <a:latin typeface="Cambria Math" panose="02040503050406030204" pitchFamily="18" charset="0"/>
                            </a:rPr>
                            <m:t>)</m:t>
                          </m:r>
                        </m:oMath>
                      </m:oMathPara>
                    </a14:m>
                  </mc:Choice>
                  <mc:Fallback xmlns:asvg="http://schemas.microsoft.com/office/drawing/2016/SVG/main" xmlns="">
                    <a:r>
                      <a:rPr lang="en-US" sz="1050"/>
                      <a:t>RY(ϑℓ ₂)</a:t>
                    </a:r>
                  </mc:Fallback>
                </mc:AlternateContent>
                <a:endParaRPr/>
              </a:p>
            </p:txBody>
          </p:sp>
        </mc:Choice>
        <mc:Fallback>
          <p:sp>
            <p:nvSpPr>
              <p:cNvPr id="300060" name="Equation 44"/>
              <p:cNvSpPr>
                <a:spLocks noRot="1" noChangeAspect="1" noMove="1" noResize="1" noEditPoints="1" noAdjustHandles="1" noChangeArrowheads="1" noChangeShapeType="1" noTextEdit="1"/>
              </p:cNvSpPr>
              <p:nvPr/>
            </p:nvSpPr>
            <p:spPr>
              <a:xfrm>
                <a:off x="8102600" y="3200400"/>
                <a:ext cx="495300" cy="330200"/>
              </a:xfrm>
              <a:blipFill>
                <a:blip r:embed="rId25"/>
                <a:stretch>
                  <a:fillRect/>
                </a:stretch>
              </a:blipFill>
            </p:spPr>
            <p:txBody>
              <a:bodyPr/>
              <a:lstStyle/>
              <a:p>
                <a:r>
                  <a:rPr lang="zh-CN" altLang="en-US">
                    <a:noFill/>
                  </a:rPr>
                  <a:t> </a:t>
                </a:r>
              </a:p>
            </p:txBody>
          </p:sp>
        </mc:Fallback>
      </mc:AlternateContent>
      <p:sp>
        <p:nvSpPr>
          <p:cNvPr id="300061" name="quantum_gate_300061"/>
          <p:cNvSpPr/>
          <p:nvPr/>
        </p:nvSpPr>
        <p:spPr>
          <a:xfrm>
            <a:off x="8686800" y="3187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62" name="Equation 46"/>
              <p:cNvSpPr/>
              <p:nvPr/>
            </p:nvSpPr>
            <p:spPr>
              <a:xfrm>
                <a:off x="8699500" y="3200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ℓ 2</m:t>
                              </m:r>
                            </m:sub>
                          </m:sSub>
                          <m:r>
                            <a:rPr>
                              <a:latin typeface="Cambria Math" panose="02040503050406030204" pitchFamily="18" charset="0"/>
                            </a:rPr>
                            <m:t>)</m:t>
                          </m:r>
                        </m:oMath>
                      </m:oMathPara>
                    </a14:m>
                  </mc:Choice>
                  <mc:Fallback xmlns:asvg="http://schemas.microsoft.com/office/drawing/2016/SVG/main" xmlns="">
                    <a:r>
                      <a:rPr lang="en-US" sz="1050"/>
                      <a:t>RZ(ωℓ ₂)</a:t>
                    </a:r>
                  </mc:Fallback>
                </mc:AlternateContent>
                <a:endParaRPr/>
              </a:p>
            </p:txBody>
          </p:sp>
        </mc:Choice>
        <mc:Fallback>
          <p:sp>
            <p:nvSpPr>
              <p:cNvPr id="300062" name="Equation 46"/>
              <p:cNvSpPr>
                <a:spLocks noRot="1" noChangeAspect="1" noMove="1" noResize="1" noEditPoints="1" noAdjustHandles="1" noChangeArrowheads="1" noChangeShapeType="1" noTextEdit="1"/>
              </p:cNvSpPr>
              <p:nvPr/>
            </p:nvSpPr>
            <p:spPr>
              <a:xfrm>
                <a:off x="8699500" y="3200400"/>
                <a:ext cx="495300" cy="330200"/>
              </a:xfrm>
              <a:blipFill>
                <a:blip r:embed="rId26"/>
                <a:stretch>
                  <a:fillRect/>
                </a:stretch>
              </a:blipFill>
            </p:spPr>
            <p:txBody>
              <a:bodyPr/>
              <a:lstStyle/>
              <a:p>
                <a:r>
                  <a:rPr lang="zh-CN" altLang="en-US">
                    <a:noFill/>
                  </a:rPr>
                  <a:t> </a:t>
                </a:r>
              </a:p>
            </p:txBody>
          </p:sp>
        </mc:Fallback>
      </mc:AlternateContent>
      <p:sp>
        <p:nvSpPr>
          <p:cNvPr id="300063" name="quantum_gate_300063"/>
          <p:cNvSpPr/>
          <p:nvPr/>
        </p:nvSpPr>
        <p:spPr>
          <a:xfrm>
            <a:off x="6184900" y="3695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64" name="Equation 48"/>
              <p:cNvSpPr/>
              <p:nvPr/>
            </p:nvSpPr>
            <p:spPr>
              <a:xfrm>
                <a:off x="6197600" y="3708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3</m:t>
                              </m:r>
                            </m:sub>
                          </m:sSub>
                          <m:r>
                            <a:rPr>
                              <a:latin typeface="Cambria Math" panose="02040503050406030204" pitchFamily="18" charset="0"/>
                            </a:rPr>
                            <m:t>)</m:t>
                          </m:r>
                        </m:oMath>
                      </m:oMathPara>
                    </a14:m>
                  </mc:Choice>
                  <mc:Fallback xmlns:asvg="http://schemas.microsoft.com/office/drawing/2016/SVG/main" xmlns="">
                    <a:r>
                      <a:rPr lang="en-US" sz="1050"/>
                      <a:t>RY(θ₃)</a:t>
                    </a:r>
                  </mc:Fallback>
                </mc:AlternateContent>
                <a:endParaRPr/>
              </a:p>
            </p:txBody>
          </p:sp>
        </mc:Choice>
        <mc:Fallback>
          <p:sp>
            <p:nvSpPr>
              <p:cNvPr id="300064" name="Equation 48"/>
              <p:cNvSpPr>
                <a:spLocks noRot="1" noChangeAspect="1" noMove="1" noResize="1" noEditPoints="1" noAdjustHandles="1" noChangeArrowheads="1" noChangeShapeType="1" noTextEdit="1"/>
              </p:cNvSpPr>
              <p:nvPr/>
            </p:nvSpPr>
            <p:spPr>
              <a:xfrm>
                <a:off x="6197600" y="3708400"/>
                <a:ext cx="533400" cy="330200"/>
              </a:xfrm>
              <a:blipFill>
                <a:blip r:embed="rId27"/>
                <a:stretch>
                  <a:fillRect/>
                </a:stretch>
              </a:blipFill>
            </p:spPr>
            <p:txBody>
              <a:bodyPr/>
              <a:lstStyle/>
              <a:p>
                <a:r>
                  <a:rPr lang="zh-CN" altLang="en-US">
                    <a:noFill/>
                  </a:rPr>
                  <a:t> </a:t>
                </a:r>
              </a:p>
            </p:txBody>
          </p:sp>
        </mc:Fallback>
      </mc:AlternateContent>
      <p:sp>
        <p:nvSpPr>
          <p:cNvPr id="300065" name="quantum_gate_300065"/>
          <p:cNvSpPr/>
          <p:nvPr/>
        </p:nvSpPr>
        <p:spPr>
          <a:xfrm>
            <a:off x="6794500" y="3695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66" name="Equation 50"/>
              <p:cNvSpPr/>
              <p:nvPr/>
            </p:nvSpPr>
            <p:spPr>
              <a:xfrm>
                <a:off x="6807200" y="3708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9</m:t>
                              </m:r>
                            </m:sub>
                          </m:sSub>
                          <m:r>
                            <a:rPr>
                              <a:latin typeface="Cambria Math" panose="02040503050406030204" pitchFamily="18" charset="0"/>
                            </a:rPr>
                            <m:t>)</m:t>
                          </m:r>
                        </m:oMath>
                      </m:oMathPara>
                    </a14:m>
                  </mc:Choice>
                  <mc:Fallback xmlns:asvg="http://schemas.microsoft.com/office/drawing/2016/SVG/main" xmlns="">
                    <a:r>
                      <a:rPr lang="en-US" sz="1050"/>
                      <a:t>RZ(θ₉)</a:t>
                    </a:r>
                  </mc:Fallback>
                </mc:AlternateContent>
                <a:endParaRPr/>
              </a:p>
            </p:txBody>
          </p:sp>
        </mc:Choice>
        <mc:Fallback>
          <p:sp>
            <p:nvSpPr>
              <p:cNvPr id="300066" name="Equation 50"/>
              <p:cNvSpPr>
                <a:spLocks noRot="1" noChangeAspect="1" noMove="1" noResize="1" noEditPoints="1" noAdjustHandles="1" noChangeArrowheads="1" noChangeShapeType="1" noTextEdit="1"/>
              </p:cNvSpPr>
              <p:nvPr/>
            </p:nvSpPr>
            <p:spPr>
              <a:xfrm>
                <a:off x="6807200" y="3708400"/>
                <a:ext cx="533400" cy="330200"/>
              </a:xfrm>
              <a:blipFill>
                <a:blip r:embed="rId28"/>
                <a:stretch>
                  <a:fillRect/>
                </a:stretch>
              </a:blipFill>
            </p:spPr>
            <p:txBody>
              <a:bodyPr/>
              <a:lstStyle/>
              <a:p>
                <a:r>
                  <a:rPr lang="zh-CN" altLang="en-US">
                    <a:noFill/>
                  </a:rPr>
                  <a:t> </a:t>
                </a:r>
              </a:p>
            </p:txBody>
          </p:sp>
        </mc:Fallback>
      </mc:AlternateContent>
      <p:sp>
        <p:nvSpPr>
          <p:cNvPr id="300067" name="quantum_gate_300067"/>
          <p:cNvSpPr/>
          <p:nvPr/>
        </p:nvSpPr>
        <p:spPr>
          <a:xfrm>
            <a:off x="7493000" y="3695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68" name="Equation 52"/>
              <p:cNvSpPr/>
              <p:nvPr/>
            </p:nvSpPr>
            <p:spPr>
              <a:xfrm>
                <a:off x="7505700" y="3708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ℓ 3</m:t>
                              </m:r>
                            </m:sub>
                          </m:sSub>
                          <m:r>
                            <a:rPr>
                              <a:latin typeface="Cambria Math" panose="02040503050406030204" pitchFamily="18" charset="0"/>
                            </a:rPr>
                            <m:t>)</m:t>
                          </m:r>
                        </m:oMath>
                      </m:oMathPara>
                    </a14:m>
                  </mc:Choice>
                  <mc:Fallback xmlns:asvg="http://schemas.microsoft.com/office/drawing/2016/SVG/main" xmlns="">
                    <a:r>
                      <a:rPr lang="en-US" sz="1050"/>
                      <a:t>RZ(ϕℓ ₃)</a:t>
                    </a:r>
                  </mc:Fallback>
                </mc:AlternateContent>
                <a:endParaRPr/>
              </a:p>
            </p:txBody>
          </p:sp>
        </mc:Choice>
        <mc:Fallback>
          <p:sp>
            <p:nvSpPr>
              <p:cNvPr id="300068" name="Equation 52"/>
              <p:cNvSpPr>
                <a:spLocks noRot="1" noChangeAspect="1" noMove="1" noResize="1" noEditPoints="1" noAdjustHandles="1" noChangeArrowheads="1" noChangeShapeType="1" noTextEdit="1"/>
              </p:cNvSpPr>
              <p:nvPr/>
            </p:nvSpPr>
            <p:spPr>
              <a:xfrm>
                <a:off x="7505700" y="3708400"/>
                <a:ext cx="495300" cy="330200"/>
              </a:xfrm>
              <a:blipFill>
                <a:blip r:embed="rId29"/>
                <a:stretch>
                  <a:fillRect/>
                </a:stretch>
              </a:blipFill>
            </p:spPr>
            <p:txBody>
              <a:bodyPr/>
              <a:lstStyle/>
              <a:p>
                <a:r>
                  <a:rPr lang="zh-CN" altLang="en-US">
                    <a:noFill/>
                  </a:rPr>
                  <a:t> </a:t>
                </a:r>
              </a:p>
            </p:txBody>
          </p:sp>
        </mc:Fallback>
      </mc:AlternateContent>
      <p:sp>
        <p:nvSpPr>
          <p:cNvPr id="300069" name="quantum_gate_300069"/>
          <p:cNvSpPr/>
          <p:nvPr/>
        </p:nvSpPr>
        <p:spPr>
          <a:xfrm>
            <a:off x="8089900" y="3695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70" name="Equation 54"/>
              <p:cNvSpPr/>
              <p:nvPr/>
            </p:nvSpPr>
            <p:spPr>
              <a:xfrm>
                <a:off x="8102600" y="3708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𝜗</m:t>
                              </m:r>
                            </m:e>
                            <m:sub>
                              <m:r>
                                <a:rPr>
                                  <a:latin typeface="Cambria Math" panose="02040503050406030204" pitchFamily="18" charset="0"/>
                                </a:rPr>
                                <m:t>ℓ 3</m:t>
                              </m:r>
                            </m:sub>
                          </m:sSub>
                          <m:r>
                            <a:rPr>
                              <a:latin typeface="Cambria Math" panose="02040503050406030204" pitchFamily="18" charset="0"/>
                            </a:rPr>
                            <m:t>)</m:t>
                          </m:r>
                        </m:oMath>
                      </m:oMathPara>
                    </a14:m>
                  </mc:Choice>
                  <mc:Fallback xmlns:asvg="http://schemas.microsoft.com/office/drawing/2016/SVG/main" xmlns="">
                    <a:r>
                      <a:rPr lang="en-US" sz="1050"/>
                      <a:t>RY(ϑℓ ₃)</a:t>
                    </a:r>
                  </mc:Fallback>
                </mc:AlternateContent>
                <a:endParaRPr/>
              </a:p>
            </p:txBody>
          </p:sp>
        </mc:Choice>
        <mc:Fallback>
          <p:sp>
            <p:nvSpPr>
              <p:cNvPr id="300070" name="Equation 54"/>
              <p:cNvSpPr>
                <a:spLocks noRot="1" noChangeAspect="1" noMove="1" noResize="1" noEditPoints="1" noAdjustHandles="1" noChangeArrowheads="1" noChangeShapeType="1" noTextEdit="1"/>
              </p:cNvSpPr>
              <p:nvPr/>
            </p:nvSpPr>
            <p:spPr>
              <a:xfrm>
                <a:off x="8102600" y="3708400"/>
                <a:ext cx="495300" cy="330200"/>
              </a:xfrm>
              <a:blipFill>
                <a:blip r:embed="rId30"/>
                <a:stretch>
                  <a:fillRect/>
                </a:stretch>
              </a:blipFill>
            </p:spPr>
            <p:txBody>
              <a:bodyPr/>
              <a:lstStyle/>
              <a:p>
                <a:r>
                  <a:rPr lang="zh-CN" altLang="en-US">
                    <a:noFill/>
                  </a:rPr>
                  <a:t> </a:t>
                </a:r>
              </a:p>
            </p:txBody>
          </p:sp>
        </mc:Fallback>
      </mc:AlternateContent>
      <p:sp>
        <p:nvSpPr>
          <p:cNvPr id="300071" name="quantum_gate_300071"/>
          <p:cNvSpPr/>
          <p:nvPr/>
        </p:nvSpPr>
        <p:spPr>
          <a:xfrm>
            <a:off x="8686800" y="3695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72" name="Equation 56"/>
              <p:cNvSpPr/>
              <p:nvPr/>
            </p:nvSpPr>
            <p:spPr>
              <a:xfrm>
                <a:off x="8699500" y="3708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ℓ 3</m:t>
                              </m:r>
                            </m:sub>
                          </m:sSub>
                          <m:r>
                            <a:rPr>
                              <a:latin typeface="Cambria Math" panose="02040503050406030204" pitchFamily="18" charset="0"/>
                            </a:rPr>
                            <m:t>)</m:t>
                          </m:r>
                        </m:oMath>
                      </m:oMathPara>
                    </a14:m>
                  </mc:Choice>
                  <mc:Fallback xmlns:asvg="http://schemas.microsoft.com/office/drawing/2016/SVG/main" xmlns="">
                    <a:r>
                      <a:rPr lang="en-US" sz="1050"/>
                      <a:t>RZ(ωℓ ₃)</a:t>
                    </a:r>
                  </mc:Fallback>
                </mc:AlternateContent>
                <a:endParaRPr/>
              </a:p>
            </p:txBody>
          </p:sp>
        </mc:Choice>
        <mc:Fallback>
          <p:sp>
            <p:nvSpPr>
              <p:cNvPr id="300072" name="Equation 56"/>
              <p:cNvSpPr>
                <a:spLocks noRot="1" noChangeAspect="1" noMove="1" noResize="1" noEditPoints="1" noAdjustHandles="1" noChangeArrowheads="1" noChangeShapeType="1" noTextEdit="1"/>
              </p:cNvSpPr>
              <p:nvPr/>
            </p:nvSpPr>
            <p:spPr>
              <a:xfrm>
                <a:off x="8699500" y="3708400"/>
                <a:ext cx="495300" cy="330200"/>
              </a:xfrm>
              <a:blipFill>
                <a:blip r:embed="rId31"/>
                <a:stretch>
                  <a:fillRect/>
                </a:stretch>
              </a:blipFill>
            </p:spPr>
            <p:txBody>
              <a:bodyPr/>
              <a:lstStyle/>
              <a:p>
                <a:r>
                  <a:rPr lang="zh-CN" altLang="en-US">
                    <a:noFill/>
                  </a:rPr>
                  <a:t> </a:t>
                </a:r>
              </a:p>
            </p:txBody>
          </p:sp>
        </mc:Fallback>
      </mc:AlternateContent>
      <p:sp>
        <p:nvSpPr>
          <p:cNvPr id="300073" name="quantum_gate_300073"/>
          <p:cNvSpPr/>
          <p:nvPr/>
        </p:nvSpPr>
        <p:spPr>
          <a:xfrm>
            <a:off x="6184900" y="4203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74" name="Equation 58"/>
              <p:cNvSpPr/>
              <p:nvPr/>
            </p:nvSpPr>
            <p:spPr>
              <a:xfrm>
                <a:off x="6197600" y="4216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4</m:t>
                              </m:r>
                            </m:sub>
                          </m:sSub>
                          <m:r>
                            <a:rPr>
                              <a:latin typeface="Cambria Math" panose="02040503050406030204" pitchFamily="18" charset="0"/>
                            </a:rPr>
                            <m:t>)</m:t>
                          </m:r>
                        </m:oMath>
                      </m:oMathPara>
                    </a14:m>
                  </mc:Choice>
                  <mc:Fallback xmlns:asvg="http://schemas.microsoft.com/office/drawing/2016/SVG/main" xmlns="">
                    <a:r>
                      <a:rPr lang="en-US" sz="1050"/>
                      <a:t>RY(θ₄)</a:t>
                    </a:r>
                  </mc:Fallback>
                </mc:AlternateContent>
                <a:endParaRPr/>
              </a:p>
            </p:txBody>
          </p:sp>
        </mc:Choice>
        <mc:Fallback>
          <p:sp>
            <p:nvSpPr>
              <p:cNvPr id="300074" name="Equation 58"/>
              <p:cNvSpPr>
                <a:spLocks noRot="1" noChangeAspect="1" noMove="1" noResize="1" noEditPoints="1" noAdjustHandles="1" noChangeArrowheads="1" noChangeShapeType="1" noTextEdit="1"/>
              </p:cNvSpPr>
              <p:nvPr/>
            </p:nvSpPr>
            <p:spPr>
              <a:xfrm>
                <a:off x="6197600" y="4216400"/>
                <a:ext cx="533400" cy="330200"/>
              </a:xfrm>
              <a:blipFill>
                <a:blip r:embed="rId32"/>
                <a:stretch>
                  <a:fillRect/>
                </a:stretch>
              </a:blipFill>
            </p:spPr>
            <p:txBody>
              <a:bodyPr/>
              <a:lstStyle/>
              <a:p>
                <a:r>
                  <a:rPr lang="zh-CN" altLang="en-US">
                    <a:noFill/>
                  </a:rPr>
                  <a:t> </a:t>
                </a:r>
              </a:p>
            </p:txBody>
          </p:sp>
        </mc:Fallback>
      </mc:AlternateContent>
      <p:sp>
        <p:nvSpPr>
          <p:cNvPr id="300075" name="quantum_gate_300075"/>
          <p:cNvSpPr/>
          <p:nvPr/>
        </p:nvSpPr>
        <p:spPr>
          <a:xfrm>
            <a:off x="6794500" y="4203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76" name="Equation 60"/>
              <p:cNvSpPr/>
              <p:nvPr/>
            </p:nvSpPr>
            <p:spPr>
              <a:xfrm>
                <a:off x="6807200" y="4216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10</m:t>
                              </m:r>
                            </m:sub>
                          </m:sSub>
                          <m:r>
                            <a:rPr>
                              <a:latin typeface="Cambria Math" panose="02040503050406030204" pitchFamily="18" charset="0"/>
                            </a:rPr>
                            <m:t>)</m:t>
                          </m:r>
                        </m:oMath>
                      </m:oMathPara>
                    </a14:m>
                  </mc:Choice>
                  <mc:Fallback xmlns:asvg="http://schemas.microsoft.com/office/drawing/2016/SVG/main" xmlns="">
                    <a:r>
                      <a:rPr lang="en-US" sz="1050"/>
                      <a:t>RZ(θ₁₀)</a:t>
                    </a:r>
                  </mc:Fallback>
                </mc:AlternateContent>
                <a:endParaRPr/>
              </a:p>
            </p:txBody>
          </p:sp>
        </mc:Choice>
        <mc:Fallback>
          <p:sp>
            <p:nvSpPr>
              <p:cNvPr id="300076" name="Equation 60"/>
              <p:cNvSpPr>
                <a:spLocks noRot="1" noChangeAspect="1" noMove="1" noResize="1" noEditPoints="1" noAdjustHandles="1" noChangeArrowheads="1" noChangeShapeType="1" noTextEdit="1"/>
              </p:cNvSpPr>
              <p:nvPr/>
            </p:nvSpPr>
            <p:spPr>
              <a:xfrm>
                <a:off x="6807200" y="4216400"/>
                <a:ext cx="533400" cy="330200"/>
              </a:xfrm>
              <a:blipFill>
                <a:blip r:embed="rId33"/>
                <a:stretch>
                  <a:fillRect/>
                </a:stretch>
              </a:blipFill>
            </p:spPr>
            <p:txBody>
              <a:bodyPr/>
              <a:lstStyle/>
              <a:p>
                <a:r>
                  <a:rPr lang="zh-CN" altLang="en-US">
                    <a:noFill/>
                  </a:rPr>
                  <a:t> </a:t>
                </a:r>
              </a:p>
            </p:txBody>
          </p:sp>
        </mc:Fallback>
      </mc:AlternateContent>
      <p:sp>
        <p:nvSpPr>
          <p:cNvPr id="300077" name="quantum_gate_300077"/>
          <p:cNvSpPr/>
          <p:nvPr/>
        </p:nvSpPr>
        <p:spPr>
          <a:xfrm>
            <a:off x="7493000" y="4203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78" name="Equation 62"/>
              <p:cNvSpPr/>
              <p:nvPr/>
            </p:nvSpPr>
            <p:spPr>
              <a:xfrm>
                <a:off x="7505700" y="4216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ℓ 4</m:t>
                              </m:r>
                            </m:sub>
                          </m:sSub>
                          <m:r>
                            <a:rPr>
                              <a:latin typeface="Cambria Math" panose="02040503050406030204" pitchFamily="18" charset="0"/>
                            </a:rPr>
                            <m:t>)</m:t>
                          </m:r>
                        </m:oMath>
                      </m:oMathPara>
                    </a14:m>
                  </mc:Choice>
                  <mc:Fallback xmlns:asvg="http://schemas.microsoft.com/office/drawing/2016/SVG/main" xmlns="">
                    <a:r>
                      <a:rPr lang="en-US" sz="1050"/>
                      <a:t>RZ(ϕℓ ₄)</a:t>
                    </a:r>
                  </mc:Fallback>
                </mc:AlternateContent>
                <a:endParaRPr/>
              </a:p>
            </p:txBody>
          </p:sp>
        </mc:Choice>
        <mc:Fallback>
          <p:sp>
            <p:nvSpPr>
              <p:cNvPr id="300078" name="Equation 62"/>
              <p:cNvSpPr>
                <a:spLocks noRot="1" noChangeAspect="1" noMove="1" noResize="1" noEditPoints="1" noAdjustHandles="1" noChangeArrowheads="1" noChangeShapeType="1" noTextEdit="1"/>
              </p:cNvSpPr>
              <p:nvPr/>
            </p:nvSpPr>
            <p:spPr>
              <a:xfrm>
                <a:off x="7505700" y="4216400"/>
                <a:ext cx="495300" cy="330200"/>
              </a:xfrm>
              <a:blipFill>
                <a:blip r:embed="rId34"/>
                <a:stretch>
                  <a:fillRect/>
                </a:stretch>
              </a:blipFill>
            </p:spPr>
            <p:txBody>
              <a:bodyPr/>
              <a:lstStyle/>
              <a:p>
                <a:r>
                  <a:rPr lang="zh-CN" altLang="en-US">
                    <a:noFill/>
                  </a:rPr>
                  <a:t> </a:t>
                </a:r>
              </a:p>
            </p:txBody>
          </p:sp>
        </mc:Fallback>
      </mc:AlternateContent>
      <p:sp>
        <p:nvSpPr>
          <p:cNvPr id="300079" name="quantum_gate_300079"/>
          <p:cNvSpPr/>
          <p:nvPr/>
        </p:nvSpPr>
        <p:spPr>
          <a:xfrm>
            <a:off x="8089900" y="4203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80" name="Equation 64"/>
              <p:cNvSpPr/>
              <p:nvPr/>
            </p:nvSpPr>
            <p:spPr>
              <a:xfrm>
                <a:off x="8102600" y="4216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𝜗</m:t>
                              </m:r>
                            </m:e>
                            <m:sub>
                              <m:r>
                                <a:rPr>
                                  <a:latin typeface="Cambria Math" panose="02040503050406030204" pitchFamily="18" charset="0"/>
                                </a:rPr>
                                <m:t>ℓ 4</m:t>
                              </m:r>
                            </m:sub>
                          </m:sSub>
                          <m:r>
                            <a:rPr>
                              <a:latin typeface="Cambria Math" panose="02040503050406030204" pitchFamily="18" charset="0"/>
                            </a:rPr>
                            <m:t>)</m:t>
                          </m:r>
                        </m:oMath>
                      </m:oMathPara>
                    </a14:m>
                  </mc:Choice>
                  <mc:Fallback xmlns:asvg="http://schemas.microsoft.com/office/drawing/2016/SVG/main" xmlns="">
                    <a:r>
                      <a:rPr lang="en-US" sz="1050"/>
                      <a:t>RY(ϑℓ ₄)</a:t>
                    </a:r>
                  </mc:Fallback>
                </mc:AlternateContent>
                <a:endParaRPr/>
              </a:p>
            </p:txBody>
          </p:sp>
        </mc:Choice>
        <mc:Fallback>
          <p:sp>
            <p:nvSpPr>
              <p:cNvPr id="300080" name="Equation 64"/>
              <p:cNvSpPr>
                <a:spLocks noRot="1" noChangeAspect="1" noMove="1" noResize="1" noEditPoints="1" noAdjustHandles="1" noChangeArrowheads="1" noChangeShapeType="1" noTextEdit="1"/>
              </p:cNvSpPr>
              <p:nvPr/>
            </p:nvSpPr>
            <p:spPr>
              <a:xfrm>
                <a:off x="8102600" y="4216400"/>
                <a:ext cx="495300" cy="330200"/>
              </a:xfrm>
              <a:blipFill>
                <a:blip r:embed="rId35"/>
                <a:stretch>
                  <a:fillRect/>
                </a:stretch>
              </a:blipFill>
            </p:spPr>
            <p:txBody>
              <a:bodyPr/>
              <a:lstStyle/>
              <a:p>
                <a:r>
                  <a:rPr lang="zh-CN" altLang="en-US">
                    <a:noFill/>
                  </a:rPr>
                  <a:t> </a:t>
                </a:r>
              </a:p>
            </p:txBody>
          </p:sp>
        </mc:Fallback>
      </mc:AlternateContent>
      <p:sp>
        <p:nvSpPr>
          <p:cNvPr id="300081" name="quantum_gate_300081"/>
          <p:cNvSpPr/>
          <p:nvPr/>
        </p:nvSpPr>
        <p:spPr>
          <a:xfrm>
            <a:off x="8686800" y="4203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82" name="Equation 66"/>
              <p:cNvSpPr/>
              <p:nvPr/>
            </p:nvSpPr>
            <p:spPr>
              <a:xfrm>
                <a:off x="8699500" y="4216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ℓ 4</m:t>
                              </m:r>
                            </m:sub>
                          </m:sSub>
                          <m:r>
                            <a:rPr>
                              <a:latin typeface="Cambria Math" panose="02040503050406030204" pitchFamily="18" charset="0"/>
                            </a:rPr>
                            <m:t>)</m:t>
                          </m:r>
                        </m:oMath>
                      </m:oMathPara>
                    </a14:m>
                  </mc:Choice>
                  <mc:Fallback xmlns:asvg="http://schemas.microsoft.com/office/drawing/2016/SVG/main" xmlns="">
                    <a:r>
                      <a:rPr lang="en-US" sz="1050"/>
                      <a:t>RZ(ωℓ ₄)</a:t>
                    </a:r>
                  </mc:Fallback>
                </mc:AlternateContent>
                <a:endParaRPr/>
              </a:p>
            </p:txBody>
          </p:sp>
        </mc:Choice>
        <mc:Fallback>
          <p:sp>
            <p:nvSpPr>
              <p:cNvPr id="300082" name="Equation 66"/>
              <p:cNvSpPr>
                <a:spLocks noRot="1" noChangeAspect="1" noMove="1" noResize="1" noEditPoints="1" noAdjustHandles="1" noChangeArrowheads="1" noChangeShapeType="1" noTextEdit="1"/>
              </p:cNvSpPr>
              <p:nvPr/>
            </p:nvSpPr>
            <p:spPr>
              <a:xfrm>
                <a:off x="8699500" y="4216400"/>
                <a:ext cx="495300" cy="330200"/>
              </a:xfrm>
              <a:blipFill>
                <a:blip r:embed="rId36"/>
                <a:stretch>
                  <a:fillRect/>
                </a:stretch>
              </a:blipFill>
            </p:spPr>
            <p:txBody>
              <a:bodyPr/>
              <a:lstStyle/>
              <a:p>
                <a:r>
                  <a:rPr lang="zh-CN" altLang="en-US">
                    <a:noFill/>
                  </a:rPr>
                  <a:t> </a:t>
                </a:r>
              </a:p>
            </p:txBody>
          </p:sp>
        </mc:Fallback>
      </mc:AlternateContent>
      <p:sp>
        <p:nvSpPr>
          <p:cNvPr id="300083" name="quantum_gate_300083"/>
          <p:cNvSpPr/>
          <p:nvPr/>
        </p:nvSpPr>
        <p:spPr>
          <a:xfrm>
            <a:off x="6184900" y="4711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84" name="Equation 68"/>
              <p:cNvSpPr/>
              <p:nvPr/>
            </p:nvSpPr>
            <p:spPr>
              <a:xfrm>
                <a:off x="6197600" y="4724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5</m:t>
                              </m:r>
                            </m:sub>
                          </m:sSub>
                          <m:r>
                            <a:rPr>
                              <a:latin typeface="Cambria Math" panose="02040503050406030204" pitchFamily="18" charset="0"/>
                            </a:rPr>
                            <m:t>)</m:t>
                          </m:r>
                        </m:oMath>
                      </m:oMathPara>
                    </a14:m>
                  </mc:Choice>
                  <mc:Fallback xmlns:asvg="http://schemas.microsoft.com/office/drawing/2016/SVG/main" xmlns="">
                    <a:r>
                      <a:rPr lang="en-US" sz="1050"/>
                      <a:t>RY(θ₅)</a:t>
                    </a:r>
                  </mc:Fallback>
                </mc:AlternateContent>
                <a:endParaRPr/>
              </a:p>
            </p:txBody>
          </p:sp>
        </mc:Choice>
        <mc:Fallback>
          <p:sp>
            <p:nvSpPr>
              <p:cNvPr id="300084" name="Equation 68"/>
              <p:cNvSpPr>
                <a:spLocks noRot="1" noChangeAspect="1" noMove="1" noResize="1" noEditPoints="1" noAdjustHandles="1" noChangeArrowheads="1" noChangeShapeType="1" noTextEdit="1"/>
              </p:cNvSpPr>
              <p:nvPr/>
            </p:nvSpPr>
            <p:spPr>
              <a:xfrm>
                <a:off x="6197600" y="4724400"/>
                <a:ext cx="533400" cy="330200"/>
              </a:xfrm>
              <a:blipFill>
                <a:blip r:embed="rId37"/>
                <a:stretch>
                  <a:fillRect/>
                </a:stretch>
              </a:blipFill>
            </p:spPr>
            <p:txBody>
              <a:bodyPr/>
              <a:lstStyle/>
              <a:p>
                <a:r>
                  <a:rPr lang="zh-CN" altLang="en-US">
                    <a:noFill/>
                  </a:rPr>
                  <a:t> </a:t>
                </a:r>
              </a:p>
            </p:txBody>
          </p:sp>
        </mc:Fallback>
      </mc:AlternateContent>
      <p:sp>
        <p:nvSpPr>
          <p:cNvPr id="300085" name="quantum_gate_300085"/>
          <p:cNvSpPr/>
          <p:nvPr/>
        </p:nvSpPr>
        <p:spPr>
          <a:xfrm>
            <a:off x="6794500" y="4711700"/>
            <a:ext cx="5588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86" name="Equation 70"/>
              <p:cNvSpPr/>
              <p:nvPr/>
            </p:nvSpPr>
            <p:spPr>
              <a:xfrm>
                <a:off x="6807200" y="4724400"/>
                <a:ext cx="5334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𝜃</m:t>
                              </m:r>
                            </m:e>
                            <m:sub>
                              <m:r>
                                <a:rPr>
                                  <a:latin typeface="Cambria Math" panose="02040503050406030204" pitchFamily="18" charset="0"/>
                                </a:rPr>
                                <m:t>11</m:t>
                              </m:r>
                            </m:sub>
                          </m:sSub>
                          <m:r>
                            <a:rPr>
                              <a:latin typeface="Cambria Math" panose="02040503050406030204" pitchFamily="18" charset="0"/>
                            </a:rPr>
                            <m:t>)</m:t>
                          </m:r>
                        </m:oMath>
                      </m:oMathPara>
                    </a14:m>
                  </mc:Choice>
                  <mc:Fallback xmlns:asvg="http://schemas.microsoft.com/office/drawing/2016/SVG/main" xmlns="">
                    <a:r>
                      <a:rPr lang="en-US" sz="1050"/>
                      <a:t>RZ(θ₁₁)</a:t>
                    </a:r>
                  </mc:Fallback>
                </mc:AlternateContent>
                <a:endParaRPr/>
              </a:p>
            </p:txBody>
          </p:sp>
        </mc:Choice>
        <mc:Fallback>
          <p:sp>
            <p:nvSpPr>
              <p:cNvPr id="300086" name="Equation 70"/>
              <p:cNvSpPr>
                <a:spLocks noRot="1" noChangeAspect="1" noMove="1" noResize="1" noEditPoints="1" noAdjustHandles="1" noChangeArrowheads="1" noChangeShapeType="1" noTextEdit="1"/>
              </p:cNvSpPr>
              <p:nvPr/>
            </p:nvSpPr>
            <p:spPr>
              <a:xfrm>
                <a:off x="6807200" y="4724400"/>
                <a:ext cx="533400" cy="330200"/>
              </a:xfrm>
              <a:blipFill>
                <a:blip r:embed="rId38"/>
                <a:stretch>
                  <a:fillRect/>
                </a:stretch>
              </a:blipFill>
            </p:spPr>
            <p:txBody>
              <a:bodyPr/>
              <a:lstStyle/>
              <a:p>
                <a:r>
                  <a:rPr lang="zh-CN" altLang="en-US">
                    <a:noFill/>
                  </a:rPr>
                  <a:t> </a:t>
                </a:r>
              </a:p>
            </p:txBody>
          </p:sp>
        </mc:Fallback>
      </mc:AlternateContent>
      <p:sp>
        <p:nvSpPr>
          <p:cNvPr id="300087" name="quantum_gate_300087"/>
          <p:cNvSpPr/>
          <p:nvPr/>
        </p:nvSpPr>
        <p:spPr>
          <a:xfrm>
            <a:off x="7493000" y="4711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88" name="Equation 72"/>
              <p:cNvSpPr/>
              <p:nvPr/>
            </p:nvSpPr>
            <p:spPr>
              <a:xfrm>
                <a:off x="7505700" y="4724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ℓ 5</m:t>
                              </m:r>
                            </m:sub>
                          </m:sSub>
                          <m:r>
                            <a:rPr>
                              <a:latin typeface="Cambria Math" panose="02040503050406030204" pitchFamily="18" charset="0"/>
                            </a:rPr>
                            <m:t>)</m:t>
                          </m:r>
                        </m:oMath>
                      </m:oMathPara>
                    </a14:m>
                  </mc:Choice>
                  <mc:Fallback xmlns:asvg="http://schemas.microsoft.com/office/drawing/2016/SVG/main" xmlns="">
                    <a:r>
                      <a:rPr lang="en-US" sz="1050"/>
                      <a:t>RZ(ϕℓ ₅)</a:t>
                    </a:r>
                  </mc:Fallback>
                </mc:AlternateContent>
                <a:endParaRPr/>
              </a:p>
            </p:txBody>
          </p:sp>
        </mc:Choice>
        <mc:Fallback>
          <p:sp>
            <p:nvSpPr>
              <p:cNvPr id="300088" name="Equation 72"/>
              <p:cNvSpPr>
                <a:spLocks noRot="1" noChangeAspect="1" noMove="1" noResize="1" noEditPoints="1" noAdjustHandles="1" noChangeArrowheads="1" noChangeShapeType="1" noTextEdit="1"/>
              </p:cNvSpPr>
              <p:nvPr/>
            </p:nvSpPr>
            <p:spPr>
              <a:xfrm>
                <a:off x="7505700" y="4724400"/>
                <a:ext cx="495300" cy="330200"/>
              </a:xfrm>
              <a:blipFill>
                <a:blip r:embed="rId39"/>
                <a:stretch>
                  <a:fillRect/>
                </a:stretch>
              </a:blipFill>
            </p:spPr>
            <p:txBody>
              <a:bodyPr/>
              <a:lstStyle/>
              <a:p>
                <a:r>
                  <a:rPr lang="zh-CN" altLang="en-US">
                    <a:noFill/>
                  </a:rPr>
                  <a:t> </a:t>
                </a:r>
              </a:p>
            </p:txBody>
          </p:sp>
        </mc:Fallback>
      </mc:AlternateContent>
      <p:sp>
        <p:nvSpPr>
          <p:cNvPr id="300089" name="quantum_gate_300089"/>
          <p:cNvSpPr/>
          <p:nvPr/>
        </p:nvSpPr>
        <p:spPr>
          <a:xfrm>
            <a:off x="8089900" y="4711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90" name="Equation 74"/>
              <p:cNvSpPr/>
              <p:nvPr/>
            </p:nvSpPr>
            <p:spPr>
              <a:xfrm>
                <a:off x="8102600" y="4724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𝑌</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𝜗</m:t>
                              </m:r>
                            </m:e>
                            <m:sub>
                              <m:r>
                                <a:rPr>
                                  <a:latin typeface="Cambria Math" panose="02040503050406030204" pitchFamily="18" charset="0"/>
                                </a:rPr>
                                <m:t>ℓ 5</m:t>
                              </m:r>
                            </m:sub>
                          </m:sSub>
                          <m:r>
                            <a:rPr>
                              <a:latin typeface="Cambria Math" panose="02040503050406030204" pitchFamily="18" charset="0"/>
                            </a:rPr>
                            <m:t>)</m:t>
                          </m:r>
                        </m:oMath>
                      </m:oMathPara>
                    </a14:m>
                  </mc:Choice>
                  <mc:Fallback xmlns:asvg="http://schemas.microsoft.com/office/drawing/2016/SVG/main" xmlns="">
                    <a:r>
                      <a:rPr lang="en-US" sz="1050"/>
                      <a:t>RY(ϑℓ ₅)</a:t>
                    </a:r>
                  </mc:Fallback>
                </mc:AlternateContent>
                <a:endParaRPr/>
              </a:p>
            </p:txBody>
          </p:sp>
        </mc:Choice>
        <mc:Fallback>
          <p:sp>
            <p:nvSpPr>
              <p:cNvPr id="300090" name="Equation 74"/>
              <p:cNvSpPr>
                <a:spLocks noRot="1" noChangeAspect="1" noMove="1" noResize="1" noEditPoints="1" noAdjustHandles="1" noChangeArrowheads="1" noChangeShapeType="1" noTextEdit="1"/>
              </p:cNvSpPr>
              <p:nvPr/>
            </p:nvSpPr>
            <p:spPr>
              <a:xfrm>
                <a:off x="8102600" y="4724400"/>
                <a:ext cx="495300" cy="330200"/>
              </a:xfrm>
              <a:blipFill>
                <a:blip r:embed="rId40"/>
                <a:stretch>
                  <a:fillRect/>
                </a:stretch>
              </a:blipFill>
            </p:spPr>
            <p:txBody>
              <a:bodyPr/>
              <a:lstStyle/>
              <a:p>
                <a:r>
                  <a:rPr lang="zh-CN" altLang="en-US">
                    <a:noFill/>
                  </a:rPr>
                  <a:t> </a:t>
                </a:r>
              </a:p>
            </p:txBody>
          </p:sp>
        </mc:Fallback>
      </mc:AlternateContent>
      <p:sp>
        <p:nvSpPr>
          <p:cNvPr id="300091" name="quantum_gate_300091"/>
          <p:cNvSpPr/>
          <p:nvPr/>
        </p:nvSpPr>
        <p:spPr>
          <a:xfrm>
            <a:off x="8686800" y="4711700"/>
            <a:ext cx="520700" cy="355600"/>
          </a:xfrm>
          <a:prstGeom prst="rect">
            <a:avLst/>
          </a:prstGeom>
          <a:solidFill>
            <a:srgbClr val="FFFFFF"/>
          </a:solidFill>
          <a:ln w="11430">
            <a:solidFill>
              <a:srgbClr val="000000"/>
            </a:solidFill>
          </a:ln>
        </p:spPr>
        <p:txBody>
          <a:bodyPr/>
          <a:lstStyle/>
          <a:p>
            <a:endParaRPr/>
          </a:p>
        </p:txBody>
      </p:sp>
      <mc:AlternateContent xmlns:mc="http://schemas.openxmlformats.org/markup-compatibility/2006">
        <mc:Choice xmlns:a14="http://schemas.microsoft.com/office/drawing/2010/main" Requires="a14">
          <p:sp>
            <p:nvSpPr>
              <p:cNvPr id="300092" name="Equation 76"/>
              <p:cNvSpPr/>
              <p:nvPr/>
            </p:nvSpPr>
            <p:spPr>
              <a:xfrm>
                <a:off x="8699500" y="4724400"/>
                <a:ext cx="495300" cy="330200"/>
              </a:xfrm>
            </p:spPr>
            <p:txBody>
              <a:bodyPr lIns="0" tIns="0" rIns="0" bIns="0" anchor="ctr"/>
              <a:lstStyle/>
              <a:p>
                <a:pPr algn="ctr">
                  <a:defRPr sz="10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𝑅</m:t>
                              </m:r>
                            </m:e>
                            <m:sub>
                              <m:r>
                                <a:rPr>
                                  <a:latin typeface="Cambria Math" panose="02040503050406030204" pitchFamily="18" charset="0"/>
                                </a:rPr>
                                <m:t>𝑍</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ℓ 5</m:t>
                              </m:r>
                            </m:sub>
                          </m:sSub>
                          <m:r>
                            <a:rPr>
                              <a:latin typeface="Cambria Math" panose="02040503050406030204" pitchFamily="18" charset="0"/>
                            </a:rPr>
                            <m:t>)</m:t>
                          </m:r>
                        </m:oMath>
                      </m:oMathPara>
                    </a14:m>
                  </mc:Choice>
                  <mc:Fallback xmlns:asvg="http://schemas.microsoft.com/office/drawing/2016/SVG/main" xmlns="">
                    <a:r>
                      <a:rPr lang="en-US" sz="1050"/>
                      <a:t>RZ(ωℓ ₅)</a:t>
                    </a:r>
                  </mc:Fallback>
                </mc:AlternateContent>
                <a:endParaRPr/>
              </a:p>
            </p:txBody>
          </p:sp>
        </mc:Choice>
        <mc:Fallback>
          <p:sp>
            <p:nvSpPr>
              <p:cNvPr id="300092" name="Equation 76"/>
              <p:cNvSpPr>
                <a:spLocks noRot="1" noChangeAspect="1" noMove="1" noResize="1" noEditPoints="1" noAdjustHandles="1" noChangeArrowheads="1" noChangeShapeType="1" noTextEdit="1"/>
              </p:cNvSpPr>
              <p:nvPr/>
            </p:nvSpPr>
            <p:spPr>
              <a:xfrm>
                <a:off x="8699500" y="4724400"/>
                <a:ext cx="495300" cy="330200"/>
              </a:xfrm>
              <a:blipFill>
                <a:blip r:embed="rId41"/>
                <a:stretch>
                  <a:fillRect/>
                </a:stretch>
              </a:blipFill>
            </p:spPr>
            <p:txBody>
              <a:bodyPr/>
              <a:lstStyle/>
              <a:p>
                <a:r>
                  <a:rPr lang="zh-CN" altLang="en-US">
                    <a:noFill/>
                  </a:rPr>
                  <a:t> </a:t>
                </a:r>
              </a:p>
            </p:txBody>
          </p:sp>
        </mc:Fallback>
      </mc:AlternateContent>
      <p:cxnSp>
        <p:nvCxnSpPr>
          <p:cNvPr id="300093" name="circuit_wire_300093"/>
          <p:cNvCxnSpPr/>
          <p:nvPr/>
        </p:nvCxnSpPr>
        <p:spPr>
          <a:xfrm>
            <a:off x="9410700" y="2349500"/>
            <a:ext cx="0" cy="508000"/>
          </a:xfrm>
          <a:prstGeom prst="straightConnector1">
            <a:avLst/>
          </a:prstGeom>
          <a:ln w="12700">
            <a:solidFill>
              <a:srgbClr val="000000"/>
            </a:solidFill>
            <a:headEnd type="none"/>
            <a:tailEnd type="none"/>
          </a:ln>
        </p:spPr>
      </p:cxnSp>
      <p:sp>
        <p:nvSpPr>
          <p:cNvPr id="300094" name="CNOT_control_q0_300094"/>
          <p:cNvSpPr/>
          <p:nvPr/>
        </p:nvSpPr>
        <p:spPr>
          <a:xfrm>
            <a:off x="9376410" y="2315210"/>
            <a:ext cx="68580" cy="68580"/>
          </a:xfrm>
          <a:prstGeom prst="ellipse">
            <a:avLst/>
          </a:prstGeom>
          <a:solidFill>
            <a:srgbClr val="000000"/>
          </a:solidFill>
          <a:ln>
            <a:noFill/>
          </a:ln>
        </p:spPr>
        <p:txBody>
          <a:bodyPr/>
          <a:lstStyle/>
          <a:p>
            <a:endParaRPr/>
          </a:p>
        </p:txBody>
      </p:sp>
      <p:sp>
        <p:nvSpPr>
          <p:cNvPr id="300095" name="CNOT_target_q1_300095"/>
          <p:cNvSpPr/>
          <p:nvPr/>
        </p:nvSpPr>
        <p:spPr>
          <a:xfrm>
            <a:off x="9338310" y="2785110"/>
            <a:ext cx="144780" cy="144780"/>
          </a:xfrm>
          <a:prstGeom prst="ellipse">
            <a:avLst/>
          </a:prstGeom>
          <a:solidFill>
            <a:srgbClr val="FFFFFF"/>
          </a:solidFill>
          <a:ln w="12700">
            <a:solidFill>
              <a:srgbClr val="000000"/>
            </a:solidFill>
          </a:ln>
        </p:spPr>
        <p:txBody>
          <a:bodyPr/>
          <a:lstStyle/>
          <a:p>
            <a:endParaRPr/>
          </a:p>
        </p:txBody>
      </p:sp>
      <p:cxnSp>
        <p:nvCxnSpPr>
          <p:cNvPr id="300096" name="circuit_wire_300096"/>
          <p:cNvCxnSpPr/>
          <p:nvPr/>
        </p:nvCxnSpPr>
        <p:spPr>
          <a:xfrm>
            <a:off x="9359900" y="2857500"/>
            <a:ext cx="101600" cy="0"/>
          </a:xfrm>
          <a:prstGeom prst="straightConnector1">
            <a:avLst/>
          </a:prstGeom>
          <a:ln w="12700">
            <a:solidFill>
              <a:srgbClr val="000000"/>
            </a:solidFill>
            <a:headEnd type="none"/>
            <a:tailEnd type="none"/>
          </a:ln>
        </p:spPr>
      </p:cxnSp>
      <p:cxnSp>
        <p:nvCxnSpPr>
          <p:cNvPr id="300097" name="circuit_wire_300097"/>
          <p:cNvCxnSpPr/>
          <p:nvPr/>
        </p:nvCxnSpPr>
        <p:spPr>
          <a:xfrm>
            <a:off x="9410700" y="2806700"/>
            <a:ext cx="0" cy="101600"/>
          </a:xfrm>
          <a:prstGeom prst="straightConnector1">
            <a:avLst/>
          </a:prstGeom>
          <a:ln w="12700">
            <a:solidFill>
              <a:srgbClr val="000000"/>
            </a:solidFill>
            <a:headEnd type="none"/>
            <a:tailEnd type="none"/>
          </a:ln>
        </p:spPr>
      </p:cxnSp>
      <p:cxnSp>
        <p:nvCxnSpPr>
          <p:cNvPr id="300098" name="circuit_wire_300098"/>
          <p:cNvCxnSpPr/>
          <p:nvPr/>
        </p:nvCxnSpPr>
        <p:spPr>
          <a:xfrm>
            <a:off x="9779000" y="2857500"/>
            <a:ext cx="0" cy="508000"/>
          </a:xfrm>
          <a:prstGeom prst="straightConnector1">
            <a:avLst/>
          </a:prstGeom>
          <a:ln w="12700">
            <a:solidFill>
              <a:srgbClr val="000000"/>
            </a:solidFill>
            <a:headEnd type="none"/>
            <a:tailEnd type="none"/>
          </a:ln>
        </p:spPr>
      </p:cxnSp>
      <p:sp>
        <p:nvSpPr>
          <p:cNvPr id="300099" name="CNOT_control_q1_300099"/>
          <p:cNvSpPr/>
          <p:nvPr/>
        </p:nvSpPr>
        <p:spPr>
          <a:xfrm>
            <a:off x="9744710" y="2823210"/>
            <a:ext cx="68580" cy="68580"/>
          </a:xfrm>
          <a:prstGeom prst="ellipse">
            <a:avLst/>
          </a:prstGeom>
          <a:solidFill>
            <a:srgbClr val="000000"/>
          </a:solidFill>
          <a:ln>
            <a:noFill/>
          </a:ln>
        </p:spPr>
        <p:txBody>
          <a:bodyPr/>
          <a:lstStyle/>
          <a:p>
            <a:endParaRPr/>
          </a:p>
        </p:txBody>
      </p:sp>
      <p:sp>
        <p:nvSpPr>
          <p:cNvPr id="300100" name="CNOT_target_q2_300100"/>
          <p:cNvSpPr/>
          <p:nvPr/>
        </p:nvSpPr>
        <p:spPr>
          <a:xfrm>
            <a:off x="9706610" y="3293110"/>
            <a:ext cx="144780" cy="144780"/>
          </a:xfrm>
          <a:prstGeom prst="ellipse">
            <a:avLst/>
          </a:prstGeom>
          <a:solidFill>
            <a:srgbClr val="FFFFFF"/>
          </a:solidFill>
          <a:ln w="12700">
            <a:solidFill>
              <a:srgbClr val="000000"/>
            </a:solidFill>
          </a:ln>
        </p:spPr>
        <p:txBody>
          <a:bodyPr/>
          <a:lstStyle/>
          <a:p>
            <a:endParaRPr/>
          </a:p>
        </p:txBody>
      </p:sp>
      <p:cxnSp>
        <p:nvCxnSpPr>
          <p:cNvPr id="300101" name="circuit_wire_300101"/>
          <p:cNvCxnSpPr/>
          <p:nvPr/>
        </p:nvCxnSpPr>
        <p:spPr>
          <a:xfrm>
            <a:off x="9728200" y="3365500"/>
            <a:ext cx="101600" cy="0"/>
          </a:xfrm>
          <a:prstGeom prst="straightConnector1">
            <a:avLst/>
          </a:prstGeom>
          <a:ln w="12700">
            <a:solidFill>
              <a:srgbClr val="000000"/>
            </a:solidFill>
            <a:headEnd type="none"/>
            <a:tailEnd type="none"/>
          </a:ln>
        </p:spPr>
      </p:cxnSp>
      <p:cxnSp>
        <p:nvCxnSpPr>
          <p:cNvPr id="300102" name="circuit_wire_300102"/>
          <p:cNvCxnSpPr/>
          <p:nvPr/>
        </p:nvCxnSpPr>
        <p:spPr>
          <a:xfrm>
            <a:off x="9779000" y="3314700"/>
            <a:ext cx="0" cy="101600"/>
          </a:xfrm>
          <a:prstGeom prst="straightConnector1">
            <a:avLst/>
          </a:prstGeom>
          <a:ln w="12700">
            <a:solidFill>
              <a:srgbClr val="000000"/>
            </a:solidFill>
            <a:headEnd type="none"/>
            <a:tailEnd type="none"/>
          </a:ln>
        </p:spPr>
      </p:cxnSp>
      <p:cxnSp>
        <p:nvCxnSpPr>
          <p:cNvPr id="300103" name="circuit_wire_300103"/>
          <p:cNvCxnSpPr/>
          <p:nvPr/>
        </p:nvCxnSpPr>
        <p:spPr>
          <a:xfrm>
            <a:off x="10147300" y="3365500"/>
            <a:ext cx="0" cy="508000"/>
          </a:xfrm>
          <a:prstGeom prst="straightConnector1">
            <a:avLst/>
          </a:prstGeom>
          <a:ln w="12700">
            <a:solidFill>
              <a:srgbClr val="000000"/>
            </a:solidFill>
            <a:headEnd type="none"/>
            <a:tailEnd type="none"/>
          </a:ln>
        </p:spPr>
      </p:cxnSp>
      <p:sp>
        <p:nvSpPr>
          <p:cNvPr id="300104" name="CNOT_control_q2_300104"/>
          <p:cNvSpPr/>
          <p:nvPr/>
        </p:nvSpPr>
        <p:spPr>
          <a:xfrm>
            <a:off x="10113010" y="3331210"/>
            <a:ext cx="68580" cy="68580"/>
          </a:xfrm>
          <a:prstGeom prst="ellipse">
            <a:avLst/>
          </a:prstGeom>
          <a:solidFill>
            <a:srgbClr val="000000"/>
          </a:solidFill>
          <a:ln>
            <a:noFill/>
          </a:ln>
        </p:spPr>
        <p:txBody>
          <a:bodyPr/>
          <a:lstStyle/>
          <a:p>
            <a:endParaRPr/>
          </a:p>
        </p:txBody>
      </p:sp>
      <p:sp>
        <p:nvSpPr>
          <p:cNvPr id="300105" name="CNOT_target_q3_300105"/>
          <p:cNvSpPr/>
          <p:nvPr/>
        </p:nvSpPr>
        <p:spPr>
          <a:xfrm>
            <a:off x="10074910" y="3801110"/>
            <a:ext cx="144780" cy="144780"/>
          </a:xfrm>
          <a:prstGeom prst="ellipse">
            <a:avLst/>
          </a:prstGeom>
          <a:solidFill>
            <a:srgbClr val="FFFFFF"/>
          </a:solidFill>
          <a:ln w="12700">
            <a:solidFill>
              <a:srgbClr val="000000"/>
            </a:solidFill>
          </a:ln>
        </p:spPr>
        <p:txBody>
          <a:bodyPr/>
          <a:lstStyle/>
          <a:p>
            <a:endParaRPr/>
          </a:p>
        </p:txBody>
      </p:sp>
      <p:cxnSp>
        <p:nvCxnSpPr>
          <p:cNvPr id="300106" name="circuit_wire_300106"/>
          <p:cNvCxnSpPr/>
          <p:nvPr/>
        </p:nvCxnSpPr>
        <p:spPr>
          <a:xfrm>
            <a:off x="10096500" y="3873500"/>
            <a:ext cx="101600" cy="0"/>
          </a:xfrm>
          <a:prstGeom prst="straightConnector1">
            <a:avLst/>
          </a:prstGeom>
          <a:ln w="12700">
            <a:solidFill>
              <a:srgbClr val="000000"/>
            </a:solidFill>
            <a:headEnd type="none"/>
            <a:tailEnd type="none"/>
          </a:ln>
        </p:spPr>
      </p:cxnSp>
      <p:cxnSp>
        <p:nvCxnSpPr>
          <p:cNvPr id="300107" name="circuit_wire_300107"/>
          <p:cNvCxnSpPr/>
          <p:nvPr/>
        </p:nvCxnSpPr>
        <p:spPr>
          <a:xfrm>
            <a:off x="10147300" y="3822700"/>
            <a:ext cx="0" cy="101600"/>
          </a:xfrm>
          <a:prstGeom prst="straightConnector1">
            <a:avLst/>
          </a:prstGeom>
          <a:ln w="12700">
            <a:solidFill>
              <a:srgbClr val="000000"/>
            </a:solidFill>
            <a:headEnd type="none"/>
            <a:tailEnd type="none"/>
          </a:ln>
        </p:spPr>
      </p:cxnSp>
      <p:cxnSp>
        <p:nvCxnSpPr>
          <p:cNvPr id="300108" name="circuit_wire_300108"/>
          <p:cNvCxnSpPr/>
          <p:nvPr/>
        </p:nvCxnSpPr>
        <p:spPr>
          <a:xfrm>
            <a:off x="10515600" y="3873500"/>
            <a:ext cx="0" cy="508000"/>
          </a:xfrm>
          <a:prstGeom prst="straightConnector1">
            <a:avLst/>
          </a:prstGeom>
          <a:ln w="12700">
            <a:solidFill>
              <a:srgbClr val="000000"/>
            </a:solidFill>
            <a:headEnd type="none"/>
            <a:tailEnd type="none"/>
          </a:ln>
        </p:spPr>
      </p:cxnSp>
      <p:sp>
        <p:nvSpPr>
          <p:cNvPr id="300109" name="CNOT_control_q3_300109"/>
          <p:cNvSpPr/>
          <p:nvPr/>
        </p:nvSpPr>
        <p:spPr>
          <a:xfrm>
            <a:off x="10481310" y="3839210"/>
            <a:ext cx="68580" cy="68580"/>
          </a:xfrm>
          <a:prstGeom prst="ellipse">
            <a:avLst/>
          </a:prstGeom>
          <a:solidFill>
            <a:srgbClr val="000000"/>
          </a:solidFill>
          <a:ln>
            <a:noFill/>
          </a:ln>
        </p:spPr>
        <p:txBody>
          <a:bodyPr/>
          <a:lstStyle/>
          <a:p>
            <a:endParaRPr/>
          </a:p>
        </p:txBody>
      </p:sp>
      <p:sp>
        <p:nvSpPr>
          <p:cNvPr id="300110" name="CNOT_target_q4_300110"/>
          <p:cNvSpPr/>
          <p:nvPr/>
        </p:nvSpPr>
        <p:spPr>
          <a:xfrm>
            <a:off x="10443210" y="4309110"/>
            <a:ext cx="144780" cy="144780"/>
          </a:xfrm>
          <a:prstGeom prst="ellipse">
            <a:avLst/>
          </a:prstGeom>
          <a:solidFill>
            <a:srgbClr val="FFFFFF"/>
          </a:solidFill>
          <a:ln w="12700">
            <a:solidFill>
              <a:srgbClr val="000000"/>
            </a:solidFill>
          </a:ln>
        </p:spPr>
        <p:txBody>
          <a:bodyPr/>
          <a:lstStyle/>
          <a:p>
            <a:endParaRPr/>
          </a:p>
        </p:txBody>
      </p:sp>
      <p:cxnSp>
        <p:nvCxnSpPr>
          <p:cNvPr id="300111" name="circuit_wire_300111"/>
          <p:cNvCxnSpPr/>
          <p:nvPr/>
        </p:nvCxnSpPr>
        <p:spPr>
          <a:xfrm>
            <a:off x="10464800" y="4381500"/>
            <a:ext cx="101600" cy="0"/>
          </a:xfrm>
          <a:prstGeom prst="straightConnector1">
            <a:avLst/>
          </a:prstGeom>
          <a:ln w="12700">
            <a:solidFill>
              <a:srgbClr val="000000"/>
            </a:solidFill>
            <a:headEnd type="none"/>
            <a:tailEnd type="none"/>
          </a:ln>
        </p:spPr>
      </p:cxnSp>
      <p:cxnSp>
        <p:nvCxnSpPr>
          <p:cNvPr id="300112" name="circuit_wire_300112"/>
          <p:cNvCxnSpPr/>
          <p:nvPr/>
        </p:nvCxnSpPr>
        <p:spPr>
          <a:xfrm>
            <a:off x="10515600" y="4330700"/>
            <a:ext cx="0" cy="101600"/>
          </a:xfrm>
          <a:prstGeom prst="straightConnector1">
            <a:avLst/>
          </a:prstGeom>
          <a:ln w="12700">
            <a:solidFill>
              <a:srgbClr val="000000"/>
            </a:solidFill>
            <a:headEnd type="none"/>
            <a:tailEnd type="none"/>
          </a:ln>
        </p:spPr>
      </p:cxnSp>
      <p:cxnSp>
        <p:nvCxnSpPr>
          <p:cNvPr id="300113" name="circuit_wire_300113"/>
          <p:cNvCxnSpPr/>
          <p:nvPr/>
        </p:nvCxnSpPr>
        <p:spPr>
          <a:xfrm>
            <a:off x="10883900" y="4381500"/>
            <a:ext cx="0" cy="508000"/>
          </a:xfrm>
          <a:prstGeom prst="straightConnector1">
            <a:avLst/>
          </a:prstGeom>
          <a:ln w="12700">
            <a:solidFill>
              <a:srgbClr val="000000"/>
            </a:solidFill>
            <a:headEnd type="none"/>
            <a:tailEnd type="none"/>
          </a:ln>
        </p:spPr>
      </p:cxnSp>
      <p:sp>
        <p:nvSpPr>
          <p:cNvPr id="300114" name="CNOT_control_q4_300114"/>
          <p:cNvSpPr/>
          <p:nvPr/>
        </p:nvSpPr>
        <p:spPr>
          <a:xfrm>
            <a:off x="10849610" y="4347210"/>
            <a:ext cx="68580" cy="68580"/>
          </a:xfrm>
          <a:prstGeom prst="ellipse">
            <a:avLst/>
          </a:prstGeom>
          <a:solidFill>
            <a:srgbClr val="000000"/>
          </a:solidFill>
          <a:ln>
            <a:noFill/>
          </a:ln>
        </p:spPr>
        <p:txBody>
          <a:bodyPr/>
          <a:lstStyle/>
          <a:p>
            <a:endParaRPr/>
          </a:p>
        </p:txBody>
      </p:sp>
      <p:sp>
        <p:nvSpPr>
          <p:cNvPr id="300115" name="CNOT_target_q5_300115"/>
          <p:cNvSpPr/>
          <p:nvPr/>
        </p:nvSpPr>
        <p:spPr>
          <a:xfrm>
            <a:off x="10811510" y="4817110"/>
            <a:ext cx="144780" cy="144780"/>
          </a:xfrm>
          <a:prstGeom prst="ellipse">
            <a:avLst/>
          </a:prstGeom>
          <a:solidFill>
            <a:srgbClr val="FFFFFF"/>
          </a:solidFill>
          <a:ln w="12700">
            <a:solidFill>
              <a:srgbClr val="000000"/>
            </a:solidFill>
          </a:ln>
        </p:spPr>
        <p:txBody>
          <a:bodyPr/>
          <a:lstStyle/>
          <a:p>
            <a:endParaRPr/>
          </a:p>
        </p:txBody>
      </p:sp>
      <p:cxnSp>
        <p:nvCxnSpPr>
          <p:cNvPr id="300116" name="circuit_wire_300116"/>
          <p:cNvCxnSpPr/>
          <p:nvPr/>
        </p:nvCxnSpPr>
        <p:spPr>
          <a:xfrm>
            <a:off x="10833100" y="4889500"/>
            <a:ext cx="101600" cy="0"/>
          </a:xfrm>
          <a:prstGeom prst="straightConnector1">
            <a:avLst/>
          </a:prstGeom>
          <a:ln w="12700">
            <a:solidFill>
              <a:srgbClr val="000000"/>
            </a:solidFill>
            <a:headEnd type="none"/>
            <a:tailEnd type="none"/>
          </a:ln>
        </p:spPr>
      </p:cxnSp>
      <p:cxnSp>
        <p:nvCxnSpPr>
          <p:cNvPr id="300117" name="circuit_wire_300117"/>
          <p:cNvCxnSpPr/>
          <p:nvPr/>
        </p:nvCxnSpPr>
        <p:spPr>
          <a:xfrm>
            <a:off x="10883900" y="4838700"/>
            <a:ext cx="0" cy="101600"/>
          </a:xfrm>
          <a:prstGeom prst="straightConnector1">
            <a:avLst/>
          </a:prstGeom>
          <a:ln w="12700">
            <a:solidFill>
              <a:srgbClr val="000000"/>
            </a:solidFill>
            <a:headEnd type="none"/>
            <a:tailEnd type="none"/>
          </a:ln>
        </p:spPr>
      </p:cxnSp>
      <p:cxnSp>
        <p:nvCxnSpPr>
          <p:cNvPr id="300118" name="circuit_wire_300118"/>
          <p:cNvCxnSpPr/>
          <p:nvPr/>
        </p:nvCxnSpPr>
        <p:spPr>
          <a:xfrm>
            <a:off x="11252200" y="2349500"/>
            <a:ext cx="0" cy="2540000"/>
          </a:xfrm>
          <a:prstGeom prst="straightConnector1">
            <a:avLst/>
          </a:prstGeom>
          <a:ln w="12700">
            <a:solidFill>
              <a:srgbClr val="000000"/>
            </a:solidFill>
            <a:headEnd type="none"/>
            <a:tailEnd type="none"/>
          </a:ln>
        </p:spPr>
      </p:cxnSp>
      <p:sp>
        <p:nvSpPr>
          <p:cNvPr id="300119" name="CNOT_control_q5_300119"/>
          <p:cNvSpPr/>
          <p:nvPr/>
        </p:nvSpPr>
        <p:spPr>
          <a:xfrm>
            <a:off x="11217910" y="4855210"/>
            <a:ext cx="68580" cy="68580"/>
          </a:xfrm>
          <a:prstGeom prst="ellipse">
            <a:avLst/>
          </a:prstGeom>
          <a:solidFill>
            <a:srgbClr val="000000"/>
          </a:solidFill>
          <a:ln>
            <a:noFill/>
          </a:ln>
        </p:spPr>
        <p:txBody>
          <a:bodyPr/>
          <a:lstStyle/>
          <a:p>
            <a:endParaRPr/>
          </a:p>
        </p:txBody>
      </p:sp>
      <p:sp>
        <p:nvSpPr>
          <p:cNvPr id="300120" name="CNOT_target_q0_300120"/>
          <p:cNvSpPr/>
          <p:nvPr/>
        </p:nvSpPr>
        <p:spPr>
          <a:xfrm>
            <a:off x="11179810" y="2277110"/>
            <a:ext cx="144780" cy="144780"/>
          </a:xfrm>
          <a:prstGeom prst="ellipse">
            <a:avLst/>
          </a:prstGeom>
          <a:solidFill>
            <a:srgbClr val="FFFFFF"/>
          </a:solidFill>
          <a:ln w="12700">
            <a:solidFill>
              <a:srgbClr val="000000"/>
            </a:solidFill>
          </a:ln>
        </p:spPr>
        <p:txBody>
          <a:bodyPr/>
          <a:lstStyle/>
          <a:p>
            <a:endParaRPr/>
          </a:p>
        </p:txBody>
      </p:sp>
      <p:cxnSp>
        <p:nvCxnSpPr>
          <p:cNvPr id="300121" name="circuit_wire_300121"/>
          <p:cNvCxnSpPr/>
          <p:nvPr/>
        </p:nvCxnSpPr>
        <p:spPr>
          <a:xfrm>
            <a:off x="11201400" y="2349500"/>
            <a:ext cx="101600" cy="0"/>
          </a:xfrm>
          <a:prstGeom prst="straightConnector1">
            <a:avLst/>
          </a:prstGeom>
          <a:ln w="12700">
            <a:solidFill>
              <a:srgbClr val="000000"/>
            </a:solidFill>
            <a:headEnd type="none"/>
            <a:tailEnd type="none"/>
          </a:ln>
        </p:spPr>
      </p:cxnSp>
      <p:cxnSp>
        <p:nvCxnSpPr>
          <p:cNvPr id="300122" name="circuit_wire_300122"/>
          <p:cNvCxnSpPr/>
          <p:nvPr/>
        </p:nvCxnSpPr>
        <p:spPr>
          <a:xfrm>
            <a:off x="11252200" y="2298700"/>
            <a:ext cx="0" cy="101600"/>
          </a:xfrm>
          <a:prstGeom prst="straightConnector1">
            <a:avLst/>
          </a:prstGeom>
          <a:ln w="12700">
            <a:solidFill>
              <a:srgbClr val="000000"/>
            </a:solidFill>
            <a:headEnd type="none"/>
            <a:tailEnd type="none"/>
          </a:ln>
        </p:spPr>
      </p:cxnSp>
      <p:cxnSp>
        <p:nvCxnSpPr>
          <p:cNvPr id="300123" name="circuit_wire_300123"/>
          <p:cNvCxnSpPr/>
          <p:nvPr/>
        </p:nvCxnSpPr>
        <p:spPr>
          <a:xfrm>
            <a:off x="6184900" y="5245100"/>
            <a:ext cx="5321300" cy="0"/>
          </a:xfrm>
          <a:prstGeom prst="straightConnector1">
            <a:avLst/>
          </a:prstGeom>
          <a:ln w="8890">
            <a:solidFill>
              <a:srgbClr val="666666"/>
            </a:solidFill>
            <a:headEnd type="none"/>
            <a:tailEnd type="none"/>
          </a:ln>
        </p:spPr>
      </p:cxnSp>
      <p:cxnSp>
        <p:nvCxnSpPr>
          <p:cNvPr id="300124" name="circuit_wire_300124"/>
          <p:cNvCxnSpPr/>
          <p:nvPr/>
        </p:nvCxnSpPr>
        <p:spPr>
          <a:xfrm>
            <a:off x="6184900" y="5156200"/>
            <a:ext cx="0" cy="88900"/>
          </a:xfrm>
          <a:prstGeom prst="straightConnector1">
            <a:avLst/>
          </a:prstGeom>
          <a:ln w="8890">
            <a:solidFill>
              <a:srgbClr val="666666"/>
            </a:solidFill>
            <a:headEnd type="none"/>
            <a:tailEnd type="none"/>
          </a:ln>
        </p:spPr>
      </p:cxnSp>
      <p:cxnSp>
        <p:nvCxnSpPr>
          <p:cNvPr id="300125" name="circuit_wire_300125"/>
          <p:cNvCxnSpPr/>
          <p:nvPr/>
        </p:nvCxnSpPr>
        <p:spPr>
          <a:xfrm>
            <a:off x="11506200" y="5156200"/>
            <a:ext cx="0" cy="88900"/>
          </a:xfrm>
          <a:prstGeom prst="straightConnector1">
            <a:avLst/>
          </a:prstGeom>
          <a:ln w="8890">
            <a:solidFill>
              <a:srgbClr val="666666"/>
            </a:solidFill>
            <a:headEnd type="none"/>
            <a:tailEnd type="none"/>
          </a:ln>
        </p:spPr>
      </p:cxnSp>
      <p:sp>
        <p:nvSpPr>
          <p:cNvPr id="300126" name="revision_text_300126"/>
          <p:cNvSpPr txBox="1"/>
          <p:nvPr/>
        </p:nvSpPr>
        <p:spPr>
          <a:xfrm>
            <a:off x="6032500" y="5346700"/>
            <a:ext cx="5562600" cy="279400"/>
          </a:xfrm>
          <a:prstGeom prst="rect">
            <a:avLst/>
          </a:prstGeom>
          <a:noFill/>
          <a:ln>
            <a:noFill/>
          </a:ln>
        </p:spPr>
        <p:txBody>
          <a:bodyPr lIns="0" tIns="0" rIns="0" bIns="0" anchor="ctr">
            <a:noAutofit/>
          </a:bodyPr>
          <a:lstStyle/>
          <a:p>
            <a:pPr algn="ctr">
              <a:lnSpc>
                <a:spcPct val="115000"/>
              </a:lnSpc>
            </a:pPr>
            <a:r>
              <a:rPr lang="en-US" sz="1200" b="0">
                <a:solidFill>
                  <a:srgbClr val="000000"/>
                </a:solidFill>
                <a:latin typeface="Times New Roman"/>
                <a:ea typeface="宋体"/>
              </a:rPr>
              <a:t>整体重复3层，每层重新编码同一组输入角</a:t>
            </a:r>
          </a:p>
        </p:txBody>
      </p:sp>
      <p:sp>
        <p:nvSpPr>
          <p:cNvPr id="300127" name="revision_text_300127"/>
          <p:cNvSpPr txBox="1"/>
          <p:nvPr/>
        </p:nvSpPr>
        <p:spPr>
          <a:xfrm>
            <a:off x="5664200" y="5715000"/>
            <a:ext cx="1295400" cy="279400"/>
          </a:xfrm>
          <a:prstGeom prst="rect">
            <a:avLst/>
          </a:prstGeom>
          <a:noFill/>
          <a:ln>
            <a:noFill/>
          </a:ln>
        </p:spPr>
        <p:txBody>
          <a:bodyPr lIns="0" tIns="0" rIns="0" bIns="0" anchor="ctr">
            <a:noAutofit/>
          </a:bodyPr>
          <a:lstStyle/>
          <a:p>
            <a:pPr algn="l">
              <a:lnSpc>
                <a:spcPct val="115000"/>
              </a:lnSpc>
            </a:pPr>
            <a:r>
              <a:rPr lang="en-US" sz="1200" b="0">
                <a:solidFill>
                  <a:srgbClr val="000000"/>
                </a:solidFill>
                <a:latin typeface="Times New Roman"/>
                <a:ea typeface="宋体"/>
              </a:rPr>
              <a:t>可训练旋转角：</a:t>
            </a:r>
          </a:p>
        </p:txBody>
      </p:sp>
      <mc:AlternateContent xmlns:mc="http://schemas.openxmlformats.org/markup-compatibility/2006">
        <mc:Choice xmlns:a14="http://schemas.microsoft.com/office/drawing/2010/main" Requires="a14">
          <p:sp>
            <p:nvSpPr>
              <p:cNvPr id="310001" name="Equation 91"/>
              <p:cNvSpPr/>
              <p:nvPr/>
            </p:nvSpPr>
            <p:spPr>
              <a:xfrm>
                <a:off x="6959600" y="5689600"/>
                <a:ext cx="1943100" cy="342900"/>
              </a:xfrm>
            </p:spPr>
            <p:txBody>
              <a:bodyPr lIns="0" tIns="0" rIns="0" bIns="0" anchor="ctr"/>
              <a:lstStyle/>
              <a:p>
                <a:pPr algn="ctr">
                  <a:defRPr sz="13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𝜙</m:t>
                              </m:r>
                            </m:e>
                            <m:sub>
                              <m:r>
                                <a:rPr>
                                  <a:latin typeface="Cambria Math" panose="02040503050406030204" pitchFamily="18" charset="0"/>
                                </a:rPr>
                                <m:t>ℓ </m:t>
                              </m:r>
                              <m:r>
                                <a:rPr>
                                  <a:latin typeface="Cambria Math" panose="02040503050406030204" pitchFamily="18" charset="0"/>
                                </a:rPr>
                                <m:t>𝑞</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𝜗</m:t>
                              </m:r>
                            </m:e>
                            <m:sub>
                              <m:r>
                                <a:rPr>
                                  <a:latin typeface="Cambria Math" panose="02040503050406030204" pitchFamily="18" charset="0"/>
                                </a:rPr>
                                <m:t>ℓ </m:t>
                              </m:r>
                              <m:r>
                                <a:rPr>
                                  <a:latin typeface="Cambria Math" panose="02040503050406030204" pitchFamily="18" charset="0"/>
                                </a:rPr>
                                <m:t>𝑞</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𝜔</m:t>
                              </m:r>
                            </m:e>
                            <m:sub>
                              <m:r>
                                <a:rPr>
                                  <a:latin typeface="Cambria Math" panose="02040503050406030204" pitchFamily="18" charset="0"/>
                                </a:rPr>
                                <m:t>ℓ </m:t>
                              </m:r>
                              <m:r>
                                <a:rPr>
                                  <a:latin typeface="Cambria Math" panose="02040503050406030204" pitchFamily="18" charset="0"/>
                                </a:rPr>
                                <m:t>𝑞</m:t>
                              </m:r>
                            </m:sub>
                          </m:sSub>
                        </m:oMath>
                      </m:oMathPara>
                    </a14:m>
                  </mc:Choice>
                  <mc:Fallback xmlns:asvg="http://schemas.microsoft.com/office/drawing/2016/SVG/main" xmlns="">
                    <a:r>
                      <a:rPr lang="en-US"/>
                      <a:t>ϕℓ q, ϑℓ q, ωℓ q</a:t>
                    </a:r>
                  </mc:Fallback>
                </mc:AlternateContent>
                <a:endParaRPr/>
              </a:p>
            </p:txBody>
          </p:sp>
        </mc:Choice>
        <mc:Fallback>
          <p:sp>
            <p:nvSpPr>
              <p:cNvPr id="310001" name="Equation 91"/>
              <p:cNvSpPr>
                <a:spLocks noRot="1" noChangeAspect="1" noMove="1" noResize="1" noEditPoints="1" noAdjustHandles="1" noChangeArrowheads="1" noChangeShapeType="1" noTextEdit="1"/>
              </p:cNvSpPr>
              <p:nvPr/>
            </p:nvSpPr>
            <p:spPr>
              <a:xfrm>
                <a:off x="6959600" y="5689600"/>
                <a:ext cx="1943100" cy="342900"/>
              </a:xfrm>
              <a:blipFill>
                <a:blip r:embed="rId42"/>
                <a:stretch>
                  <a:fillRect/>
                </a:stretch>
              </a:blipFill>
            </p:spPr>
            <p:txBody>
              <a:bodyPr/>
              <a:lstStyle/>
              <a:p>
                <a:r>
                  <a:rPr lang="zh-CN" altLang="en-US">
                    <a:noFill/>
                  </a:rPr>
                  <a:t> </a:t>
                </a:r>
              </a:p>
            </p:txBody>
          </p:sp>
        </mc:Fallback>
      </mc:AlternateContent>
      <p:sp>
        <p:nvSpPr>
          <p:cNvPr id="310002" name="TextBox 92"/>
          <p:cNvSpPr txBox="1"/>
          <p:nvPr/>
        </p:nvSpPr>
        <p:spPr>
          <a:xfrm>
            <a:off x="8978900" y="5715000"/>
            <a:ext cx="2641600" cy="279400"/>
          </a:xfrm>
          <a:prstGeom prst="rect">
            <a:avLst/>
          </a:prstGeom>
          <a:noFill/>
          <a:ln>
            <a:noFill/>
          </a:ln>
        </p:spPr>
        <p:txBody>
          <a:bodyPr lIns="0" tIns="0" rIns="0" bIns="0" anchor="ctr"/>
          <a:lstStyle/>
          <a:p>
            <a:r>
              <a:rPr lang="en-US" sz="1200">
                <a:solidFill>
                  <a:srgbClr val="000000"/>
                </a:solidFill>
                <a:latin typeface="Times New Roman"/>
                <a:ea typeface="宋体"/>
              </a:rPr>
              <a:t>随层与比特独立。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候选策略评价与组状态信用">
    <p:bg>
      <p:bgPr>
        <a:solidFill>
          <a:srgbClr val="FFFFFF"/>
        </a:solidFill>
        <a:effectLst/>
      </p:bgPr>
    </p:bg>
    <p:spTree>
      <p:nvGrpSpPr>
        <p:cNvPr id="1" name=""/>
        <p:cNvGrpSpPr/>
        <p:nvPr/>
      </p:nvGrpSpPr>
      <p:grpSpPr>
        <a:xfrm>
          <a:off x="0" y="0"/>
          <a:ext cx="0" cy="0"/>
          <a:chOff x="0" y="0"/>
          <a:chExt cx="0" cy="0"/>
        </a:xfrm>
      </p:grpSpPr>
      <p:pic>
        <p:nvPicPr>
          <p:cNvPr id="100136"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37"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QGNN：测量读出与消息传播</a:t>
            </a:r>
          </a:p>
        </p:txBody>
      </p:sp>
      <p:cxnSp>
        <p:nvCxnSpPr>
          <p:cNvPr id="100138" name="header_rule"/>
          <p:cNvCxnSpPr/>
          <p:nvPr/>
        </p:nvCxnSpPr>
        <p:spPr>
          <a:xfrm>
            <a:off x="546100" y="711200"/>
            <a:ext cx="8318500" cy="0"/>
          </a:xfrm>
          <a:prstGeom prst="straightConnector1">
            <a:avLst/>
          </a:prstGeom>
          <a:ln w="6985">
            <a:solidFill>
              <a:srgbClr val="A0A0A0"/>
            </a:solidFill>
          </a:ln>
        </p:spPr>
      </p:cxnSp>
      <p:sp>
        <p:nvSpPr>
          <p:cNvPr id="100139" name="fitness_heading"/>
          <p:cNvSpPr/>
          <p:nvPr/>
        </p:nvSpPr>
        <p:spPr>
          <a:xfrm>
            <a:off x="546100" y="1054100"/>
            <a:ext cx="110744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量子测量与关系读出</a:t>
            </a:r>
          </a:p>
        </p:txBody>
      </p:sp>
      <p:sp>
        <p:nvSpPr>
          <p:cNvPr id="100141" name="fitness_explanation"/>
          <p:cNvSpPr/>
          <p:nvPr/>
        </p:nvSpPr>
        <p:spPr>
          <a:xfrm>
            <a:off x="546100" y="2286000"/>
            <a:ext cx="11074400" cy="5842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单比特与相邻双比特期望值组成12维向量，经层归一化后生成每个注意力头的权重。</a:t>
            </a:r>
          </a:p>
          <a:p>
            <a:pPr algn="l">
              <a:lnSpc>
                <a:spcPts val="2000"/>
              </a:lnSpc>
              <a:spcBef>
                <a:spcPts val="0"/>
              </a:spcBef>
              <a:spcAft>
                <a:spcPts val="0"/>
              </a:spcAft>
            </a:pPr>
            <a:r>
              <a:rPr lang="en-US" sz="1300" b="0">
                <a:solidFill>
                  <a:srgbClr val="000000"/>
                </a:solidFill>
                <a:latin typeface="Times New Roman"/>
                <a:ea typeface="宋体"/>
                <a:cs typeface="Times New Roman"/>
              </a:rPr>
              <a:t>量子读出控制信息的分配与强度，经典分支提供消息内容。</a:t>
            </a:r>
          </a:p>
        </p:txBody>
      </p:sp>
      <p:cxnSp>
        <p:nvCxnSpPr>
          <p:cNvPr id="100142" name="body_rule"/>
          <p:cNvCxnSpPr/>
          <p:nvPr/>
        </p:nvCxnSpPr>
        <p:spPr>
          <a:xfrm>
            <a:off x="546100" y="3022600"/>
            <a:ext cx="11074400" cy="0"/>
          </a:xfrm>
          <a:prstGeom prst="straightConnector1">
            <a:avLst/>
          </a:prstGeom>
          <a:ln w="6350">
            <a:solidFill>
              <a:srgbClr val="B5B5B5"/>
            </a:solidFill>
          </a:ln>
        </p:spPr>
      </p:cxnSp>
      <p:sp>
        <p:nvSpPr>
          <p:cNvPr id="100143" name="archive_heading"/>
          <p:cNvSpPr/>
          <p:nvPr/>
        </p:nvSpPr>
        <p:spPr>
          <a:xfrm>
            <a:off x="546100" y="3263900"/>
            <a:ext cx="64135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注意力、门控与消息内容</a:t>
            </a:r>
          </a:p>
        </p:txBody>
      </p:sp>
      <p:sp>
        <p:nvSpPr>
          <p:cNvPr id="100145" name="example_heading"/>
          <p:cNvSpPr/>
          <p:nvPr/>
        </p:nvSpPr>
        <p:spPr>
          <a:xfrm>
            <a:off x="546100" y="4318000"/>
            <a:ext cx="6350000" cy="2921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1">
                <a:solidFill>
                  <a:srgbClr val="000000"/>
                </a:solidFill>
                <a:latin typeface="Times New Roman"/>
                <a:ea typeface="宋体"/>
                <a:cs typeface="Times New Roman"/>
              </a:rPr>
              <a:t>按单个注意力头表示</a:t>
            </a:r>
          </a:p>
        </p:txBody>
      </p:sp>
      <p:graphicFrame>
        <p:nvGraphicFramePr>
          <p:cNvPr id="100146" name="credit_example_table"/>
          <p:cNvGraphicFramePr/>
          <p:nvPr/>
        </p:nvGraphicFramePr>
        <p:xfrm>
          <a:off x="546100" y="4699000"/>
          <a:ext cx="6477000" cy="1441196"/>
        </p:xfrm>
        <a:graphic>
          <a:graphicData uri="http://schemas.openxmlformats.org/drawingml/2006/table">
            <a:tbl>
              <a:tblPr bandRow="1">
                <a:tableStyleId>{2D5ABB26-0587-4C30-8999-92F81FD0307C}</a:tableStyleId>
              </a:tblPr>
              <a:tblGrid>
                <a:gridCol w="1333500">
                  <a:extLst>
                    <a:ext uri="{9D8B030D-6E8A-4147-A177-3AD203B41FA5}">
                      <a16:colId xmlns:a16="http://schemas.microsoft.com/office/drawing/2014/main" val="20000"/>
                    </a:ext>
                  </a:extLst>
                </a:gridCol>
                <a:gridCol w="3683000">
                  <a:extLst>
                    <a:ext uri="{9D8B030D-6E8A-4147-A177-3AD203B41FA5}">
                      <a16:colId xmlns:a16="http://schemas.microsoft.com/office/drawing/2014/main" val="20001"/>
                    </a:ext>
                  </a:extLst>
                </a:gridCol>
                <a:gridCol w="1460500">
                  <a:extLst>
                    <a:ext uri="{9D8B030D-6E8A-4147-A177-3AD203B41FA5}">
                      <a16:colId xmlns:a16="http://schemas.microsoft.com/office/drawing/2014/main" val="20002"/>
                    </a:ext>
                  </a:extLst>
                </a:gridCol>
              </a:tblGrid>
              <a:tr h="419100">
                <a:tc>
                  <a:txBody>
                    <a:bodyPr/>
                    <a:lstStyle/>
                    <a:p>
                      <a:pPr algn="ctr">
                        <a:lnSpc>
                          <a:spcPts val="1700"/>
                        </a:lnSpc>
                        <a:spcBef>
                          <a:spcPts val="0"/>
                        </a:spcBef>
                        <a:spcAft>
                          <a:spcPts val="0"/>
                        </a:spcAft>
                      </a:pPr>
                      <a:r>
                        <a:rPr lang="en-US" sz="1300" b="0">
                          <a:solidFill>
                            <a:srgbClr val="000000"/>
                          </a:solidFill>
                          <a:latin typeface="Times New Roman"/>
                          <a:ea typeface="宋体"/>
                        </a:rPr>
                        <a:t>组成部分</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4F4F4"/>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计算来源</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4F4F4"/>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作用</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4F4F4"/>
                    </a:solidFill>
                  </a:tcPr>
                </a:tc>
                <a:extLst>
                  <a:ext uri="{0D108BD9-81ED-4DB2-BD59-A6C34878D82A}">
                    <a16:rowId xmlns:a16="http://schemas.microsoft.com/office/drawing/2014/main" val="10000"/>
                  </a:ext>
                </a:extLst>
              </a:tr>
              <a:tr h="511937">
                <a:tc>
                  <a:txBody>
                    <a:bodyPr/>
                    <a:lstStyle/>
                    <a:p>
                      <a:pPr algn="ctr">
                        <a:lnSpc>
                          <a:spcPts val="1700"/>
                        </a:lnSpc>
                        <a:spcBef>
                          <a:spcPts val="0"/>
                        </a:spcBef>
                        <a:spcAft>
                          <a:spcPts val="0"/>
                        </a:spcAft>
                      </a:pPr>
                      <a:r>
                        <a:rPr lang="en-US" sz="1300" b="0">
                          <a:solidFill>
                            <a:srgbClr val="000000"/>
                          </a:solidFill>
                          <a:latin typeface="Times New Roman"/>
                          <a:ea typeface="宋体"/>
                        </a:rPr>
                        <a:t>注意力与门控</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量子读出＋线性层</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a:solidFill>
                            <a:srgbClr val="000000"/>
                          </a:solidFill>
                          <a:latin typeface="Times New Roman"/>
                          <a:ea typeface="宋体"/>
                        </a:rPr>
                        <a:t>控制权重和强度</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extLst>
                  <a:ext uri="{0D108BD9-81ED-4DB2-BD59-A6C34878D82A}">
                    <a16:rowId xmlns:a16="http://schemas.microsoft.com/office/drawing/2014/main" val="10001"/>
                  </a:ext>
                </a:extLst>
              </a:tr>
              <a:tr h="510159">
                <a:tc>
                  <a:txBody>
                    <a:bodyPr/>
                    <a:lstStyle/>
                    <a:p>
                      <a:pPr algn="ctr">
                        <a:lnSpc>
                          <a:spcPts val="1700"/>
                        </a:lnSpc>
                        <a:spcBef>
                          <a:spcPts val="0"/>
                        </a:spcBef>
                        <a:spcAft>
                          <a:spcPts val="0"/>
                        </a:spcAft>
                      </a:pPr>
                      <a:r>
                        <a:rPr lang="en-US" sz="1300" b="0">
                          <a:solidFill>
                            <a:srgbClr val="000000"/>
                          </a:solidFill>
                          <a:latin typeface="Times New Roman"/>
                          <a:ea typeface="宋体"/>
                        </a:rPr>
                        <a:t>经典消息内容</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b="0">
                          <a:solidFill>
                            <a:srgbClr val="000000"/>
                          </a:solidFill>
                          <a:latin typeface="Times New Roman"/>
                          <a:ea typeface="宋体"/>
                        </a:rPr>
                        <a:t>邻车特征＋物理边</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tc>
                  <a:txBody>
                    <a:bodyPr/>
                    <a:lstStyle/>
                    <a:p>
                      <a:pPr algn="ctr">
                        <a:lnSpc>
                          <a:spcPts val="1700"/>
                        </a:lnSpc>
                        <a:spcBef>
                          <a:spcPts val="0"/>
                        </a:spcBef>
                        <a:spcAft>
                          <a:spcPts val="0"/>
                        </a:spcAft>
                      </a:pPr>
                      <a:r>
                        <a:rPr lang="en-US" sz="1300">
                          <a:solidFill>
                            <a:srgbClr val="000000"/>
                          </a:solidFill>
                          <a:latin typeface="Times New Roman"/>
                          <a:ea typeface="宋体"/>
                        </a:rPr>
                        <a:t>携带邻车与关系信息</a:t>
                      </a:r>
                    </a:p>
                  </a:txBody>
                  <a:tcPr marL="38100" marR="38100" marT="38100" marB="38100" anchor="ctr">
                    <a:lnL w="6350">
                      <a:solidFill>
                        <a:srgbClr val="A8A8A8"/>
                      </a:solidFill>
                      <a:prstDash val="solid"/>
                    </a:lnL>
                    <a:lnR w="6350">
                      <a:solidFill>
                        <a:srgbClr val="A8A8A8"/>
                      </a:solidFill>
                      <a:prstDash val="solid"/>
                    </a:lnR>
                    <a:lnT w="6350">
                      <a:solidFill>
                        <a:srgbClr val="A8A8A8"/>
                      </a:solidFill>
                      <a:prstDash val="solid"/>
                    </a:lnT>
                    <a:lnB w="6350">
                      <a:solidFill>
                        <a:srgbClr val="A8A8A8"/>
                      </a:solidFill>
                      <a:prstDash val="solid"/>
                    </a:lnB>
                    <a:solidFill>
                      <a:srgbClr val="FFFFFF"/>
                    </a:solidFill>
                  </a:tcPr>
                </a:tc>
                <a:extLst>
                  <a:ext uri="{0D108BD9-81ED-4DB2-BD59-A6C34878D82A}">
                    <a16:rowId xmlns:a16="http://schemas.microsoft.com/office/drawing/2014/main" val="10002"/>
                  </a:ext>
                </a:extLst>
              </a:tr>
            </a:tbl>
          </a:graphicData>
        </a:graphic>
      </p:graphicFrame>
      <p:cxnSp>
        <p:nvCxnSpPr>
          <p:cNvPr id="100147" name="column_rule"/>
          <p:cNvCxnSpPr/>
          <p:nvPr/>
        </p:nvCxnSpPr>
        <p:spPr>
          <a:xfrm>
            <a:off x="7340600" y="3263900"/>
            <a:ext cx="0" cy="2857500"/>
          </a:xfrm>
          <a:prstGeom prst="straightConnector1">
            <a:avLst/>
          </a:prstGeom>
          <a:ln w="6350">
            <a:solidFill>
              <a:srgbClr val="B5B5B5"/>
            </a:solidFill>
          </a:ln>
        </p:spPr>
      </p:cxnSp>
      <p:sp>
        <p:nvSpPr>
          <p:cNvPr id="100148" name="credit_heading"/>
          <p:cNvSpPr/>
          <p:nvPr/>
        </p:nvSpPr>
        <p:spPr>
          <a:xfrm>
            <a:off x="7645400" y="3263900"/>
            <a:ext cx="39751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聚合与节点更新</a:t>
            </a:r>
          </a:p>
        </p:txBody>
      </p:sp>
      <p:sp>
        <p:nvSpPr>
          <p:cNvPr id="100151" name="credit_explanation"/>
          <p:cNvSpPr/>
          <p:nvPr/>
        </p:nvSpPr>
        <p:spPr>
          <a:xfrm>
            <a:off x="7645400" y="5041900"/>
            <a:ext cx="3975100" cy="571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残差更新后接前馈网络和归一化。</a:t>
            </a:r>
          </a:p>
          <a:p>
            <a:pPr algn="l">
              <a:lnSpc>
                <a:spcPts val="2000"/>
              </a:lnSpc>
              <a:spcBef>
                <a:spcPts val="0"/>
              </a:spcBef>
              <a:spcAft>
                <a:spcPts val="0"/>
              </a:spcAft>
            </a:pPr>
            <a:r>
              <a:rPr lang="en-US" sz="1300" b="0">
                <a:solidFill>
                  <a:srgbClr val="000000"/>
                </a:solidFill>
                <a:latin typeface="Times New Roman"/>
                <a:ea typeface="宋体"/>
                <a:cs typeface="Times New Roman"/>
              </a:rPr>
              <a:t>第二层继续更新第一层输出的节点特征。</a:t>
            </a:r>
          </a:p>
        </p:txBody>
      </p:sp>
      <p:cxnSp>
        <p:nvCxnSpPr>
          <p:cNvPr id="100152" name="footer_rule"/>
          <p:cNvCxnSpPr/>
          <p:nvPr/>
        </p:nvCxnSpPr>
        <p:spPr>
          <a:xfrm>
            <a:off x="546100" y="6311900"/>
            <a:ext cx="11074400" cy="0"/>
          </a:xfrm>
          <a:prstGeom prst="straightConnector1">
            <a:avLst/>
          </a:prstGeom>
          <a:ln w="6350">
            <a:solidFill>
              <a:srgbClr val="B5B5B5"/>
            </a:solidFill>
          </a:ln>
        </p:spPr>
      </p:cxnSp>
      <p:sp>
        <p:nvSpPr>
          <p:cNvPr id="100153" name="rotation_link"/>
          <p:cNvSpPr/>
          <p:nvPr/>
        </p:nvSpPr>
        <p:spPr>
          <a:xfrm>
            <a:off x="546100" y="6464300"/>
            <a:ext cx="11074400" cy="3048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两层均包含量子关系分支；每层4个注意力头，图输出接入公共时间预测器。</a:t>
            </a:r>
          </a:p>
        </p:txBody>
      </p:sp>
      <mc:AlternateContent xmlns:mc="http://schemas.openxmlformats.org/markup-compatibility/2006" xmlns:a14="http://schemas.microsoft.com/office/drawing/2010/main">
        <mc:Choice Requires="a14">
          <p:sp>
            <p:nvSpPr>
              <p:cNvPr id="200037" name="quantum_readout" descr="LaTeX: \mathbf{z}_{ij}=[\langle Z_0\rangle,\ldots,\langle Z_5\rangle,\langle Z_0Z_1\rangle,\ldots,\langle Z_5Z_0\rangle]^{\mathsf T}"/>
              <p:cNvSpPr/>
              <p:nvPr/>
            </p:nvSpPr>
            <p:spPr>
              <a:xfrm>
                <a:off x="1206500" y="1409700"/>
                <a:ext cx="9753600" cy="622300"/>
              </a:xfrm>
            </p:spPr>
            <p:txBody>
              <a:bodyPr lIns="0" tIns="0" rIns="0" bIns="0" anchor="ctr"/>
              <a:lstStyle/>
              <a:p>
                <a:pPr algn="ctr">
                  <a:defRPr lang="en-US" sz="19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𝐳</m:t>
                              </m:r>
                            </m:e>
                            <m:sub>
                              <m:r>
                                <a:rPr>
                                  <a:latin typeface="Cambria Math" panose="02040503050406030204" pitchFamily="18" charset="0"/>
                                </a:rPr>
                                <m:t>𝑖𝑗</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𝑍</m:t>
                              </m:r>
                            </m:e>
                            <m:sub>
                              <m:r>
                                <a:rPr>
                                  <a:latin typeface="Cambria Math" panose="02040503050406030204" pitchFamily="18" charset="0"/>
                                </a:rPr>
                                <m:t>0</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𝑍</m:t>
                              </m:r>
                            </m:e>
                            <m:sub>
                              <m:r>
                                <a:rPr>
                                  <a:latin typeface="Cambria Math" panose="02040503050406030204" pitchFamily="18" charset="0"/>
                                </a:rPr>
                                <m:t>5</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𝑍</m:t>
                              </m:r>
                            </m:e>
                            <m:sub>
                              <m:r>
                                <a:rPr>
                                  <a:latin typeface="Cambria Math" panose="02040503050406030204" pitchFamily="18" charset="0"/>
                                </a:rPr>
                                <m:t>0</m:t>
                              </m:r>
                            </m:sub>
                          </m:sSub>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1</m:t>
                              </m:r>
                            </m:sub>
                          </m:sSub>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𝑍</m:t>
                              </m:r>
                            </m:e>
                            <m:sub>
                              <m:r>
                                <a:rPr>
                                  <a:latin typeface="Cambria Math" panose="02040503050406030204" pitchFamily="18" charset="0"/>
                                </a:rPr>
                                <m:t>5</m:t>
                              </m:r>
                            </m:sub>
                          </m:sSub>
                          <m:sSub>
                            <m:sSubPr>
                              <m:ctrlPr>
                                <a:rPr i="1">
                                  <a:latin typeface="Cambria Math" panose="02040503050406030204" pitchFamily="18" charset="0"/>
                                </a:rPr>
                              </m:ctrlPr>
                            </m:sSubPr>
                            <m:e>
                              <m:r>
                                <a:rPr>
                                  <a:latin typeface="Cambria Math" panose="02040503050406030204" pitchFamily="18" charset="0"/>
                                </a:rPr>
                                <m:t>𝑍</m:t>
                              </m:r>
                            </m:e>
                            <m:sub>
                              <m:r>
                                <a:rPr>
                                  <a:latin typeface="Cambria Math" panose="02040503050406030204" pitchFamily="18" charset="0"/>
                                </a:rPr>
                                <m:t>0</m:t>
                              </m:r>
                            </m:sub>
                          </m:sSub>
                          <m:r>
                            <a:rPr>
                              <a:latin typeface="Cambria Math" panose="02040503050406030204" pitchFamily="18" charset="0"/>
                            </a:rPr>
                            <m:t>⟩</m:t>
                          </m:r>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𝖳</m:t>
                              </m:r>
                            </m:sup>
                          </m:sSup>
                        </m:oMath>
                      </m:oMathPara>
                    </a14:m>
                  </mc:Choice>
                  <mc:Fallback xmlns:asvg="http://schemas.microsoft.com/office/drawing/2016/SVG/main" xmlns:a16="http://schemas.microsoft.com/office/drawing/2014/main" xmlns="">
                    <a:r>
                      <a:rPr lang="en-US" sz="1900"/>
                      <a:t>zᵢj=[⟨ Z₀⟩,…,⟨ Z₅⟩,⟨ Z₀Z₁⟩,…,⟨ Z₅Z₀⟩]T</a:t>
                    </a:r>
                  </mc:Fallback>
                </mc:AlternateContent>
                <a:endParaRPr/>
              </a:p>
            </p:txBody>
          </p:sp>
        </mc:Choice>
        <mc:Fallback xmlns:asvg="http://schemas.microsoft.com/office/drawing/2016/SVG/main" xmlns:a16="http://schemas.microsoft.com/office/drawing/2014/main" xmlns="">
          <p:sp>
            <p:nvSpPr>
              <p:cNvPr id="200037" name="quantum_readout" descr="LaTeX: \mathbf{z}_{ij}=[\langle Z_0\rangle,\ldots,\langle Z_5\rangle,\langle Z_0Z_1\rangle,\ldots,\langle Z_5Z_0\rangle]^{\mathsf T}"/>
              <p:cNvSpPr>
                <a:spLocks noRot="1" noChangeAspect="1" noMove="1" noResize="1" noEditPoints="1" noAdjustHandles="1" noChangeArrowheads="1" noChangeShapeType="1" noTextEdit="1"/>
              </p:cNvSpPr>
              <p:nvPr/>
            </p:nvSpPr>
            <p:spPr>
              <a:xfrm>
                <a:off x="1206500" y="1409700"/>
                <a:ext cx="9753600" cy="622300"/>
              </a:xfr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0038" name="attention_gate" descr="LaTeX: \alpha_{ij}=\mathrm{softmax}_j(\mathbf{w}_a^{\mathsf T}\bar{\mathbf z}_{ij}),\quad g_{ij}=2\sigma(\mathbf{w}_g^{\mathsf T}\bar{\mathbf z}_{ij})"/>
              <p:cNvSpPr/>
              <p:nvPr/>
            </p:nvSpPr>
            <p:spPr>
              <a:xfrm>
                <a:off x="546100" y="3632200"/>
                <a:ext cx="6477000" cy="5588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𝑖𝑗</m:t>
                              </m:r>
                            </m:sub>
                          </m:sSub>
                          <m:r>
                            <a:rPr>
                              <a:latin typeface="Cambria Math" panose="02040503050406030204" pitchFamily="18" charset="0"/>
                            </a:rPr>
                            <m:t>=</m:t>
                          </m:r>
                          <m:sSub>
                            <m:sSubPr>
                              <m:ctrlPr>
                                <a:rPr i="1">
                                  <a:latin typeface="Cambria Math" panose="02040503050406030204" pitchFamily="18" charset="0"/>
                                </a:rPr>
                              </m:ctrlPr>
                            </m:sSubPr>
                            <m:e>
                              <m:r>
                                <m:rPr>
                                  <m:sty m:val="p"/>
                                </m:rPr>
                                <a:rPr>
                                  <a:latin typeface="Cambria Math" panose="02040503050406030204" pitchFamily="18" charset="0"/>
                                </a:rPr>
                                <m:t>softmax</m:t>
                              </m:r>
                            </m:e>
                            <m:sub>
                              <m:r>
                                <a:rPr>
                                  <a:latin typeface="Cambria Math" panose="02040503050406030204" pitchFamily="18" charset="0"/>
                                </a:rPr>
                                <m:t>𝑗</m:t>
                              </m:r>
                            </m:sub>
                          </m:sSub>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𝐰</m:t>
                              </m:r>
                            </m:e>
                            <m:sub>
                              <m:r>
                                <a:rPr>
                                  <a:latin typeface="Cambria Math" panose="02040503050406030204" pitchFamily="18" charset="0"/>
                                </a:rPr>
                                <m:t>𝑎</m:t>
                              </m:r>
                            </m:sub>
                            <m:sup>
                              <m:r>
                                <a:rPr>
                                  <a:latin typeface="Cambria Math" panose="02040503050406030204" pitchFamily="18" charset="0"/>
                                </a:rPr>
                                <m:t>𝖳</m:t>
                              </m:r>
                            </m:sup>
                          </m:sSubSup>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𝐳</m:t>
                                  </m:r>
                                </m:e>
                              </m:acc>
                            </m:e>
                            <m:sub>
                              <m:r>
                                <a:rPr>
                                  <a:latin typeface="Cambria Math" panose="02040503050406030204" pitchFamily="18" charset="0"/>
                                </a:rPr>
                                <m:t>𝑖𝑗</m:t>
                              </m:r>
                            </m:sub>
                          </m:sSub>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 </m:t>
                              </m:r>
                              <m:r>
                                <a:rPr>
                                  <a:latin typeface="Cambria Math" panose="02040503050406030204" pitchFamily="18" charset="0"/>
                                </a:rPr>
                                <m:t>𝑔</m:t>
                              </m:r>
                            </m:e>
                            <m:sub>
                              <m:r>
                                <a:rPr>
                                  <a:latin typeface="Cambria Math" panose="02040503050406030204" pitchFamily="18" charset="0"/>
                                </a:rPr>
                                <m:t>𝑖𝑗</m:t>
                              </m:r>
                            </m:sub>
                          </m:sSub>
                          <m:r>
                            <a:rPr>
                              <a:latin typeface="Cambria Math" panose="02040503050406030204" pitchFamily="18" charset="0"/>
                            </a:rPr>
                            <m:t>=2</m:t>
                          </m:r>
                          <m:r>
                            <a:rPr>
                              <a:latin typeface="Cambria Math" panose="02040503050406030204" pitchFamily="18" charset="0"/>
                            </a:rPr>
                            <m:t>𝜎</m:t>
                          </m:r>
                          <m:r>
                            <a:rPr>
                              <a:latin typeface="Cambria Math" panose="02040503050406030204" pitchFamily="18" charset="0"/>
                            </a:rPr>
                            <m:t>(</m:t>
                          </m:r>
                          <m:sSubSup>
                            <m:sSubSupPr>
                              <m:ctrlPr>
                                <a:rPr i="1">
                                  <a:latin typeface="Cambria Math" panose="02040503050406030204" pitchFamily="18" charset="0"/>
                                </a:rPr>
                              </m:ctrlPr>
                            </m:sSubSupPr>
                            <m:e>
                              <m:r>
                                <a:rPr>
                                  <a:latin typeface="Cambria Math" panose="02040503050406030204" pitchFamily="18" charset="0"/>
                                </a:rPr>
                                <m:t>𝐰</m:t>
                              </m:r>
                            </m:e>
                            <m:sub>
                              <m:r>
                                <a:rPr>
                                  <a:latin typeface="Cambria Math" panose="02040503050406030204" pitchFamily="18" charset="0"/>
                                </a:rPr>
                                <m:t>𝑔</m:t>
                              </m:r>
                            </m:sub>
                            <m:sup>
                              <m:r>
                                <a:rPr>
                                  <a:latin typeface="Cambria Math" panose="02040503050406030204" pitchFamily="18" charset="0"/>
                                </a:rPr>
                                <m:t>𝖳</m:t>
                              </m:r>
                            </m:sup>
                          </m:sSubSup>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𝐳</m:t>
                                  </m:r>
                                </m:e>
                              </m:acc>
                            </m:e>
                            <m:sub>
                              <m:r>
                                <a:rPr>
                                  <a:latin typeface="Cambria Math" panose="02040503050406030204" pitchFamily="18" charset="0"/>
                                </a:rPr>
                                <m:t>𝑖𝑗</m:t>
                              </m:r>
                            </m:sub>
                          </m:sSub>
                          <m:r>
                            <a:rPr>
                              <a:latin typeface="Cambria Math" panose="02040503050406030204" pitchFamily="18" charset="0"/>
                            </a:rPr>
                            <m:t>)</m:t>
                          </m:r>
                        </m:oMath>
                      </m:oMathPara>
                    </a14:m>
                  </mc:Choice>
                  <mc:Fallback xmlns:asvg="http://schemas.microsoft.com/office/drawing/2016/SVG/main" xmlns:a16="http://schemas.microsoft.com/office/drawing/2014/main" xmlns="">
                    <a:r>
                      <a:rPr lang="en-US" sz="1700"/>
                      <a:t>αᵢj=softmaxj(wₐTz̄ᵢj),  gᵢj=2σ(wgTz̄ᵢj)</a:t>
                    </a:r>
                  </mc:Fallback>
                </mc:AlternateContent>
                <a:endParaRPr/>
              </a:p>
            </p:txBody>
          </p:sp>
        </mc:Choice>
        <mc:Fallback xmlns:asvg="http://schemas.microsoft.com/office/drawing/2016/SVG/main" xmlns:a16="http://schemas.microsoft.com/office/drawing/2014/main" xmlns="">
          <p:sp>
            <p:nvSpPr>
              <p:cNvPr id="200038" name="attention_gate" descr="LaTeX: \alpha_{ij}=\mathrm{softmax}_j(\mathbf{w}_a^{\mathsf T}\bar{\mathbf z}_{ij}),\quad g_{ij}=2\sigma(\mathbf{w}_g^{\mathsf T}\bar{\mathbf z}_{ij})"/>
              <p:cNvSpPr>
                <a:spLocks noRot="1" noChangeAspect="1" noMove="1" noResize="1" noEditPoints="1" noAdjustHandles="1" noChangeArrowheads="1" noChangeShapeType="1" noTextEdit="1"/>
              </p:cNvSpPr>
              <p:nvPr/>
            </p:nvSpPr>
            <p:spPr>
              <a:xfrm>
                <a:off x="546100" y="3632200"/>
                <a:ext cx="6477000" cy="558800"/>
              </a:xfr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0039" name="message_aggregate" descr="LaTeX: \mathbf m_i=\sum_{j\in\mathcal N(i)}\alpha_{ij}g_{ij}\mathbf v_{ij}"/>
              <p:cNvSpPr/>
              <p:nvPr/>
            </p:nvSpPr>
            <p:spPr>
              <a:xfrm>
                <a:off x="7645400" y="3708400"/>
                <a:ext cx="3975100" cy="571500"/>
              </a:xfrm>
            </p:spPr>
            <p:txBody>
              <a:bodyPr lIns="0" tIns="0" rIns="0" bIns="0" anchor="ctr"/>
              <a:lstStyle/>
              <a:p>
                <a:pPr algn="ctr">
                  <a:defRPr lang="en-US" sz="19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r>
                                <a:rPr>
                                  <a:latin typeface="Cambria Math" panose="02040503050406030204" pitchFamily="18" charset="0"/>
                                </a:rPr>
                                <m:t>𝐦</m:t>
                              </m:r>
                            </m:e>
                            <m:sub>
                              <m:r>
                                <a:rPr>
                                  <a:latin typeface="Cambria Math" panose="02040503050406030204" pitchFamily="18" charset="0"/>
                                </a:rPr>
                                <m:t>𝑖</m:t>
                              </m:r>
                            </m:sub>
                          </m:sSub>
                          <m:r>
                            <a:rPr>
                              <a:latin typeface="Cambria Math" panose="02040503050406030204" pitchFamily="18" charset="0"/>
                            </a:rPr>
                            <m:t>=</m:t>
                          </m:r>
                          <m:nary>
                            <m:naryPr>
                              <m:chr m:val="∑"/>
                              <m:ctrlPr>
                                <a:rPr i="1">
                                  <a:latin typeface="Cambria Math" panose="02040503050406030204" pitchFamily="18" charset="0"/>
                                </a:rPr>
                              </m:ctrlPr>
                            </m:naryPr>
                            <m:sub>
                              <m:r>
                                <a:rPr>
                                  <a:latin typeface="Cambria Math" panose="02040503050406030204" pitchFamily="18" charset="0"/>
                                </a:rPr>
                                <m:t>𝑗</m:t>
                              </m:r>
                              <m:r>
                                <a:rPr>
                                  <a:latin typeface="Cambria Math" panose="02040503050406030204" pitchFamily="18" charset="0"/>
                                </a:rPr>
                                <m:t>∈</m:t>
                              </m:r>
                              <m:r>
                                <a:rPr>
                                  <a:latin typeface="Cambria Math" panose="02040503050406030204" pitchFamily="18" charset="0"/>
                                </a:rPr>
                                <m:t>𝒩</m:t>
                              </m:r>
                              <m:r>
                                <a:rPr>
                                  <a:latin typeface="Cambria Math" panose="02040503050406030204" pitchFamily="18" charset="0"/>
                                </a:rPr>
                                <m:t>(</m:t>
                              </m:r>
                              <m:r>
                                <a:rPr>
                                  <a:latin typeface="Cambria Math" panose="02040503050406030204" pitchFamily="18" charset="0"/>
                                </a:rPr>
                                <m:t>𝑖</m:t>
                              </m:r>
                              <m:r>
                                <a:rPr>
                                  <a:latin typeface="Cambria Math" panose="02040503050406030204" pitchFamily="18" charset="0"/>
                                </a:rPr>
                                <m:t>)</m:t>
                              </m:r>
                            </m:sub>
                            <m:sup/>
                            <m:e>
                              <m:sSub>
                                <m:sSubPr>
                                  <m:ctrlPr>
                                    <a:rPr i="1">
                                      <a:latin typeface="Cambria Math" panose="02040503050406030204" pitchFamily="18" charset="0"/>
                                    </a:rPr>
                                  </m:ctrlPr>
                                </m:sSubPr>
                                <m:e>
                                  <m:r>
                                    <a:rPr>
                                      <a:latin typeface="Cambria Math" panose="02040503050406030204" pitchFamily="18" charset="0"/>
                                    </a:rPr>
                                    <m:t>𝛼</m:t>
                                  </m:r>
                                </m:e>
                                <m:sub>
                                  <m:r>
                                    <a:rPr>
                                      <a:latin typeface="Cambria Math" panose="02040503050406030204" pitchFamily="18" charset="0"/>
                                    </a:rPr>
                                    <m:t>𝑖𝑗</m:t>
                                  </m:r>
                                </m:sub>
                              </m:sSub>
                            </m:e>
                          </m:nary>
                          <m:sSub>
                            <m:sSubPr>
                              <m:ctrlPr>
                                <a:rPr i="1">
                                  <a:latin typeface="Cambria Math" panose="02040503050406030204" pitchFamily="18" charset="0"/>
                                </a:rPr>
                              </m:ctrlPr>
                            </m:sSubPr>
                            <m:e>
                              <m:r>
                                <a:rPr>
                                  <a:latin typeface="Cambria Math" panose="02040503050406030204" pitchFamily="18" charset="0"/>
                                </a:rPr>
                                <m:t>𝑔</m:t>
                              </m:r>
                            </m:e>
                            <m:sub>
                              <m:r>
                                <a:rPr>
                                  <a:latin typeface="Cambria Math" panose="02040503050406030204" pitchFamily="18" charset="0"/>
                                </a:rPr>
                                <m:t>𝑖𝑗</m:t>
                              </m:r>
                            </m:sub>
                          </m:sSub>
                          <m:sSub>
                            <m:sSubPr>
                              <m:ctrlPr>
                                <a:rPr i="1">
                                  <a:latin typeface="Cambria Math" panose="02040503050406030204" pitchFamily="18" charset="0"/>
                                </a:rPr>
                              </m:ctrlPr>
                            </m:sSubPr>
                            <m:e>
                              <m:r>
                                <a:rPr>
                                  <a:latin typeface="Cambria Math" panose="02040503050406030204" pitchFamily="18" charset="0"/>
                                </a:rPr>
                                <m:t>𝐯</m:t>
                              </m:r>
                            </m:e>
                            <m:sub>
                              <m:r>
                                <a:rPr>
                                  <a:latin typeface="Cambria Math" panose="02040503050406030204" pitchFamily="18" charset="0"/>
                                </a:rPr>
                                <m:t>𝑖𝑗</m:t>
                              </m:r>
                            </m:sub>
                          </m:sSub>
                        </m:oMath>
                      </m:oMathPara>
                    </a14:m>
                  </mc:Choice>
                  <mc:Fallback xmlns:asvg="http://schemas.microsoft.com/office/drawing/2016/SVG/main" xmlns:a16="http://schemas.microsoft.com/office/drawing/2014/main" xmlns="">
                    <a:r>
                      <a:rPr lang="en-US" sz="1900"/>
                      <a:t>mᵢ=∑j∈N₍ᵢ₎ αᵢjgᵢjvᵢj</a:t>
                    </a:r>
                  </mc:Fallback>
                </mc:AlternateContent>
                <a:endParaRPr/>
              </a:p>
            </p:txBody>
          </p:sp>
        </mc:Choice>
        <mc:Fallback xmlns:asvg="http://schemas.microsoft.com/office/drawing/2016/SVG/main" xmlns:a16="http://schemas.microsoft.com/office/drawing/2014/main" xmlns="">
          <p:sp>
            <p:nvSpPr>
              <p:cNvPr id="200039" name="message_aggregate" descr="LaTeX: \mathbf m_i=\sum_{j\in\mathcal N(i)}\alpha_{ij}g_{ij}\mathbf v_{ij}"/>
              <p:cNvSpPr>
                <a:spLocks noRot="1" noChangeAspect="1" noMove="1" noResize="1" noEditPoints="1" noAdjustHandles="1" noChangeArrowheads="1" noChangeShapeType="1" noTextEdit="1"/>
              </p:cNvSpPr>
              <p:nvPr/>
            </p:nvSpPr>
            <p:spPr>
              <a:xfrm>
                <a:off x="7645400" y="3708400"/>
                <a:ext cx="3975100" cy="571500"/>
              </a:xfr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0040" name="residual_update" descr="LaTeX: \tilde{\mathbf h}_i=\mathrm{LN}(\mathbf h_i+\beta\mathbf m_i)"/>
              <p:cNvSpPr/>
              <p:nvPr/>
            </p:nvSpPr>
            <p:spPr>
              <a:xfrm>
                <a:off x="7645400" y="4381500"/>
                <a:ext cx="3975100" cy="482600"/>
              </a:xfrm>
            </p:spPr>
            <p:txBody>
              <a:bodyPr lIns="0" tIns="0" rIns="0" bIns="0" anchor="ctr"/>
              <a:lstStyle/>
              <a:p>
                <a:pPr algn="ctr">
                  <a:defRPr lang="en-US" sz="17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i="1">
                                  <a:latin typeface="Cambria Math" panose="02040503050406030204" pitchFamily="18" charset="0"/>
                                </a:rPr>
                              </m:ctrlPr>
                            </m:sSubPr>
                            <m:e>
                              <m:acc>
                                <m:accPr>
                                  <m:chr m:val="̃"/>
                                  <m:ctrlPr>
                                    <a:rPr i="1">
                                      <a:latin typeface="Cambria Math" panose="02040503050406030204" pitchFamily="18" charset="0"/>
                                    </a:rPr>
                                  </m:ctrlPr>
                                </m:accPr>
                                <m:e>
                                  <m:r>
                                    <a:rPr>
                                      <a:latin typeface="Cambria Math" panose="02040503050406030204" pitchFamily="18" charset="0"/>
                                    </a:rPr>
                                    <m:t>𝐡</m:t>
                                  </m:r>
                                </m:e>
                              </m:acc>
                            </m:e>
                            <m:sub>
                              <m:r>
                                <a:rPr>
                                  <a:latin typeface="Cambria Math" panose="02040503050406030204" pitchFamily="18" charset="0"/>
                                </a:rPr>
                                <m:t>𝑖</m:t>
                              </m:r>
                            </m:sub>
                          </m:sSub>
                          <m:r>
                            <a:rPr>
                              <a:latin typeface="Cambria Math" panose="02040503050406030204" pitchFamily="18" charset="0"/>
                            </a:rPr>
                            <m:t>=</m:t>
                          </m:r>
                          <m:r>
                            <m:rPr>
                              <m:sty m:val="p"/>
                            </m:rPr>
                            <a:rPr>
                              <a:latin typeface="Cambria Math" panose="02040503050406030204" pitchFamily="18" charset="0"/>
                            </a:rPr>
                            <m:t>LN</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𝐡</m:t>
                              </m:r>
                            </m:e>
                            <m:sub>
                              <m:r>
                                <a:rPr>
                                  <a:latin typeface="Cambria Math" panose="02040503050406030204" pitchFamily="18" charset="0"/>
                                </a:rPr>
                                <m:t>𝑖</m:t>
                              </m:r>
                            </m:sub>
                          </m:sSub>
                          <m:r>
                            <a:rPr>
                              <a:latin typeface="Cambria Math" panose="02040503050406030204" pitchFamily="18" charset="0"/>
                            </a:rPr>
                            <m:t>+</m:t>
                          </m:r>
                          <m:r>
                            <a:rPr>
                              <a:latin typeface="Cambria Math" panose="02040503050406030204" pitchFamily="18" charset="0"/>
                            </a:rPr>
                            <m:t>𝛽</m:t>
                          </m:r>
                          <m:sSub>
                            <m:sSubPr>
                              <m:ctrlPr>
                                <a:rPr i="1">
                                  <a:latin typeface="Cambria Math" panose="02040503050406030204" pitchFamily="18" charset="0"/>
                                </a:rPr>
                              </m:ctrlPr>
                            </m:sSubPr>
                            <m:e>
                              <m:r>
                                <a:rPr>
                                  <a:latin typeface="Cambria Math" panose="02040503050406030204" pitchFamily="18" charset="0"/>
                                </a:rPr>
                                <m:t>𝐦</m:t>
                              </m:r>
                            </m:e>
                            <m:sub>
                              <m:r>
                                <a:rPr>
                                  <a:latin typeface="Cambria Math" panose="02040503050406030204" pitchFamily="18" charset="0"/>
                                </a:rPr>
                                <m:t>𝑖</m:t>
                              </m:r>
                            </m:sub>
                          </m:sSub>
                          <m:r>
                            <a:rPr>
                              <a:latin typeface="Cambria Math" panose="02040503050406030204" pitchFamily="18" charset="0"/>
                            </a:rPr>
                            <m:t>)</m:t>
                          </m:r>
                        </m:oMath>
                      </m:oMathPara>
                    </a14:m>
                  </mc:Choice>
                  <mc:Fallback xmlns:asvg="http://schemas.microsoft.com/office/drawing/2016/SVG/main" xmlns:a16="http://schemas.microsoft.com/office/drawing/2014/main" xmlns="">
                    <a:r>
                      <a:rPr lang="en-US" sz="1700"/>
                      <a:t>h̃ᵢ=LN(hᵢ+βmᵢ)</a:t>
                    </a:r>
                  </mc:Fallback>
                </mc:AlternateContent>
                <a:endParaRPr/>
              </a:p>
            </p:txBody>
          </p:sp>
        </mc:Choice>
        <mc:Fallback xmlns:asvg="http://schemas.microsoft.com/office/drawing/2016/SVG/main" xmlns:a16="http://schemas.microsoft.com/office/drawing/2014/main" xmlns="">
          <p:sp>
            <p:nvSpPr>
              <p:cNvPr id="200040" name="residual_update" descr="LaTeX: \tilde{\mathbf h}_i=\mathrm{LN}(\mathbf h_i+\beta\mathbf m_i)"/>
              <p:cNvSpPr>
                <a:spLocks noRot="1" noChangeAspect="1" noMove="1" noResize="1" noEditPoints="1" noAdjustHandles="1" noChangeArrowheads="1" noChangeShapeType="1" noTextEdit="1"/>
              </p:cNvSpPr>
              <p:nvPr/>
            </p:nvSpPr>
            <p:spPr>
              <a:xfrm>
                <a:off x="7645400" y="4381500"/>
                <a:ext cx="3975100" cy="482600"/>
              </a:xfrm>
              <a:blipFill>
                <a:blip r:embed="rId7"/>
                <a:stretch>
                  <a:fillRect/>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候选策略评价与组状态信用">
    <p:bg>
      <p:bgPr>
        <a:solidFill>
          <a:srgbClr val="FFFFFF"/>
        </a:solidFill>
        <a:effectLst/>
      </p:bgPr>
    </p:bg>
    <p:spTree>
      <p:nvGrpSpPr>
        <p:cNvPr id="1" name=""/>
        <p:cNvGrpSpPr/>
        <p:nvPr/>
      </p:nvGrpSpPr>
      <p:grpSpPr>
        <a:xfrm>
          <a:off x="0" y="0"/>
          <a:ext cx="0" cy="0"/>
          <a:chOff x="0" y="0"/>
          <a:chExt cx="0" cy="0"/>
        </a:xfrm>
      </p:grpSpPr>
      <p:pic>
        <p:nvPicPr>
          <p:cNvPr id="100158"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59"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实验设置与整体结果</a:t>
            </a:r>
          </a:p>
        </p:txBody>
      </p:sp>
      <p:cxnSp>
        <p:nvCxnSpPr>
          <p:cNvPr id="100160" name="header_rule"/>
          <p:cNvCxnSpPr/>
          <p:nvPr/>
        </p:nvCxnSpPr>
        <p:spPr>
          <a:xfrm>
            <a:off x="546100" y="711200"/>
            <a:ext cx="8318500" cy="0"/>
          </a:xfrm>
          <a:prstGeom prst="straightConnector1">
            <a:avLst/>
          </a:prstGeom>
          <a:ln w="6985">
            <a:solidFill>
              <a:srgbClr val="A0A0A0"/>
            </a:solidFill>
          </a:ln>
        </p:spPr>
      </p:cxnSp>
      <p:sp>
        <p:nvSpPr>
          <p:cNvPr id="300128" name="revision_text_300128"/>
          <p:cNvSpPr txBox="1"/>
          <p:nvPr/>
        </p:nvSpPr>
        <p:spPr>
          <a:xfrm>
            <a:off x="546100" y="1028700"/>
            <a:ext cx="11074400" cy="304800"/>
          </a:xfrm>
          <a:prstGeom prst="rect">
            <a:avLst/>
          </a:prstGeom>
          <a:noFill/>
          <a:ln>
            <a:noFill/>
          </a:ln>
        </p:spPr>
        <p:txBody>
          <a:bodyPr lIns="0" tIns="0" rIns="0" bIns="0" anchor="ctr">
            <a:noAutofit/>
          </a:bodyPr>
          <a:lstStyle/>
          <a:p>
            <a:pPr algn="l">
              <a:lnSpc>
                <a:spcPct val="115000"/>
              </a:lnSpc>
            </a:pPr>
            <a:r>
              <a:rPr lang="en-US" sz="1600" b="1">
                <a:solidFill>
                  <a:srgbClr val="000000"/>
                </a:solidFill>
                <a:latin typeface="Times New Roman"/>
                <a:ea typeface="宋体"/>
              </a:rPr>
              <a:t>四档SNR下的预测误差（m）</a:t>
            </a:r>
          </a:p>
        </p:txBody>
      </p:sp>
      <p:graphicFrame>
        <p:nvGraphicFramePr>
          <p:cNvPr id="300129" name="SNR_best_checkpoints"/>
          <p:cNvGraphicFramePr/>
          <p:nvPr/>
        </p:nvGraphicFramePr>
        <p:xfrm>
          <a:off x="546100" y="1435100"/>
          <a:ext cx="11074400" cy="1778000"/>
        </p:xfrm>
        <a:graphic>
          <a:graphicData uri="http://schemas.openxmlformats.org/drawingml/2006/table">
            <a:tbl>
              <a:tblPr firstRow="1" bandRow="1">
                <a:tableStyleId>{2D5ABB26-0587-4C30-8999-92F81FD0307C}</a:tableStyleId>
              </a:tblPr>
              <a:tblGrid>
                <a:gridCol w="1041400">
                  <a:extLst>
                    <a:ext uri="{9D8B030D-6E8A-4147-A177-3AD203B41FA5}">
                      <a16:colId xmlns:a16="http://schemas.microsoft.com/office/drawing/2014/main" val="20000"/>
                    </a:ext>
                  </a:extLst>
                </a:gridCol>
                <a:gridCol w="1803400">
                  <a:extLst>
                    <a:ext uri="{9D8B030D-6E8A-4147-A177-3AD203B41FA5}">
                      <a16:colId xmlns:a16="http://schemas.microsoft.com/office/drawing/2014/main" val="20001"/>
                    </a:ext>
                  </a:extLst>
                </a:gridCol>
                <a:gridCol w="1803400">
                  <a:extLst>
                    <a:ext uri="{9D8B030D-6E8A-4147-A177-3AD203B41FA5}">
                      <a16:colId xmlns:a16="http://schemas.microsoft.com/office/drawing/2014/main" val="20002"/>
                    </a:ext>
                  </a:extLst>
                </a:gridCol>
                <a:gridCol w="1346200">
                  <a:extLst>
                    <a:ext uri="{9D8B030D-6E8A-4147-A177-3AD203B41FA5}">
                      <a16:colId xmlns:a16="http://schemas.microsoft.com/office/drawing/2014/main" val="20003"/>
                    </a:ext>
                  </a:extLst>
                </a:gridCol>
                <a:gridCol w="1803400">
                  <a:extLst>
                    <a:ext uri="{9D8B030D-6E8A-4147-A177-3AD203B41FA5}">
                      <a16:colId xmlns:a16="http://schemas.microsoft.com/office/drawing/2014/main" val="20004"/>
                    </a:ext>
                  </a:extLst>
                </a:gridCol>
                <a:gridCol w="1803400">
                  <a:extLst>
                    <a:ext uri="{9D8B030D-6E8A-4147-A177-3AD203B41FA5}">
                      <a16:colId xmlns:a16="http://schemas.microsoft.com/office/drawing/2014/main" val="20005"/>
                    </a:ext>
                  </a:extLst>
                </a:gridCol>
                <a:gridCol w="1473200">
                  <a:extLst>
                    <a:ext uri="{9D8B030D-6E8A-4147-A177-3AD203B41FA5}">
                      <a16:colId xmlns:a16="http://schemas.microsoft.com/office/drawing/2014/main" val="20006"/>
                    </a:ext>
                  </a:extLst>
                </a:gridCol>
              </a:tblGrid>
              <a:tr h="355600">
                <a:tc>
                  <a:txBody>
                    <a:bodyPr/>
                    <a:lstStyle/>
                    <a:p>
                      <a:pPr algn="ctr"/>
                      <a:r>
                        <a:rPr lang="en-US" sz="1300" b="1">
                          <a:solidFill>
                            <a:srgbClr val="000000"/>
                          </a:solidFill>
                          <a:latin typeface="Times New Roman"/>
                          <a:ea typeface="宋体"/>
                        </a:rPr>
                        <a:t>SNR/dB</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2F2F2"/>
                    </a:solidFill>
                  </a:tcPr>
                </a:tc>
                <a:tc>
                  <a:txBody>
                    <a:bodyPr/>
                    <a:lstStyle/>
                    <a:p>
                      <a:pPr algn="ctr"/>
                      <a:r>
                        <a:rPr lang="en-US" sz="1300" b="1">
                          <a:solidFill>
                            <a:srgbClr val="000000"/>
                          </a:solidFill>
                          <a:latin typeface="Times New Roman"/>
                          <a:ea typeface="宋体"/>
                        </a:rPr>
                        <a:t>GNN ADE</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2F2F2"/>
                    </a:solidFill>
                  </a:tcPr>
                </a:tc>
                <a:tc>
                  <a:txBody>
                    <a:bodyPr/>
                    <a:lstStyle/>
                    <a:p>
                      <a:pPr algn="ctr"/>
                      <a:r>
                        <a:rPr lang="en-US" sz="1300" b="1">
                          <a:solidFill>
                            <a:srgbClr val="000000"/>
                          </a:solidFill>
                          <a:latin typeface="Times New Roman"/>
                          <a:ea typeface="宋体"/>
                        </a:rPr>
                        <a:t>QGNN ADE</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2F2F2"/>
                    </a:solidFill>
                  </a:tcPr>
                </a:tc>
                <a:tc>
                  <a:txBody>
                    <a:bodyPr/>
                    <a:lstStyle/>
                    <a:p>
                      <a:pPr algn="ctr"/>
                      <a:r>
                        <a:rPr lang="en-US" sz="1300" b="1">
                          <a:solidFill>
                            <a:srgbClr val="000000"/>
                          </a:solidFill>
                          <a:latin typeface="Times New Roman"/>
                          <a:ea typeface="宋体"/>
                        </a:rPr>
                        <a:t>ADE降低</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2F2F2"/>
                    </a:solidFill>
                  </a:tcPr>
                </a:tc>
                <a:tc>
                  <a:txBody>
                    <a:bodyPr/>
                    <a:lstStyle/>
                    <a:p>
                      <a:pPr algn="ctr"/>
                      <a:r>
                        <a:rPr lang="en-US" sz="1300" b="1">
                          <a:solidFill>
                            <a:srgbClr val="000000"/>
                          </a:solidFill>
                          <a:latin typeface="Times New Roman"/>
                          <a:ea typeface="宋体"/>
                        </a:rPr>
                        <a:t>GNN FDE</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2F2F2"/>
                    </a:solidFill>
                  </a:tcPr>
                </a:tc>
                <a:tc>
                  <a:txBody>
                    <a:bodyPr/>
                    <a:lstStyle/>
                    <a:p>
                      <a:pPr algn="ctr"/>
                      <a:r>
                        <a:rPr lang="en-US" sz="1300" b="1">
                          <a:solidFill>
                            <a:srgbClr val="000000"/>
                          </a:solidFill>
                          <a:latin typeface="Times New Roman"/>
                          <a:ea typeface="宋体"/>
                        </a:rPr>
                        <a:t>QGNN FDE</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2F2F2"/>
                    </a:solidFill>
                  </a:tcPr>
                </a:tc>
                <a:tc>
                  <a:txBody>
                    <a:bodyPr/>
                    <a:lstStyle/>
                    <a:p>
                      <a:pPr algn="ctr"/>
                      <a:r>
                        <a:rPr lang="en-US" sz="1300" b="1">
                          <a:solidFill>
                            <a:srgbClr val="000000"/>
                          </a:solidFill>
                          <a:latin typeface="Times New Roman"/>
                          <a:ea typeface="宋体"/>
                        </a:rPr>
                        <a:t>FDE降低</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2F2F2"/>
                    </a:solidFill>
                  </a:tcPr>
                </a:tc>
                <a:extLst>
                  <a:ext uri="{0D108BD9-81ED-4DB2-BD59-A6C34878D82A}">
                    <a16:rowId xmlns:a16="http://schemas.microsoft.com/office/drawing/2014/main" val="10000"/>
                  </a:ext>
                </a:extLst>
              </a:tr>
              <a:tr h="355600">
                <a:tc>
                  <a:txBody>
                    <a:bodyPr/>
                    <a:lstStyle/>
                    <a:p>
                      <a:pPr algn="ctr"/>
                      <a:r>
                        <a:rPr lang="en-US" sz="1300" b="0">
                          <a:solidFill>
                            <a:srgbClr val="000000"/>
                          </a:solidFill>
                          <a:latin typeface="Times New Roman"/>
                          <a:ea typeface="宋体"/>
                        </a:rPr>
                        <a:t>5</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0.5516</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0.5476</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0.73%</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1.1216</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1.0957</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2.31%</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extLst>
                  <a:ext uri="{0D108BD9-81ED-4DB2-BD59-A6C34878D82A}">
                    <a16:rowId xmlns:a16="http://schemas.microsoft.com/office/drawing/2014/main" val="10001"/>
                  </a:ext>
                </a:extLst>
              </a:tr>
              <a:tr h="355600">
                <a:tc>
                  <a:txBody>
                    <a:bodyPr/>
                    <a:lstStyle/>
                    <a:p>
                      <a:pPr algn="ctr"/>
                      <a:r>
                        <a:rPr lang="en-US" sz="1300" b="0">
                          <a:solidFill>
                            <a:srgbClr val="000000"/>
                          </a:solidFill>
                          <a:latin typeface="Times New Roman"/>
                          <a:ea typeface="宋体"/>
                        </a:rPr>
                        <a:t>10</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0.5517</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0.5475</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0.75%</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1.1218</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1.0956</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2.33%</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extLst>
                  <a:ext uri="{0D108BD9-81ED-4DB2-BD59-A6C34878D82A}">
                    <a16:rowId xmlns:a16="http://schemas.microsoft.com/office/drawing/2014/main" val="10002"/>
                  </a:ext>
                </a:extLst>
              </a:tr>
              <a:tr h="355600">
                <a:tc>
                  <a:txBody>
                    <a:bodyPr/>
                    <a:lstStyle/>
                    <a:p>
                      <a:pPr algn="ctr"/>
                      <a:r>
                        <a:rPr lang="en-US" sz="1300" b="0">
                          <a:solidFill>
                            <a:srgbClr val="000000"/>
                          </a:solidFill>
                          <a:latin typeface="Times New Roman"/>
                          <a:ea typeface="宋体"/>
                        </a:rPr>
                        <a:t>15</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0.5516</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0.5475</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0.74%</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1.1216</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1.0955</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2.32%</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extLst>
                  <a:ext uri="{0D108BD9-81ED-4DB2-BD59-A6C34878D82A}">
                    <a16:rowId xmlns:a16="http://schemas.microsoft.com/office/drawing/2014/main" val="10003"/>
                  </a:ext>
                </a:extLst>
              </a:tr>
              <a:tr h="355600">
                <a:tc>
                  <a:txBody>
                    <a:bodyPr/>
                    <a:lstStyle/>
                    <a:p>
                      <a:pPr algn="ctr"/>
                      <a:r>
                        <a:rPr lang="en-US" sz="1300" b="0">
                          <a:solidFill>
                            <a:srgbClr val="000000"/>
                          </a:solidFill>
                          <a:latin typeface="Times New Roman"/>
                          <a:ea typeface="宋体"/>
                        </a:rPr>
                        <a:t>20</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0.5516</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0.5475</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0.75%</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1.1216</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1.0954</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tc>
                  <a:txBody>
                    <a:bodyPr/>
                    <a:lstStyle/>
                    <a:p>
                      <a:pPr algn="ctr"/>
                      <a:r>
                        <a:rPr lang="en-US" sz="1300" b="0">
                          <a:solidFill>
                            <a:srgbClr val="000000"/>
                          </a:solidFill>
                          <a:latin typeface="Times New Roman"/>
                          <a:ea typeface="宋体"/>
                        </a:rPr>
                        <a:t>2.33%</a:t>
                      </a:r>
                    </a:p>
                  </a:txBody>
                  <a:tcPr anchor="ctr">
                    <a:lnL w="7620">
                      <a:solidFill>
                        <a:srgbClr val="999999"/>
                      </a:solidFill>
                      <a:prstDash val="solid"/>
                    </a:lnL>
                    <a:lnR w="7620">
                      <a:solidFill>
                        <a:srgbClr val="999999"/>
                      </a:solidFill>
                      <a:prstDash val="solid"/>
                    </a:lnR>
                    <a:lnT w="7620">
                      <a:solidFill>
                        <a:srgbClr val="999999"/>
                      </a:solidFill>
                      <a:prstDash val="solid"/>
                    </a:lnT>
                    <a:lnB w="7620">
                      <a:solidFill>
                        <a:srgbClr val="99999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300130" name="revision_text_300130"/>
          <p:cNvSpPr txBox="1"/>
          <p:nvPr/>
        </p:nvSpPr>
        <p:spPr>
          <a:xfrm>
            <a:off x="546100" y="3327400"/>
            <a:ext cx="11074400" cy="254000"/>
          </a:xfrm>
          <a:prstGeom prst="rect">
            <a:avLst/>
          </a:prstGeom>
          <a:noFill/>
          <a:ln>
            <a:noFill/>
          </a:ln>
        </p:spPr>
        <p:txBody>
          <a:bodyPr lIns="0" tIns="0" rIns="0" bIns="0" anchor="ctr">
            <a:noAutofit/>
          </a:bodyPr>
          <a:lstStyle/>
          <a:p>
            <a:pPr algn="l">
              <a:lnSpc>
                <a:spcPct val="115000"/>
              </a:lnSpc>
            </a:pPr>
            <a:r>
              <a:rPr lang="en-US" sz="1200" b="0">
                <a:solidFill>
                  <a:srgbClr val="000000"/>
                </a:solidFill>
                <a:latin typeface="Times New Roman"/>
                <a:ea typeface="宋体"/>
              </a:rPr>
              <a:t>同一检查点评估全部4档SNR：GNN第97轮，QGNN第54轮。</a:t>
            </a:r>
          </a:p>
        </p:txBody>
      </p:sp>
      <p:cxnSp>
        <p:nvCxnSpPr>
          <p:cNvPr id="300131" name="template_rule_300131"/>
          <p:cNvCxnSpPr/>
          <p:nvPr/>
        </p:nvCxnSpPr>
        <p:spPr>
          <a:xfrm>
            <a:off x="546100" y="3683000"/>
            <a:ext cx="11074400" cy="0"/>
          </a:xfrm>
          <a:prstGeom prst="straightConnector1">
            <a:avLst/>
          </a:prstGeom>
          <a:ln w="9525">
            <a:solidFill>
              <a:srgbClr val="B7B7B7"/>
            </a:solidFill>
            <a:headEnd type="none"/>
            <a:tailEnd type="none"/>
          </a:ln>
        </p:spPr>
      </p:cxnSp>
      <p:sp>
        <p:nvSpPr>
          <p:cNvPr id="300132" name="revision_text_300132"/>
          <p:cNvSpPr txBox="1"/>
          <p:nvPr/>
        </p:nvSpPr>
        <p:spPr>
          <a:xfrm>
            <a:off x="546100" y="3848100"/>
            <a:ext cx="6477000" cy="317500"/>
          </a:xfrm>
          <a:prstGeom prst="rect">
            <a:avLst/>
          </a:prstGeom>
          <a:noFill/>
          <a:ln>
            <a:noFill/>
          </a:ln>
        </p:spPr>
        <p:txBody>
          <a:bodyPr lIns="0" tIns="0" rIns="0" bIns="0" anchor="ctr">
            <a:noAutofit/>
          </a:bodyPr>
          <a:lstStyle/>
          <a:p>
            <a:pPr algn="l">
              <a:lnSpc>
                <a:spcPct val="115000"/>
              </a:lnSpc>
            </a:pPr>
            <a:r>
              <a:rPr lang="en-US" sz="1600" b="1">
                <a:solidFill>
                  <a:srgbClr val="000000"/>
                </a:solidFill>
                <a:latin typeface="Times New Roman"/>
                <a:ea typeface="宋体"/>
              </a:rPr>
              <a:t>实验设置</a:t>
            </a:r>
          </a:p>
        </p:txBody>
      </p:sp>
      <p:sp>
        <p:nvSpPr>
          <p:cNvPr id="300133" name="revision_text_300133"/>
          <p:cNvSpPr txBox="1"/>
          <p:nvPr/>
        </p:nvSpPr>
        <p:spPr>
          <a:xfrm>
            <a:off x="546100" y="4292600"/>
            <a:ext cx="6540500" cy="1485900"/>
          </a:xfrm>
          <a:prstGeom prst="rect">
            <a:avLst/>
          </a:prstGeom>
          <a:noFill/>
          <a:ln>
            <a:noFill/>
          </a:ln>
        </p:spPr>
        <p:txBody>
          <a:bodyPr lIns="0" tIns="0" rIns="0" bIns="0" anchor="ctr">
            <a:noAutofit/>
          </a:bodyPr>
          <a:lstStyle/>
          <a:p>
            <a:pPr algn="l">
              <a:lnSpc>
                <a:spcPct val="115000"/>
              </a:lnSpc>
            </a:pPr>
            <a:r>
              <a:rPr lang="en-US" sz="1300" b="0">
                <a:solidFill>
                  <a:srgbClr val="000000"/>
                </a:solidFill>
                <a:latin typeface="Times New Roman"/>
                <a:ea typeface="宋体"/>
              </a:rPr>
              <a:t>数据：NGSIM Lankershim，训练5549、验证400个起点。</a:t>
            </a:r>
          </a:p>
          <a:p>
            <a:pPr algn="l">
              <a:lnSpc>
                <a:spcPct val="115000"/>
              </a:lnSpc>
            </a:pPr>
            <a:r>
              <a:rPr lang="en-US" sz="1300" b="0">
                <a:solidFill>
                  <a:srgbClr val="000000"/>
                </a:solidFill>
                <a:latin typeface="Times New Roman"/>
                <a:ea typeface="宋体"/>
              </a:rPr>
              <a:t>任务：历史20帧预测未来20帧，间隔0.1s，最多8辆车。</a:t>
            </a:r>
          </a:p>
          <a:p>
            <a:pPr algn="l">
              <a:lnSpc>
                <a:spcPct val="115000"/>
              </a:lnSpc>
            </a:pPr>
            <a:r>
              <a:rPr lang="en-US" sz="1300" b="0">
                <a:solidFill>
                  <a:srgbClr val="000000"/>
                </a:solidFill>
                <a:latin typeface="Times New Roman"/>
                <a:ea typeface="宋体"/>
              </a:rPr>
              <a:t>训练：100轮，seed2026，全局batch size为16。</a:t>
            </a:r>
          </a:p>
          <a:p>
            <a:pPr algn="l">
              <a:lnSpc>
                <a:spcPct val="115000"/>
              </a:lnSpc>
            </a:pPr>
            <a:r>
              <a:rPr lang="en-US" sz="1300" b="0">
                <a:solidFill>
                  <a:srgbClr val="000000"/>
                </a:solidFill>
                <a:latin typeface="Times New Roman"/>
                <a:ea typeface="宋体"/>
              </a:rPr>
              <a:t>噪声：每轮每场景使用一档SNR，四档平衡轮换。</a:t>
            </a:r>
          </a:p>
          <a:p>
            <a:pPr algn="l">
              <a:lnSpc>
                <a:spcPct val="115000"/>
              </a:lnSpc>
            </a:pPr>
            <a:r>
              <a:rPr lang="en-US" sz="1300" b="0">
                <a:solidFill>
                  <a:srgbClr val="000000"/>
                </a:solidFill>
                <a:latin typeface="Times New Roman"/>
                <a:ea typeface="宋体"/>
              </a:rPr>
              <a:t>比较：两层GNN与两层QGNN，共享GPT-2＋LoRA。</a:t>
            </a:r>
          </a:p>
        </p:txBody>
      </p:sp>
      <p:sp>
        <p:nvSpPr>
          <p:cNvPr id="300134" name="revision_text_300134"/>
          <p:cNvSpPr txBox="1"/>
          <p:nvPr/>
        </p:nvSpPr>
        <p:spPr>
          <a:xfrm>
            <a:off x="546100" y="5892800"/>
            <a:ext cx="3517900" cy="279400"/>
          </a:xfrm>
          <a:prstGeom prst="rect">
            <a:avLst/>
          </a:prstGeom>
          <a:noFill/>
          <a:ln>
            <a:noFill/>
          </a:ln>
        </p:spPr>
        <p:txBody>
          <a:bodyPr lIns="0" tIns="0" rIns="0" bIns="0" anchor="ctr">
            <a:noAutofit/>
          </a:bodyPr>
          <a:lstStyle/>
          <a:p>
            <a:pPr algn="l">
              <a:lnSpc>
                <a:spcPct val="115000"/>
              </a:lnSpc>
            </a:pPr>
            <a:r>
              <a:rPr lang="en-US" sz="1200" b="0">
                <a:solidFill>
                  <a:srgbClr val="000000"/>
                </a:solidFill>
                <a:latin typeface="Times New Roman"/>
                <a:ea typeface="宋体"/>
              </a:rPr>
              <a:t>按验证集四档平均评分选取检查点：</a:t>
            </a:r>
          </a:p>
        </p:txBody>
      </p:sp>
      <mc:AlternateContent xmlns:mc="http://schemas.openxmlformats.org/markup-compatibility/2006">
        <mc:Choice xmlns:a14="http://schemas.microsoft.com/office/drawing/2010/main" Requires="a14">
          <p:sp>
            <p:nvSpPr>
              <p:cNvPr id="300135" name="Equation 7"/>
              <p:cNvSpPr/>
              <p:nvPr/>
            </p:nvSpPr>
            <p:spPr>
              <a:xfrm>
                <a:off x="4051300" y="5842000"/>
                <a:ext cx="3035300" cy="381000"/>
              </a:xfrm>
            </p:spPr>
            <p:txBody>
              <a:bodyPr lIns="0" tIns="0" rIns="0" bIns="0" anchor="ctr"/>
              <a:lstStyle/>
              <a:p>
                <a:pPr algn="ctr">
                  <a:defRPr sz="130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r>
                            <a:rPr>
                              <a:latin typeface="Cambria Math" panose="02040503050406030204" pitchFamily="18" charset="0"/>
                            </a:rPr>
                            <m:t>𝐽</m:t>
                          </m:r>
                          <m:r>
                            <a:rPr>
                              <a:latin typeface="Cambria Math" panose="02040503050406030204" pitchFamily="18" charset="0"/>
                            </a:rPr>
                            <m:t>=</m:t>
                          </m:r>
                          <m:r>
                            <m:rPr>
                              <m:sty m:val="p"/>
                            </m:rPr>
                            <a:rPr>
                              <a:latin typeface="Cambria Math" panose="02040503050406030204" pitchFamily="18" charset="0"/>
                            </a:rPr>
                            <m:t>ADE</m:t>
                          </m:r>
                          <m:r>
                            <a:rPr>
                              <a:latin typeface="Cambria Math" panose="02040503050406030204" pitchFamily="18" charset="0"/>
                            </a:rPr>
                            <m:t>+0.5</m:t>
                          </m:r>
                          <m:r>
                            <m:rPr>
                              <m:sty m:val="p"/>
                            </m:rPr>
                            <a:rPr>
                              <a:latin typeface="Cambria Math" panose="02040503050406030204" pitchFamily="18" charset="0"/>
                            </a:rPr>
                            <m:t>FDE</m:t>
                          </m:r>
                        </m:oMath>
                      </m:oMathPara>
                    </a14:m>
                  </mc:Choice>
                  <mc:Fallback xmlns:a16="http://schemas.microsoft.com/office/drawing/2014/main" xmlns="">
                    <a:r>
                      <a:rPr lang="en-US" sz="1300"/>
                      <a:t>J=ADE+0.5FDE</a:t>
                    </a:r>
                  </mc:Fallback>
                </mc:AlternateContent>
                <a:endParaRPr/>
              </a:p>
            </p:txBody>
          </p:sp>
        </mc:Choice>
        <mc:Fallback>
          <p:sp>
            <p:nvSpPr>
              <p:cNvPr id="300135" name="Equation 7"/>
              <p:cNvSpPr>
                <a:spLocks noRot="1" noChangeAspect="1" noMove="1" noResize="1" noEditPoints="1" noAdjustHandles="1" noChangeArrowheads="1" noChangeShapeType="1" noTextEdit="1"/>
              </p:cNvSpPr>
              <p:nvPr/>
            </p:nvSpPr>
            <p:spPr>
              <a:xfrm>
                <a:off x="4051300" y="5842000"/>
                <a:ext cx="3035300" cy="381000"/>
              </a:xfrm>
              <a:blipFill>
                <a:blip r:embed="rId4"/>
                <a:stretch>
                  <a:fillRect/>
                </a:stretch>
              </a:blipFill>
            </p:spPr>
            <p:txBody>
              <a:bodyPr/>
              <a:lstStyle/>
              <a:p>
                <a:r>
                  <a:rPr lang="zh-CN" altLang="en-US">
                    <a:noFill/>
                  </a:rPr>
                  <a:t> </a:t>
                </a:r>
              </a:p>
            </p:txBody>
          </p:sp>
        </mc:Fallback>
      </mc:AlternateContent>
      <p:cxnSp>
        <p:nvCxnSpPr>
          <p:cNvPr id="300136" name="template_divider_300136"/>
          <p:cNvCxnSpPr/>
          <p:nvPr/>
        </p:nvCxnSpPr>
        <p:spPr>
          <a:xfrm>
            <a:off x="7340600" y="3848100"/>
            <a:ext cx="0" cy="2324100"/>
          </a:xfrm>
          <a:prstGeom prst="straightConnector1">
            <a:avLst/>
          </a:prstGeom>
          <a:ln w="7620">
            <a:solidFill>
              <a:srgbClr val="A6A6A6"/>
            </a:solidFill>
            <a:headEnd type="none"/>
            <a:tailEnd type="none"/>
          </a:ln>
        </p:spPr>
      </p:cxnSp>
      <p:sp>
        <p:nvSpPr>
          <p:cNvPr id="300137" name="revision_text_300137"/>
          <p:cNvSpPr txBox="1"/>
          <p:nvPr/>
        </p:nvSpPr>
        <p:spPr>
          <a:xfrm>
            <a:off x="7645400" y="3848100"/>
            <a:ext cx="3975100" cy="317500"/>
          </a:xfrm>
          <a:prstGeom prst="rect">
            <a:avLst/>
          </a:prstGeom>
          <a:noFill/>
          <a:ln>
            <a:noFill/>
          </a:ln>
        </p:spPr>
        <p:txBody>
          <a:bodyPr lIns="0" tIns="0" rIns="0" bIns="0" anchor="ctr">
            <a:noAutofit/>
          </a:bodyPr>
          <a:lstStyle/>
          <a:p>
            <a:pPr algn="l">
              <a:lnSpc>
                <a:spcPct val="115000"/>
              </a:lnSpc>
            </a:pPr>
            <a:r>
              <a:rPr lang="en-US" sz="1600" b="1">
                <a:solidFill>
                  <a:srgbClr val="000000"/>
                </a:solidFill>
                <a:latin typeface="Times New Roman"/>
                <a:ea typeface="宋体"/>
              </a:rPr>
              <a:t>优化与平均改善</a:t>
            </a:r>
          </a:p>
        </p:txBody>
      </p:sp>
      <p:sp>
        <p:nvSpPr>
          <p:cNvPr id="300138" name="revision_text_300138"/>
          <p:cNvSpPr txBox="1"/>
          <p:nvPr/>
        </p:nvSpPr>
        <p:spPr>
          <a:xfrm>
            <a:off x="7645400" y="4267200"/>
            <a:ext cx="3975100" cy="266700"/>
          </a:xfrm>
          <a:prstGeom prst="rect">
            <a:avLst/>
          </a:prstGeom>
          <a:noFill/>
          <a:ln>
            <a:noFill/>
          </a:ln>
        </p:spPr>
        <p:txBody>
          <a:bodyPr lIns="0" tIns="0" rIns="0" bIns="0" anchor="ctr">
            <a:noAutofit/>
          </a:bodyPr>
          <a:lstStyle/>
          <a:p>
            <a:pPr algn="l">
              <a:lnSpc>
                <a:spcPct val="115000"/>
              </a:lnSpc>
            </a:pPr>
            <a:r>
              <a:rPr lang="en-US" sz="1300" b="0">
                <a:solidFill>
                  <a:srgbClr val="000000"/>
                </a:solidFill>
                <a:latin typeface="Times New Roman"/>
                <a:ea typeface="宋体"/>
              </a:rPr>
              <a:t>AdamW学习率</a:t>
            </a:r>
          </a:p>
        </p:txBody>
      </p:sp>
      <mc:AlternateContent xmlns:mc="http://schemas.openxmlformats.org/markup-compatibility/2006">
        <mc:Choice xmlns:a14="http://schemas.microsoft.com/office/drawing/2010/main" Requires="a14">
          <p:sp>
            <p:nvSpPr>
              <p:cNvPr id="300139" name="Equation 10"/>
              <p:cNvSpPr/>
              <p:nvPr/>
            </p:nvSpPr>
            <p:spPr>
              <a:xfrm>
                <a:off x="7493000" y="4584700"/>
                <a:ext cx="4254500" cy="355600"/>
              </a:xfrm>
            </p:spPr>
            <p:txBody>
              <a:bodyPr lIns="0" tIns="0" rIns="0" bIns="0" anchor="ctr"/>
              <a:lstStyle/>
              <a:p>
                <a:pPr algn="ctr">
                  <a:defRPr sz="12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𝜂</m:t>
                              </m:r>
                            </m:e>
                            <m:sub>
                              <m:r>
                                <m:rPr>
                                  <m:sty m:val="p"/>
                                </m:rPr>
                                <a:rPr>
                                  <a:latin typeface="Cambria Math" panose="02040503050406030204" pitchFamily="18" charset="0"/>
                                </a:rPr>
                                <m:t>graph</m:t>
                              </m:r>
                            </m:sub>
                          </m:sSub>
                          <m:r>
                            <a:rPr>
                              <a:latin typeface="Cambria Math" panose="02040503050406030204" pitchFamily="18" charset="0"/>
                            </a:rPr>
                            <m:t>=3×</m:t>
                          </m:r>
                          <m:sSup>
                            <m:sSupPr>
                              <m:ctrlPr>
                                <a:rPr i="1">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−4</m:t>
                              </m:r>
                            </m:sup>
                          </m:sSup>
                          <m:r>
                            <a:rPr>
                              <a:latin typeface="Cambria Math" panose="02040503050406030204" pitchFamily="18" charset="0"/>
                            </a:rPr>
                            <m:t>, </m:t>
                          </m:r>
                          <m:sSub>
                            <m:sSubPr>
                              <m:ctrlPr>
                                <a:rPr i="1">
                                  <a:latin typeface="Cambria Math" panose="02040503050406030204" pitchFamily="18" charset="0"/>
                                </a:rPr>
                              </m:ctrlPr>
                            </m:sSubPr>
                            <m:e>
                              <m:r>
                                <a:rPr>
                                  <a:latin typeface="Cambria Math" panose="02040503050406030204" pitchFamily="18" charset="0"/>
                                </a:rPr>
                                <m:t>𝜂</m:t>
                              </m:r>
                            </m:e>
                            <m:sub>
                              <m:r>
                                <m:rPr>
                                  <m:sty m:val="p"/>
                                </m:rPr>
                                <a:rPr>
                                  <a:latin typeface="Cambria Math" panose="02040503050406030204" pitchFamily="18" charset="0"/>
                                </a:rPr>
                                <m:t>LoRA</m:t>
                              </m:r>
                            </m:sub>
                          </m:sSub>
                          <m:r>
                            <a:rPr>
                              <a:latin typeface="Cambria Math" panose="02040503050406030204" pitchFamily="18" charset="0"/>
                            </a:rPr>
                            <m:t>=3×</m:t>
                          </m:r>
                          <m:sSup>
                            <m:sSupPr>
                              <m:ctrlPr>
                                <a:rPr i="1">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−5</m:t>
                              </m:r>
                            </m:sup>
                          </m:sSup>
                        </m:oMath>
                      </m:oMathPara>
                    </a14:m>
                  </mc:Choice>
                  <mc:Fallback xmlns:a16="http://schemas.microsoft.com/office/drawing/2014/main" xmlns="">
                    <a:r>
                      <a:rPr lang="en-US" sz="1250"/>
                      <a:t>ηgᵣₐph=3×10⁻⁴, ηLₒRA=3×10⁻⁵</a:t>
                    </a:r>
                  </mc:Fallback>
                </mc:AlternateContent>
                <a:endParaRPr/>
              </a:p>
            </p:txBody>
          </p:sp>
        </mc:Choice>
        <mc:Fallback>
          <p:sp>
            <p:nvSpPr>
              <p:cNvPr id="300139" name="Equation 10"/>
              <p:cNvSpPr>
                <a:spLocks noRot="1" noChangeAspect="1" noMove="1" noResize="1" noEditPoints="1" noAdjustHandles="1" noChangeArrowheads="1" noChangeShapeType="1" noTextEdit="1"/>
              </p:cNvSpPr>
              <p:nvPr/>
            </p:nvSpPr>
            <p:spPr>
              <a:xfrm>
                <a:off x="7493000" y="4584700"/>
                <a:ext cx="4254500" cy="355600"/>
              </a:xfrm>
              <a:blipFill>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0140" name="Equation 11"/>
              <p:cNvSpPr/>
              <p:nvPr/>
            </p:nvSpPr>
            <p:spPr>
              <a:xfrm>
                <a:off x="7645400" y="4965700"/>
                <a:ext cx="3975100" cy="342900"/>
              </a:xfrm>
            </p:spPr>
            <p:txBody>
              <a:bodyPr lIns="0" tIns="0" rIns="0" bIns="0" anchor="ctr"/>
              <a:lstStyle/>
              <a:p>
                <a:pPr algn="ctr">
                  <a:defRPr sz="1250">
                    <a:latin typeface="Cambria Math"/>
                    <a:ea typeface="Cambria Math"/>
                    <a:cs typeface="Cambria Math"/>
                  </a:defRPr>
                </a:pPr>
                <mc:AlternateContent>
                  <mc:Choice Requires="a14">
                    <a14:m>
                      <m:oMathPara xmlns:m="http://schemas.openxmlformats.org/officeDocument/2006/math">
                        <m:oMathParaPr>
                          <m:jc m:val="centerGroup"/>
                        </m:oMathParaPr>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𝜂</m:t>
                              </m:r>
                            </m:e>
                            <m:sub>
                              <m:r>
                                <m:rPr>
                                  <m:sty m:val="p"/>
                                </m:rPr>
                                <a:rPr>
                                  <a:latin typeface="Cambria Math" panose="02040503050406030204" pitchFamily="18" charset="0"/>
                                </a:rPr>
                                <m:t>temporal</m:t>
                              </m:r>
                              <m:r>
                                <a:rPr>
                                  <a:latin typeface="Cambria Math" panose="02040503050406030204" pitchFamily="18" charset="0"/>
                                </a:rPr>
                                <m:t> </m:t>
                              </m:r>
                              <m:r>
                                <m:rPr>
                                  <m:sty m:val="p"/>
                                </m:rPr>
                                <a:rPr>
                                  <a:latin typeface="Cambria Math" panose="02040503050406030204" pitchFamily="18" charset="0"/>
                                </a:rPr>
                                <m:t>other</m:t>
                              </m:r>
                            </m:sub>
                          </m:sSub>
                          <m:sSup>
                            <m:sSupPr>
                              <m:ctrlPr>
                                <a:rPr i="1">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−4</m:t>
                              </m:r>
                            </m:sup>
                          </m:sSup>
                        </m:oMath>
                      </m:oMathPara>
                    </a14:m>
                  </mc:Choice>
                  <mc:Fallback xmlns:a16="http://schemas.microsoft.com/office/drawing/2014/main" xmlns="">
                    <a:r>
                      <a:rPr lang="en-US" sz="1250"/>
                      <a:t>ηtₑmpₒᵣₐl ₒthₑᵣ=10⁻⁴</a:t>
                    </a:r>
                  </mc:Fallback>
                </mc:AlternateContent>
                <a:endParaRPr/>
              </a:p>
            </p:txBody>
          </p:sp>
        </mc:Choice>
        <mc:Fallback>
          <p:sp>
            <p:nvSpPr>
              <p:cNvPr id="300140" name="Equation 11"/>
              <p:cNvSpPr>
                <a:spLocks noRot="1" noChangeAspect="1" noMove="1" noResize="1" noEditPoints="1" noAdjustHandles="1" noChangeArrowheads="1" noChangeShapeType="1" noTextEdit="1"/>
              </p:cNvSpPr>
              <p:nvPr/>
            </p:nvSpPr>
            <p:spPr>
              <a:xfrm>
                <a:off x="7645400" y="4965700"/>
                <a:ext cx="3975100" cy="342900"/>
              </a:xfrm>
              <a:blipFill>
                <a:blip r:embed="rId6"/>
                <a:stretch>
                  <a:fillRect/>
                </a:stretch>
              </a:blipFill>
            </p:spPr>
            <p:txBody>
              <a:bodyPr/>
              <a:lstStyle/>
              <a:p>
                <a:r>
                  <a:rPr lang="zh-CN" altLang="en-US">
                    <a:noFill/>
                  </a:rPr>
                  <a:t> </a:t>
                </a:r>
              </a:p>
            </p:txBody>
          </p:sp>
        </mc:Fallback>
      </mc:AlternateContent>
      <p:sp>
        <p:nvSpPr>
          <p:cNvPr id="300141" name="revision_text_300141"/>
          <p:cNvSpPr txBox="1"/>
          <p:nvPr/>
        </p:nvSpPr>
        <p:spPr>
          <a:xfrm>
            <a:off x="7645400" y="5397500"/>
            <a:ext cx="3975100" cy="342900"/>
          </a:xfrm>
          <a:prstGeom prst="rect">
            <a:avLst/>
          </a:prstGeom>
          <a:noFill/>
          <a:ln>
            <a:noFill/>
          </a:ln>
        </p:spPr>
        <p:txBody>
          <a:bodyPr lIns="0" tIns="0" rIns="0" bIns="0" anchor="ctr">
            <a:noAutofit/>
          </a:bodyPr>
          <a:lstStyle/>
          <a:p>
            <a:pPr algn="l">
              <a:lnSpc>
                <a:spcPct val="115000"/>
              </a:lnSpc>
            </a:pPr>
            <a:r>
              <a:rPr lang="en-US" sz="1900" b="0">
                <a:solidFill>
                  <a:srgbClr val="000000"/>
                </a:solidFill>
                <a:latin typeface="Times New Roman"/>
                <a:ea typeface="宋体"/>
              </a:rPr>
              <a:t>ADE 降低 0.742%</a:t>
            </a:r>
          </a:p>
        </p:txBody>
      </p:sp>
      <p:sp>
        <p:nvSpPr>
          <p:cNvPr id="300142" name="revision_text_300142"/>
          <p:cNvSpPr txBox="1"/>
          <p:nvPr/>
        </p:nvSpPr>
        <p:spPr>
          <a:xfrm>
            <a:off x="7645400" y="5854700"/>
            <a:ext cx="3975100" cy="342900"/>
          </a:xfrm>
          <a:prstGeom prst="rect">
            <a:avLst/>
          </a:prstGeom>
          <a:noFill/>
          <a:ln>
            <a:noFill/>
          </a:ln>
        </p:spPr>
        <p:txBody>
          <a:bodyPr lIns="0" tIns="0" rIns="0" bIns="0" anchor="ctr">
            <a:noAutofit/>
          </a:bodyPr>
          <a:lstStyle/>
          <a:p>
            <a:pPr algn="l">
              <a:lnSpc>
                <a:spcPct val="115000"/>
              </a:lnSpc>
            </a:pPr>
            <a:r>
              <a:rPr lang="en-US" sz="1900" b="0">
                <a:solidFill>
                  <a:srgbClr val="000000"/>
                </a:solidFill>
                <a:latin typeface="Times New Roman"/>
                <a:ea typeface="宋体"/>
              </a:rPr>
              <a:t>FDE 降低 2.323%</a:t>
            </a:r>
          </a:p>
        </p:txBody>
      </p:sp>
      <p:cxnSp>
        <p:nvCxnSpPr>
          <p:cNvPr id="300143" name="template_rule_300143"/>
          <p:cNvCxnSpPr/>
          <p:nvPr/>
        </p:nvCxnSpPr>
        <p:spPr>
          <a:xfrm>
            <a:off x="546100" y="6311900"/>
            <a:ext cx="11074400" cy="0"/>
          </a:xfrm>
          <a:prstGeom prst="straightConnector1">
            <a:avLst/>
          </a:prstGeom>
          <a:ln w="9525">
            <a:solidFill>
              <a:srgbClr val="B7B7B7"/>
            </a:solidFill>
            <a:headEnd type="none"/>
            <a:tailEnd type="none"/>
          </a:ln>
        </p:spPr>
      </p:cxnSp>
      <p:sp>
        <p:nvSpPr>
          <p:cNvPr id="300144" name="revision_text_300144"/>
          <p:cNvSpPr txBox="1"/>
          <p:nvPr/>
        </p:nvSpPr>
        <p:spPr>
          <a:xfrm>
            <a:off x="546100" y="6464300"/>
            <a:ext cx="11074400" cy="292100"/>
          </a:xfrm>
          <a:prstGeom prst="rect">
            <a:avLst/>
          </a:prstGeom>
          <a:noFill/>
          <a:ln>
            <a:noFill/>
          </a:ln>
        </p:spPr>
        <p:txBody>
          <a:bodyPr lIns="0" tIns="0" rIns="0" bIns="0" anchor="ctr">
            <a:noAutofit/>
          </a:bodyPr>
          <a:lstStyle/>
          <a:p>
            <a:pPr algn="l">
              <a:lnSpc>
                <a:spcPct val="115000"/>
              </a:lnSpc>
            </a:pPr>
            <a:r>
              <a:rPr lang="en-US" sz="1200" b="0">
                <a:solidFill>
                  <a:srgbClr val="000000"/>
                </a:solidFill>
                <a:latin typeface="Times New Roman"/>
                <a:ea typeface="宋体"/>
              </a:rPr>
              <a:t>训练记录：QGNN从头100轮，GNN为40＋60轮续训，前期物理批量不同。</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量子旋转与概率幅更新">
    <p:bg>
      <p:bgPr>
        <a:solidFill>
          <a:srgbClr val="FFFFFF"/>
        </a:solidFill>
        <a:effectLst/>
      </p:bgPr>
    </p:bg>
    <p:spTree>
      <p:nvGrpSpPr>
        <p:cNvPr id="1" name=""/>
        <p:cNvGrpSpPr/>
        <p:nvPr/>
      </p:nvGrpSpPr>
      <p:grpSpPr>
        <a:xfrm>
          <a:off x="0" y="0"/>
          <a:ext cx="0" cy="0"/>
          <a:chOff x="0" y="0"/>
          <a:chExt cx="0" cy="0"/>
        </a:xfrm>
      </p:grpSpPr>
      <p:pic>
        <p:nvPicPr>
          <p:cNvPr id="100180" name="school_logo" descr="南京邮电大学校标"/>
          <p:cNvPicPr>
            <a:picLocks noChangeAspect="1"/>
          </p:cNvPicPr>
          <p:nvPr/>
        </p:nvPicPr>
        <p:blipFill>
          <a:blip r:embed="rId3"/>
          <a:stretch>
            <a:fillRect/>
          </a:stretch>
        </p:blipFill>
        <p:spPr>
          <a:xfrm>
            <a:off x="9334500" y="101117"/>
            <a:ext cx="2667000" cy="674078"/>
          </a:xfrm>
          <a:prstGeom prst="rect">
            <a:avLst/>
          </a:prstGeom>
        </p:spPr>
      </p:pic>
      <p:sp>
        <p:nvSpPr>
          <p:cNvPr id="100181" name="slide_title"/>
          <p:cNvSpPr/>
          <p:nvPr/>
        </p:nvSpPr>
        <p:spPr>
          <a:xfrm>
            <a:off x="546100" y="152400"/>
            <a:ext cx="8636000" cy="431800"/>
          </a:xfrm>
          <a:prstGeom prst="rect">
            <a:avLst/>
          </a:prstGeom>
          <a:noFill/>
          <a:ln>
            <a:noFill/>
          </a:ln>
        </p:spPr>
        <p:txBody>
          <a:bodyPr lIns="0" tIns="0" rIns="0" bIns="0" anchor="t">
            <a:noAutofit/>
          </a:bodyPr>
          <a:lstStyle/>
          <a:p>
            <a:pPr algn="l">
              <a:lnSpc>
                <a:spcPts val="3100"/>
              </a:lnSpc>
              <a:spcBef>
                <a:spcPts val="0"/>
              </a:spcBef>
              <a:spcAft>
                <a:spcPts val="0"/>
              </a:spcAft>
            </a:pPr>
            <a:r>
              <a:rPr lang="en-US" sz="2600" b="0">
                <a:solidFill>
                  <a:srgbClr val="000000"/>
                </a:solidFill>
                <a:latin typeface="Times New Roman"/>
                <a:ea typeface="宋体"/>
                <a:cs typeface="Times New Roman"/>
              </a:rPr>
              <a:t>轨迹案例与改进方向</a:t>
            </a:r>
          </a:p>
        </p:txBody>
      </p:sp>
      <p:cxnSp>
        <p:nvCxnSpPr>
          <p:cNvPr id="100182" name="header_rule"/>
          <p:cNvCxnSpPr/>
          <p:nvPr/>
        </p:nvCxnSpPr>
        <p:spPr>
          <a:xfrm>
            <a:off x="546100" y="711200"/>
            <a:ext cx="8318500" cy="0"/>
          </a:xfrm>
          <a:prstGeom prst="straightConnector1">
            <a:avLst/>
          </a:prstGeom>
          <a:ln w="6985">
            <a:solidFill>
              <a:srgbClr val="A0A0A0"/>
            </a:solidFill>
          </a:ln>
        </p:spPr>
      </p:cxnSp>
      <p:cxnSp>
        <p:nvCxnSpPr>
          <p:cNvPr id="100185" name="column_rule"/>
          <p:cNvCxnSpPr/>
          <p:nvPr/>
        </p:nvCxnSpPr>
        <p:spPr>
          <a:xfrm>
            <a:off x="6057900" y="1066800"/>
            <a:ext cx="0" cy="5346700"/>
          </a:xfrm>
          <a:prstGeom prst="straightConnector1">
            <a:avLst/>
          </a:prstGeom>
          <a:ln w="6350">
            <a:solidFill>
              <a:srgbClr val="B5B5B5"/>
            </a:solidFill>
          </a:ln>
        </p:spPr>
      </p:cxnSp>
      <p:sp>
        <p:nvSpPr>
          <p:cNvPr id="100186" name="rotation_heading"/>
          <p:cNvSpPr/>
          <p:nvPr/>
        </p:nvSpPr>
        <p:spPr>
          <a:xfrm>
            <a:off x="6451600" y="1066800"/>
            <a:ext cx="51689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案例表现</a:t>
            </a:r>
          </a:p>
        </p:txBody>
      </p:sp>
      <p:sp>
        <p:nvSpPr>
          <p:cNvPr id="100187" name="rotation_intro"/>
          <p:cNvSpPr/>
          <p:nvPr/>
        </p:nvSpPr>
        <p:spPr>
          <a:xfrm>
            <a:off x="6451600" y="1536700"/>
            <a:ext cx="5168900" cy="571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在未来2秒位移至少5m的运动目标中，</a:t>
            </a:r>
          </a:p>
          <a:p>
            <a:pPr algn="l">
              <a:lnSpc>
                <a:spcPts val="2000"/>
              </a:lnSpc>
              <a:spcBef>
                <a:spcPts val="0"/>
              </a:spcBef>
              <a:spcAft>
                <a:spcPts val="0"/>
              </a:spcAft>
            </a:pPr>
            <a:r>
              <a:rPr lang="en-US" sz="1300" b="0">
                <a:solidFill>
                  <a:srgbClr val="000000"/>
                </a:solidFill>
                <a:latin typeface="Times New Roman"/>
                <a:ea typeface="宋体"/>
                <a:cs typeface="Times New Roman"/>
              </a:rPr>
              <a:t>按QGNN的ADE选择最佳和最差案例。</a:t>
            </a:r>
          </a:p>
        </p:txBody>
      </p:sp>
      <p:sp>
        <p:nvSpPr>
          <p:cNvPr id="100189" name="angle_heading"/>
          <p:cNvSpPr/>
          <p:nvPr/>
        </p:nvSpPr>
        <p:spPr>
          <a:xfrm>
            <a:off x="6451600" y="3200400"/>
            <a:ext cx="5168900" cy="304800"/>
          </a:xfrm>
          <a:prstGeom prst="rect">
            <a:avLst/>
          </a:prstGeom>
          <a:noFill/>
          <a:ln>
            <a:noFill/>
          </a:ln>
        </p:spPr>
        <p:txBody>
          <a:bodyPr lIns="0" tIns="0" rIns="0" bIns="0" anchor="t">
            <a:noAutofit/>
          </a:bodyPr>
          <a:lstStyle/>
          <a:p>
            <a:pPr algn="l">
              <a:lnSpc>
                <a:spcPts val="2200"/>
              </a:lnSpc>
              <a:spcBef>
                <a:spcPts val="0"/>
              </a:spcBef>
              <a:spcAft>
                <a:spcPts val="0"/>
              </a:spcAft>
            </a:pPr>
            <a:r>
              <a:rPr lang="en-US" sz="1600" b="1">
                <a:solidFill>
                  <a:srgbClr val="000000"/>
                </a:solidFill>
                <a:latin typeface="Times New Roman"/>
                <a:ea typeface="宋体"/>
                <a:cs typeface="Times New Roman"/>
              </a:rPr>
              <a:t>当前改进方向</a:t>
            </a:r>
          </a:p>
        </p:txBody>
      </p:sp>
      <p:sp>
        <p:nvSpPr>
          <p:cNvPr id="100191" name="angle_explanation"/>
          <p:cNvSpPr/>
          <p:nvPr/>
        </p:nvSpPr>
        <p:spPr>
          <a:xfrm>
            <a:off x="6451600" y="4406900"/>
            <a:ext cx="5168900" cy="8255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保留原读出，改用车辆行驶方向表达</a:t>
            </a:r>
          </a:p>
          <a:p>
            <a:pPr algn="l">
              <a:lnSpc>
                <a:spcPts val="2000"/>
              </a:lnSpc>
              <a:spcBef>
                <a:spcPts val="0"/>
              </a:spcBef>
              <a:spcAft>
                <a:spcPts val="0"/>
              </a:spcAft>
            </a:pPr>
            <a:r>
              <a:rPr lang="en-US" sz="1300" b="0">
                <a:solidFill>
                  <a:srgbClr val="000000"/>
                </a:solidFill>
                <a:latin typeface="Times New Roman"/>
                <a:ea typeface="宋体"/>
                <a:cs typeface="Times New Roman"/>
              </a:rPr>
              <a:t>相对位置与相对速度，新增参数为0。</a:t>
            </a:r>
          </a:p>
          <a:p>
            <a:pPr algn="l">
              <a:lnSpc>
                <a:spcPts val="2000"/>
              </a:lnSpc>
              <a:spcBef>
                <a:spcPts val="0"/>
              </a:spcBef>
              <a:spcAft>
                <a:spcPts val="0"/>
              </a:spcAft>
            </a:pPr>
            <a:r>
              <a:rPr lang="en-US" sz="1300" b="0">
                <a:solidFill>
                  <a:srgbClr val="000000"/>
                </a:solidFill>
                <a:latin typeface="Times New Roman"/>
                <a:ea typeface="宋体"/>
                <a:cs typeface="Times New Roman"/>
              </a:rPr>
              <a:t>方向编码QGNN正在训练，新GNN对照已完成。</a:t>
            </a:r>
          </a:p>
        </p:txBody>
      </p:sp>
      <p:cxnSp>
        <p:nvCxnSpPr>
          <p:cNvPr id="100192" name="local_rule"/>
          <p:cNvCxnSpPr/>
          <p:nvPr/>
        </p:nvCxnSpPr>
        <p:spPr>
          <a:xfrm>
            <a:off x="6451600" y="5461000"/>
            <a:ext cx="5168900" cy="0"/>
          </a:xfrm>
          <a:prstGeom prst="straightConnector1">
            <a:avLst/>
          </a:prstGeom>
          <a:ln w="6350">
            <a:solidFill>
              <a:srgbClr val="B5B5B5"/>
            </a:solidFill>
          </a:ln>
        </p:spPr>
      </p:cxnSp>
      <p:sp>
        <p:nvSpPr>
          <p:cNvPr id="100193" name="rotation_effect"/>
          <p:cNvSpPr/>
          <p:nvPr/>
        </p:nvSpPr>
        <p:spPr>
          <a:xfrm>
            <a:off x="6451600" y="5689600"/>
            <a:ext cx="5168900" cy="838200"/>
          </a:xfrm>
          <a:prstGeom prst="rect">
            <a:avLst/>
          </a:prstGeom>
          <a:noFill/>
          <a:ln>
            <a:noFill/>
          </a:ln>
        </p:spPr>
        <p:txBody>
          <a:bodyPr lIns="0" tIns="0" rIns="0" bIns="0" anchor="t">
            <a:noAutofit/>
          </a:bodyPr>
          <a:lstStyle/>
          <a:p>
            <a:pPr algn="l">
              <a:lnSpc>
                <a:spcPts val="2000"/>
              </a:lnSpc>
              <a:spcBef>
                <a:spcPts val="0"/>
              </a:spcBef>
              <a:spcAft>
                <a:spcPts val="0"/>
              </a:spcAft>
            </a:pPr>
            <a:r>
              <a:rPr lang="en-US" sz="1300" b="0">
                <a:solidFill>
                  <a:srgbClr val="000000"/>
                </a:solidFill>
                <a:latin typeface="Times New Roman"/>
                <a:ea typeface="宋体"/>
                <a:cs typeface="Times New Roman"/>
              </a:rPr>
              <a:t>根据本轮结果选择下一步改动，</a:t>
            </a:r>
          </a:p>
          <a:p>
            <a:pPr algn="l">
              <a:lnSpc>
                <a:spcPts val="2000"/>
              </a:lnSpc>
              <a:spcBef>
                <a:spcPts val="0"/>
              </a:spcBef>
              <a:spcAft>
                <a:spcPts val="0"/>
              </a:spcAft>
            </a:pPr>
            <a:r>
              <a:rPr lang="en-US" sz="1300" b="0">
                <a:solidFill>
                  <a:srgbClr val="000000"/>
                </a:solidFill>
                <a:latin typeface="Times New Roman"/>
                <a:ea typeface="宋体"/>
                <a:cs typeface="Times New Roman"/>
              </a:rPr>
              <a:t>再通过多种子实验检查收益的稳定性。</a:t>
            </a:r>
          </a:p>
        </p:txBody>
      </p:sp>
      <p:pic>
        <p:nvPicPr>
          <p:cNvPr id="200044" name="trajectory_cases" descr="cases.png"/>
          <p:cNvPicPr>
            <a:picLocks noChangeAspect="1"/>
          </p:cNvPicPr>
          <p:nvPr/>
        </p:nvPicPr>
        <p:blipFill>
          <a:blip r:embed="R0c52c10721aa4e82"/>
          <a:stretch>
            <a:fillRect/>
          </a:stretch>
        </p:blipFill>
        <p:spPr>
          <a:xfrm>
            <a:off x="546100" y="1117600"/>
            <a:ext cx="5080000" cy="5080000"/>
          </a:xfrm>
          <a:prstGeom prst="rect">
            <a:avLst/>
          </a:prstGeom>
        </p:spPr>
      </p:pic>
      <p:sp>
        <p:nvSpPr>
          <p:cNvPr id="200045" name="case_checkpoint"/>
          <p:cNvSpPr txBox="1"/>
          <p:nvPr/>
        </p:nvSpPr>
        <p:spPr>
          <a:xfrm>
            <a:off x="546100" y="6311900"/>
            <a:ext cx="5080000" cy="254000"/>
          </a:xfrm>
          <a:prstGeom prst="rect">
            <a:avLst/>
          </a:prstGeom>
          <a:noFill/>
          <a:ln>
            <a:noFill/>
          </a:ln>
        </p:spPr>
        <p:txBody>
          <a:bodyPr lIns="0" tIns="0" rIns="0" bIns="0" anchor="t"/>
          <a:lstStyle/>
          <a:p>
            <a:pPr algn="l">
              <a:lnSpc>
                <a:spcPts val="1540"/>
              </a:lnSpc>
              <a:spcBef>
                <a:spcPts val="0"/>
              </a:spcBef>
              <a:spcAft>
                <a:spcPts val="0"/>
              </a:spcAft>
            </a:pPr>
            <a:r>
              <a:rPr lang="en-US" sz="1100" b="0">
                <a:solidFill>
                  <a:srgbClr val="000000"/>
                </a:solidFill>
                <a:latin typeface="Times New Roman"/>
                <a:ea typeface="宋体"/>
                <a:cs typeface="Times New Roman"/>
              </a:rPr>
              <a:t>20dB验证集，QGNN第54轮、GNN第97轮。</a:t>
            </a:r>
          </a:p>
        </p:txBody>
      </p:sp>
      <p:sp>
        <p:nvSpPr>
          <p:cNvPr id="200046" name="case_diagnosis_detail"/>
          <p:cNvSpPr txBox="1"/>
          <p:nvPr/>
        </p:nvSpPr>
        <p:spPr>
          <a:xfrm>
            <a:off x="6451600" y="2298700"/>
            <a:ext cx="5168900" cy="609600"/>
          </a:xfrm>
          <a:prstGeom prst="rect">
            <a:avLst/>
          </a:prstGeom>
          <a:noFill/>
          <a:ln>
            <a:noFill/>
          </a:ln>
        </p:spPr>
        <p:txBody>
          <a:bodyPr lIns="0" tIns="0" rIns="0" bIns="0" anchor="t"/>
          <a:lstStyle/>
          <a:p>
            <a:pPr algn="l">
              <a:lnSpc>
                <a:spcPts val="1820"/>
              </a:lnSpc>
              <a:spcBef>
                <a:spcPts val="0"/>
              </a:spcBef>
              <a:spcAft>
                <a:spcPts val="0"/>
              </a:spcAft>
            </a:pPr>
            <a:r>
              <a:rPr lang="en-US" sz="1300" b="0">
                <a:solidFill>
                  <a:srgbClr val="000000"/>
                </a:solidFill>
                <a:latin typeface="Times New Roman"/>
                <a:ea typeface="宋体"/>
                <a:cs typeface="Times New Roman"/>
              </a:rPr>
              <a:t>最佳案例2秒位移约23.4m，QGNN预测贴近真值。</a:t>
            </a:r>
          </a:p>
          <a:p>
            <a:pPr algn="l">
              <a:lnSpc>
                <a:spcPts val="1820"/>
              </a:lnSpc>
              <a:spcBef>
                <a:spcPts val="0"/>
              </a:spcBef>
              <a:spcAft>
                <a:spcPts val="0"/>
              </a:spcAft>
            </a:pPr>
            <a:r>
              <a:rPr lang="en-US" sz="1300" b="0">
                <a:solidFill>
                  <a:srgbClr val="000000"/>
                </a:solidFill>
                <a:latin typeface="Times New Roman"/>
                <a:ea typeface="宋体"/>
                <a:cs typeface="Times New Roman"/>
              </a:rPr>
              <a:t>最差案例仍低估前进距离，QGNN偏差更大。</a:t>
            </a:r>
          </a:p>
        </p:txBody>
      </p:sp>
      <p:sp>
        <p:nvSpPr>
          <p:cNvPr id="200047" name="x_readout_result"/>
          <p:cNvSpPr txBox="1"/>
          <p:nvPr/>
        </p:nvSpPr>
        <p:spPr>
          <a:xfrm>
            <a:off x="6451600" y="3657600"/>
            <a:ext cx="5168900" cy="609600"/>
          </a:xfrm>
          <a:prstGeom prst="rect">
            <a:avLst/>
          </a:prstGeom>
          <a:noFill/>
          <a:ln>
            <a:noFill/>
          </a:ln>
        </p:spPr>
        <p:txBody>
          <a:bodyPr lIns="0" tIns="0" rIns="0" bIns="0" anchor="t"/>
          <a:lstStyle/>
          <a:p>
            <a:pPr algn="l">
              <a:lnSpc>
                <a:spcPts val="1820"/>
              </a:lnSpc>
              <a:spcBef>
                <a:spcPts val="0"/>
              </a:spcBef>
              <a:spcAft>
                <a:spcPts val="0"/>
              </a:spcAft>
            </a:pPr>
            <a:r>
              <a:rPr lang="en-US" sz="1300" b="0">
                <a:solidFill>
                  <a:srgbClr val="000000"/>
                </a:solidFill>
                <a:latin typeface="Times New Roman"/>
                <a:ea typeface="宋体"/>
                <a:cs typeface="Times New Roman"/>
              </a:rPr>
              <a:t>增加X读出后，ADE与FDE分别上升</a:t>
            </a:r>
          </a:p>
          <a:p>
            <a:pPr algn="l">
              <a:lnSpc>
                <a:spcPts val="1820"/>
              </a:lnSpc>
              <a:spcBef>
                <a:spcPts val="0"/>
              </a:spcBef>
              <a:spcAft>
                <a:spcPts val="0"/>
              </a:spcAft>
            </a:pPr>
            <a:r>
              <a:rPr lang="en-US" sz="1300" b="0">
                <a:solidFill>
                  <a:srgbClr val="000000"/>
                </a:solidFill>
                <a:latin typeface="Times New Roman"/>
                <a:ea typeface="宋体"/>
                <a:cs typeface="Times New Roman"/>
              </a:rPr>
              <a:t>0.690%、0.777%。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1492</TotalTime>
  <Words>1501</Words>
  <Application>Microsoft Office PowerPoint</Application>
  <DocSecurity>0</DocSecurity>
  <PresentationFormat>宽屏</PresentationFormat>
  <Paragraphs>211</Paragraphs>
  <Slides>7</Slides>
  <Notes>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7</vt:i4>
      </vt:variant>
    </vt:vector>
  </HeadingPairs>
  <TitlesOfParts>
    <vt:vector size="11" baseType="lpstr">
      <vt:lpstr>Calibri</vt:lpstr>
      <vt:lpstr>Cambria Math</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基于QGNN＋LLM的多目标轨迹预测实验进展</dc:title>
  <dc:subject>2026年9月15日组会汇报</dc:subject>
  <dc:creator>Walnut Exporter</dc:creator>
  <cp:lastModifiedBy>斯栋 吴</cp:lastModifiedBy>
  <cp:revision>36</cp:revision>
  <dcterms:created xsi:type="dcterms:W3CDTF">2026-09-09T08:24:57Z</dcterms:created>
  <dcterms:modified xsi:type="dcterms:W3CDTF">2026-09-14T03:24:31Z</dcterms:modified>
</cp:coreProperties>
</file>

<file path=docProps/custom.xml><?xml version="1.0" encoding="utf-8"?>
<op:Properties xmlns:vt="http://schemas.openxmlformats.org/officeDocument/2006/docPropsVTypes" xmlns:op="http://schemas.openxmlformats.org/officeDocument/2006/custom-properties">
  <op:property fmtid="{D5CDD505-2E9C-101B-9397-08002B2CF9AE}" pid="2" name="OfficeCLI.Version">
    <vt:lpwstr>1.0.149</vt:lpwstr>
  </op:property>
  <op:property fmtid="{D5CDD505-2E9C-101B-9397-08002B2CF9AE}" pid="3" name="OfficeCLI.LastModified">
    <vt:lpwstr>2026-09-14T03:34:51Z</vt:lpwstr>
  </op:property>
</op:Properties>
</file>